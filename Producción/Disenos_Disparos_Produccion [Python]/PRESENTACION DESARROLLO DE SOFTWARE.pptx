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bookmarkIdSeed="7">
  <p:sldMasterIdLst>
    <p:sldMasterId id="2147483648" r:id="rId4"/>
  </p:sldMasterIdLst>
  <p:notesMasterIdLst>
    <p:notesMasterId r:id="rId59"/>
  </p:notesMasterIdLst>
  <p:handoutMasterIdLst>
    <p:handoutMasterId r:id="rId60"/>
  </p:handoutMasterIdLst>
  <p:sldIdLst>
    <p:sldId id="332" r:id="rId5"/>
    <p:sldId id="333" r:id="rId6"/>
    <p:sldId id="336" r:id="rId7"/>
    <p:sldId id="337" r:id="rId8"/>
    <p:sldId id="338" r:id="rId9"/>
    <p:sldId id="339" r:id="rId10"/>
    <p:sldId id="340" r:id="rId11"/>
    <p:sldId id="346" r:id="rId12"/>
    <p:sldId id="342" r:id="rId13"/>
    <p:sldId id="348" r:id="rId14"/>
    <p:sldId id="349" r:id="rId15"/>
    <p:sldId id="350" r:id="rId16"/>
    <p:sldId id="351" r:id="rId17"/>
    <p:sldId id="352" r:id="rId18"/>
    <p:sldId id="353" r:id="rId19"/>
    <p:sldId id="354" r:id="rId20"/>
    <p:sldId id="356" r:id="rId21"/>
    <p:sldId id="355" r:id="rId22"/>
    <p:sldId id="409" r:id="rId23"/>
    <p:sldId id="358" r:id="rId24"/>
    <p:sldId id="361" r:id="rId25"/>
    <p:sldId id="360" r:id="rId26"/>
    <p:sldId id="363" r:id="rId27"/>
    <p:sldId id="365" r:id="rId28"/>
    <p:sldId id="367" r:id="rId29"/>
    <p:sldId id="370" r:id="rId30"/>
    <p:sldId id="372" r:id="rId31"/>
    <p:sldId id="373" r:id="rId32"/>
    <p:sldId id="375" r:id="rId33"/>
    <p:sldId id="376" r:id="rId34"/>
    <p:sldId id="380" r:id="rId35"/>
    <p:sldId id="381" r:id="rId36"/>
    <p:sldId id="382" r:id="rId37"/>
    <p:sldId id="383" r:id="rId38"/>
    <p:sldId id="385" r:id="rId39"/>
    <p:sldId id="387" r:id="rId40"/>
    <p:sldId id="388" r:id="rId41"/>
    <p:sldId id="389" r:id="rId42"/>
    <p:sldId id="390" r:id="rId43"/>
    <p:sldId id="391" r:id="rId44"/>
    <p:sldId id="393" r:id="rId45"/>
    <p:sldId id="394" r:id="rId46"/>
    <p:sldId id="395" r:id="rId47"/>
    <p:sldId id="396" r:id="rId48"/>
    <p:sldId id="398" r:id="rId49"/>
    <p:sldId id="408" r:id="rId50"/>
    <p:sldId id="400" r:id="rId51"/>
    <p:sldId id="401" r:id="rId52"/>
    <p:sldId id="403" r:id="rId53"/>
    <p:sldId id="404" r:id="rId54"/>
    <p:sldId id="405" r:id="rId55"/>
    <p:sldId id="406" r:id="rId56"/>
    <p:sldId id="407" r:id="rId57"/>
    <p:sldId id="345" r:id="rId58"/>
  </p:sldIdLst>
  <p:sldSz cx="12192000" cy="6858000"/>
  <p:notesSz cx="6858000" cy="9144000"/>
  <p:defaultTextStyle>
    <a:defPPr rtl="0">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C083E6E3-FA7D-4D7B-A595-EF9225AFEA82}">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94" autoAdjust="0"/>
    <p:restoredTop sz="95388" autoAdjust="0"/>
  </p:normalViewPr>
  <p:slideViewPr>
    <p:cSldViewPr snapToGrid="0">
      <p:cViewPr>
        <p:scale>
          <a:sx n="78" d="100"/>
          <a:sy n="78" d="100"/>
        </p:scale>
        <p:origin x="444" y="6"/>
      </p:cViewPr>
      <p:guideLst>
        <p:guide orient="horz" pos="2160"/>
        <p:guide pos="3840"/>
      </p:guideLst>
    </p:cSldViewPr>
  </p:slideViewPr>
  <p:outlineViewPr>
    <p:cViewPr>
      <p:scale>
        <a:sx n="33" d="100"/>
        <a:sy n="33" d="100"/>
      </p:scale>
      <p:origin x="0" y="-3456"/>
    </p:cViewPr>
  </p:outlineViewPr>
  <p:notesTextViewPr>
    <p:cViewPr>
      <p:scale>
        <a:sx n="1" d="1"/>
        <a:sy n="1" d="1"/>
      </p:scale>
      <p:origin x="0" y="0"/>
    </p:cViewPr>
  </p:notesTextViewPr>
  <p:sorterViewPr>
    <p:cViewPr>
      <p:scale>
        <a:sx n="100" d="100"/>
        <a:sy n="100" d="100"/>
      </p:scale>
      <p:origin x="0" y="-7325"/>
    </p:cViewPr>
  </p:sorterViewPr>
  <p:notesViewPr>
    <p:cSldViewPr snapToGrid="0">
      <p:cViewPr varScale="1">
        <p:scale>
          <a:sx n="97" d="100"/>
          <a:sy n="97" d="100"/>
        </p:scale>
        <p:origin x="2868"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presProps" Target="pres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6412DE-7DEA-4436-9E83-BB1DA6AAF216}" type="doc">
      <dgm:prSet loTypeId="urn:microsoft.com/office/officeart/2005/8/layout/process1" loCatId="process" qsTypeId="urn:microsoft.com/office/officeart/2005/8/quickstyle/simple1" qsCatId="simple" csTypeId="urn:microsoft.com/office/officeart/2005/8/colors/accent0_3" csCatId="mainScheme" phldr="1"/>
      <dgm:spPr/>
    </dgm:pt>
    <dgm:pt modelId="{75A99E4D-AE6A-4FD0-9600-0846E39CC7E8}">
      <dgm:prSet phldrT="[Texto]"/>
      <dgm:spPr/>
      <dgm:t>
        <a:bodyPr/>
        <a:lstStyle/>
        <a:p>
          <a:r>
            <a:rPr lang="es-MX" dirty="0"/>
            <a:t>PLANEACION </a:t>
          </a:r>
        </a:p>
      </dgm:t>
    </dgm:pt>
    <dgm:pt modelId="{EBB4523F-8048-41B6-9A72-2D909CE67241}" type="parTrans" cxnId="{7FB96566-8396-40C6-9A60-AB4ED4296C5A}">
      <dgm:prSet/>
      <dgm:spPr/>
      <dgm:t>
        <a:bodyPr/>
        <a:lstStyle/>
        <a:p>
          <a:endParaRPr lang="es-MX"/>
        </a:p>
      </dgm:t>
    </dgm:pt>
    <dgm:pt modelId="{2879F61D-9D91-466A-9F01-269BC077CF56}" type="sibTrans" cxnId="{7FB96566-8396-40C6-9A60-AB4ED4296C5A}">
      <dgm:prSet/>
      <dgm:spPr/>
      <dgm:t>
        <a:bodyPr/>
        <a:lstStyle/>
        <a:p>
          <a:endParaRPr lang="es-MX"/>
        </a:p>
      </dgm:t>
    </dgm:pt>
    <dgm:pt modelId="{434ADA07-0F4F-443F-AA00-14A328744EB0}">
      <dgm:prSet phldrT="[Texto]"/>
      <dgm:spPr/>
      <dgm:t>
        <a:bodyPr/>
        <a:lstStyle/>
        <a:p>
          <a:r>
            <a:rPr lang="es-MX" dirty="0"/>
            <a:t>RECABAR INFORMACION</a:t>
          </a:r>
        </a:p>
      </dgm:t>
    </dgm:pt>
    <dgm:pt modelId="{529FBF2E-E944-4E56-AA61-7DB706019FF7}" type="parTrans" cxnId="{73871135-8252-48A1-86E8-3BE9D7F01575}">
      <dgm:prSet/>
      <dgm:spPr/>
      <dgm:t>
        <a:bodyPr/>
        <a:lstStyle/>
        <a:p>
          <a:endParaRPr lang="es-MX"/>
        </a:p>
      </dgm:t>
    </dgm:pt>
    <dgm:pt modelId="{BCE44F10-8774-45C8-8CDE-62295A64C52A}" type="sibTrans" cxnId="{73871135-8252-48A1-86E8-3BE9D7F01575}">
      <dgm:prSet/>
      <dgm:spPr/>
      <dgm:t>
        <a:bodyPr/>
        <a:lstStyle/>
        <a:p>
          <a:endParaRPr lang="es-MX"/>
        </a:p>
      </dgm:t>
    </dgm:pt>
    <dgm:pt modelId="{6DBED3FA-63CD-4F37-BF84-2D33E6B93351}">
      <dgm:prSet phldrT="[Texto]"/>
      <dgm:spPr/>
      <dgm:t>
        <a:bodyPr/>
        <a:lstStyle/>
        <a:p>
          <a:r>
            <a:rPr lang="es-MX" dirty="0"/>
            <a:t>ELECCION DEL SISTEMA OPTIMO</a:t>
          </a:r>
        </a:p>
      </dgm:t>
    </dgm:pt>
    <dgm:pt modelId="{06FEA81E-EBCB-4A61-99D5-EB912924C1A2}" type="parTrans" cxnId="{AE8EE6FF-7C33-4F92-8FE9-E8CAC28A5D33}">
      <dgm:prSet/>
      <dgm:spPr/>
      <dgm:t>
        <a:bodyPr/>
        <a:lstStyle/>
        <a:p>
          <a:endParaRPr lang="es-MX"/>
        </a:p>
      </dgm:t>
    </dgm:pt>
    <dgm:pt modelId="{DCED1749-2C73-4EDB-9EF7-F251507CF8F3}" type="sibTrans" cxnId="{AE8EE6FF-7C33-4F92-8FE9-E8CAC28A5D33}">
      <dgm:prSet/>
      <dgm:spPr/>
      <dgm:t>
        <a:bodyPr/>
        <a:lstStyle/>
        <a:p>
          <a:endParaRPr lang="es-MX"/>
        </a:p>
      </dgm:t>
    </dgm:pt>
    <dgm:pt modelId="{4B3202E4-FB09-47C2-9594-7B22FCC93278}" type="pres">
      <dgm:prSet presAssocID="{536412DE-7DEA-4436-9E83-BB1DA6AAF216}" presName="Name0" presStyleCnt="0">
        <dgm:presLayoutVars>
          <dgm:dir/>
          <dgm:resizeHandles val="exact"/>
        </dgm:presLayoutVars>
      </dgm:prSet>
      <dgm:spPr/>
    </dgm:pt>
    <dgm:pt modelId="{1903EBCF-E03C-464E-918D-70475885A98F}" type="pres">
      <dgm:prSet presAssocID="{75A99E4D-AE6A-4FD0-9600-0846E39CC7E8}" presName="node" presStyleLbl="node1" presStyleIdx="0" presStyleCnt="3">
        <dgm:presLayoutVars>
          <dgm:bulletEnabled val="1"/>
        </dgm:presLayoutVars>
      </dgm:prSet>
      <dgm:spPr/>
    </dgm:pt>
    <dgm:pt modelId="{3C7A14CE-AB30-49D9-8CE7-6E257CCE1A1F}" type="pres">
      <dgm:prSet presAssocID="{2879F61D-9D91-466A-9F01-269BC077CF56}" presName="sibTrans" presStyleLbl="sibTrans2D1" presStyleIdx="0" presStyleCnt="2"/>
      <dgm:spPr/>
    </dgm:pt>
    <dgm:pt modelId="{CBB2457F-9B87-4BD6-BF25-708BBB6C2A16}" type="pres">
      <dgm:prSet presAssocID="{2879F61D-9D91-466A-9F01-269BC077CF56}" presName="connectorText" presStyleLbl="sibTrans2D1" presStyleIdx="0" presStyleCnt="2"/>
      <dgm:spPr/>
    </dgm:pt>
    <dgm:pt modelId="{54B2F09F-CB44-48B5-B865-8A615951F5A1}" type="pres">
      <dgm:prSet presAssocID="{434ADA07-0F4F-443F-AA00-14A328744EB0}" presName="node" presStyleLbl="node1" presStyleIdx="1" presStyleCnt="3">
        <dgm:presLayoutVars>
          <dgm:bulletEnabled val="1"/>
        </dgm:presLayoutVars>
      </dgm:prSet>
      <dgm:spPr/>
    </dgm:pt>
    <dgm:pt modelId="{1FDA033B-34C1-434E-B2F3-C80A80CC76BC}" type="pres">
      <dgm:prSet presAssocID="{BCE44F10-8774-45C8-8CDE-62295A64C52A}" presName="sibTrans" presStyleLbl="sibTrans2D1" presStyleIdx="1" presStyleCnt="2"/>
      <dgm:spPr/>
    </dgm:pt>
    <dgm:pt modelId="{DED3D565-E7ED-474C-AB84-B7DD2E4705F4}" type="pres">
      <dgm:prSet presAssocID="{BCE44F10-8774-45C8-8CDE-62295A64C52A}" presName="connectorText" presStyleLbl="sibTrans2D1" presStyleIdx="1" presStyleCnt="2"/>
      <dgm:spPr/>
    </dgm:pt>
    <dgm:pt modelId="{1031DED2-1940-4C64-89ED-3AE0A82090F5}" type="pres">
      <dgm:prSet presAssocID="{6DBED3FA-63CD-4F37-BF84-2D33E6B93351}" presName="node" presStyleLbl="node1" presStyleIdx="2" presStyleCnt="3">
        <dgm:presLayoutVars>
          <dgm:bulletEnabled val="1"/>
        </dgm:presLayoutVars>
      </dgm:prSet>
      <dgm:spPr/>
    </dgm:pt>
  </dgm:ptLst>
  <dgm:cxnLst>
    <dgm:cxn modelId="{CEFDB012-3E54-4F71-88B8-22F7FD26E4FB}" type="presOf" srcId="{434ADA07-0F4F-443F-AA00-14A328744EB0}" destId="{54B2F09F-CB44-48B5-B865-8A615951F5A1}" srcOrd="0" destOrd="0" presId="urn:microsoft.com/office/officeart/2005/8/layout/process1"/>
    <dgm:cxn modelId="{F6D4402A-7CF9-4A02-8A42-5D86C1820C2A}" type="presOf" srcId="{2879F61D-9D91-466A-9F01-269BC077CF56}" destId="{CBB2457F-9B87-4BD6-BF25-708BBB6C2A16}" srcOrd="1" destOrd="0" presId="urn:microsoft.com/office/officeart/2005/8/layout/process1"/>
    <dgm:cxn modelId="{73871135-8252-48A1-86E8-3BE9D7F01575}" srcId="{536412DE-7DEA-4436-9E83-BB1DA6AAF216}" destId="{434ADA07-0F4F-443F-AA00-14A328744EB0}" srcOrd="1" destOrd="0" parTransId="{529FBF2E-E944-4E56-AA61-7DB706019FF7}" sibTransId="{BCE44F10-8774-45C8-8CDE-62295A64C52A}"/>
    <dgm:cxn modelId="{7FB96566-8396-40C6-9A60-AB4ED4296C5A}" srcId="{536412DE-7DEA-4436-9E83-BB1DA6AAF216}" destId="{75A99E4D-AE6A-4FD0-9600-0846E39CC7E8}" srcOrd="0" destOrd="0" parTransId="{EBB4523F-8048-41B6-9A72-2D909CE67241}" sibTransId="{2879F61D-9D91-466A-9F01-269BC077CF56}"/>
    <dgm:cxn modelId="{1AE95493-14AA-4F4A-B756-9B2835C5B43C}" type="presOf" srcId="{BCE44F10-8774-45C8-8CDE-62295A64C52A}" destId="{DED3D565-E7ED-474C-AB84-B7DD2E4705F4}" srcOrd="1" destOrd="0" presId="urn:microsoft.com/office/officeart/2005/8/layout/process1"/>
    <dgm:cxn modelId="{0EF811B9-6F9E-4E03-B8DE-15FAA5DABB45}" type="presOf" srcId="{536412DE-7DEA-4436-9E83-BB1DA6AAF216}" destId="{4B3202E4-FB09-47C2-9594-7B22FCC93278}" srcOrd="0" destOrd="0" presId="urn:microsoft.com/office/officeart/2005/8/layout/process1"/>
    <dgm:cxn modelId="{746B42BE-FA6A-4BD3-9C72-33FAB1519EE2}" type="presOf" srcId="{BCE44F10-8774-45C8-8CDE-62295A64C52A}" destId="{1FDA033B-34C1-434E-B2F3-C80A80CC76BC}" srcOrd="0" destOrd="0" presId="urn:microsoft.com/office/officeart/2005/8/layout/process1"/>
    <dgm:cxn modelId="{0599ACC9-6F2F-4B48-A374-74569B486946}" type="presOf" srcId="{6DBED3FA-63CD-4F37-BF84-2D33E6B93351}" destId="{1031DED2-1940-4C64-89ED-3AE0A82090F5}" srcOrd="0" destOrd="0" presId="urn:microsoft.com/office/officeart/2005/8/layout/process1"/>
    <dgm:cxn modelId="{1DCEE4CC-51B2-4473-B165-10F047940E5D}" type="presOf" srcId="{75A99E4D-AE6A-4FD0-9600-0846E39CC7E8}" destId="{1903EBCF-E03C-464E-918D-70475885A98F}" srcOrd="0" destOrd="0" presId="urn:microsoft.com/office/officeart/2005/8/layout/process1"/>
    <dgm:cxn modelId="{DD37A4E8-37FC-4654-A88C-DA961D8F1923}" type="presOf" srcId="{2879F61D-9D91-466A-9F01-269BC077CF56}" destId="{3C7A14CE-AB30-49D9-8CE7-6E257CCE1A1F}" srcOrd="0" destOrd="0" presId="urn:microsoft.com/office/officeart/2005/8/layout/process1"/>
    <dgm:cxn modelId="{AE8EE6FF-7C33-4F92-8FE9-E8CAC28A5D33}" srcId="{536412DE-7DEA-4436-9E83-BB1DA6AAF216}" destId="{6DBED3FA-63CD-4F37-BF84-2D33E6B93351}" srcOrd="2" destOrd="0" parTransId="{06FEA81E-EBCB-4A61-99D5-EB912924C1A2}" sibTransId="{DCED1749-2C73-4EDB-9EF7-F251507CF8F3}"/>
    <dgm:cxn modelId="{77824941-C5E8-4D9B-B739-E9382E4278BD}" type="presParOf" srcId="{4B3202E4-FB09-47C2-9594-7B22FCC93278}" destId="{1903EBCF-E03C-464E-918D-70475885A98F}" srcOrd="0" destOrd="0" presId="urn:microsoft.com/office/officeart/2005/8/layout/process1"/>
    <dgm:cxn modelId="{9D7D7181-CAE2-4711-A99D-E0CA112BADDB}" type="presParOf" srcId="{4B3202E4-FB09-47C2-9594-7B22FCC93278}" destId="{3C7A14CE-AB30-49D9-8CE7-6E257CCE1A1F}" srcOrd="1" destOrd="0" presId="urn:microsoft.com/office/officeart/2005/8/layout/process1"/>
    <dgm:cxn modelId="{004F9358-7EBB-4DEE-A936-53EA53C5EACA}" type="presParOf" srcId="{3C7A14CE-AB30-49D9-8CE7-6E257CCE1A1F}" destId="{CBB2457F-9B87-4BD6-BF25-708BBB6C2A16}" srcOrd="0" destOrd="0" presId="urn:microsoft.com/office/officeart/2005/8/layout/process1"/>
    <dgm:cxn modelId="{F193D418-DE5E-4A3D-A056-27CECA73582E}" type="presParOf" srcId="{4B3202E4-FB09-47C2-9594-7B22FCC93278}" destId="{54B2F09F-CB44-48B5-B865-8A615951F5A1}" srcOrd="2" destOrd="0" presId="urn:microsoft.com/office/officeart/2005/8/layout/process1"/>
    <dgm:cxn modelId="{38BDB5C7-76B3-4437-A225-77CD34C784E4}" type="presParOf" srcId="{4B3202E4-FB09-47C2-9594-7B22FCC93278}" destId="{1FDA033B-34C1-434E-B2F3-C80A80CC76BC}" srcOrd="3" destOrd="0" presId="urn:microsoft.com/office/officeart/2005/8/layout/process1"/>
    <dgm:cxn modelId="{25BB239D-8DD2-47E8-A8C5-063A4FE93D6B}" type="presParOf" srcId="{1FDA033B-34C1-434E-B2F3-C80A80CC76BC}" destId="{DED3D565-E7ED-474C-AB84-B7DD2E4705F4}" srcOrd="0" destOrd="0" presId="urn:microsoft.com/office/officeart/2005/8/layout/process1"/>
    <dgm:cxn modelId="{03C9CE04-C54D-4B4A-B931-65ECB7AE5D26}" type="presParOf" srcId="{4B3202E4-FB09-47C2-9594-7B22FCC93278}" destId="{1031DED2-1940-4C64-89ED-3AE0A82090F5}" srcOrd="4"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03EBCF-E03C-464E-918D-70475885A98F}">
      <dsp:nvSpPr>
        <dsp:cNvPr id="0" name=""/>
        <dsp:cNvSpPr/>
      </dsp:nvSpPr>
      <dsp:spPr>
        <a:xfrm>
          <a:off x="6533" y="467006"/>
          <a:ext cx="1952686" cy="11716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MX" sz="1700" kern="1200" dirty="0"/>
            <a:t>PLANEACION </a:t>
          </a:r>
        </a:p>
      </dsp:txBody>
      <dsp:txXfrm>
        <a:off x="40848" y="501321"/>
        <a:ext cx="1884056" cy="1102982"/>
      </dsp:txXfrm>
    </dsp:sp>
    <dsp:sp modelId="{3C7A14CE-AB30-49D9-8CE7-6E257CCE1A1F}">
      <dsp:nvSpPr>
        <dsp:cNvPr id="0" name=""/>
        <dsp:cNvSpPr/>
      </dsp:nvSpPr>
      <dsp:spPr>
        <a:xfrm>
          <a:off x="2154488" y="810679"/>
          <a:ext cx="413969" cy="484266"/>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MX" sz="1400" kern="1200"/>
        </a:p>
      </dsp:txBody>
      <dsp:txXfrm>
        <a:off x="2154488" y="907532"/>
        <a:ext cx="289778" cy="290560"/>
      </dsp:txXfrm>
    </dsp:sp>
    <dsp:sp modelId="{54B2F09F-CB44-48B5-B865-8A615951F5A1}">
      <dsp:nvSpPr>
        <dsp:cNvPr id="0" name=""/>
        <dsp:cNvSpPr/>
      </dsp:nvSpPr>
      <dsp:spPr>
        <a:xfrm>
          <a:off x="2740294" y="467006"/>
          <a:ext cx="1952686" cy="11716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MX" sz="1700" kern="1200" dirty="0"/>
            <a:t>RECABAR INFORMACION</a:t>
          </a:r>
        </a:p>
      </dsp:txBody>
      <dsp:txXfrm>
        <a:off x="2774609" y="501321"/>
        <a:ext cx="1884056" cy="1102982"/>
      </dsp:txXfrm>
    </dsp:sp>
    <dsp:sp modelId="{1FDA033B-34C1-434E-B2F3-C80A80CC76BC}">
      <dsp:nvSpPr>
        <dsp:cNvPr id="0" name=""/>
        <dsp:cNvSpPr/>
      </dsp:nvSpPr>
      <dsp:spPr>
        <a:xfrm>
          <a:off x="4888250" y="810679"/>
          <a:ext cx="413969" cy="484266"/>
        </a:xfrm>
        <a:prstGeom prst="righ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s-MX" sz="1400" kern="1200"/>
        </a:p>
      </dsp:txBody>
      <dsp:txXfrm>
        <a:off x="4888250" y="907532"/>
        <a:ext cx="289778" cy="290560"/>
      </dsp:txXfrm>
    </dsp:sp>
    <dsp:sp modelId="{1031DED2-1940-4C64-89ED-3AE0A82090F5}">
      <dsp:nvSpPr>
        <dsp:cNvPr id="0" name=""/>
        <dsp:cNvSpPr/>
      </dsp:nvSpPr>
      <dsp:spPr>
        <a:xfrm>
          <a:off x="5474056" y="467006"/>
          <a:ext cx="1952686" cy="1171612"/>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s-MX" sz="1700" kern="1200" dirty="0"/>
            <a:t>ELECCION DEL SISTEMA OPTIMO</a:t>
          </a:r>
        </a:p>
      </dsp:txBody>
      <dsp:txXfrm>
        <a:off x="5508371" y="501321"/>
        <a:ext cx="1884056" cy="1102982"/>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2D8E7403-EB4A-4177-AFCE-6A9D7B160C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a:extLst>
              <a:ext uri="{FF2B5EF4-FFF2-40B4-BE49-F238E27FC236}">
                <a16:creationId xmlns:a16="http://schemas.microsoft.com/office/drawing/2014/main" id="{DAC49177-C030-4043-9380-EA6E4C94A1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953F2F08-34BC-4678-840E-ED04E5A4AB56}" type="datetime1">
              <a:rPr lang="es-ES" smtClean="0"/>
              <a:t>19/05/2025</a:t>
            </a:fld>
            <a:endParaRPr lang="es-ES" dirty="0"/>
          </a:p>
        </p:txBody>
      </p:sp>
      <p:sp>
        <p:nvSpPr>
          <p:cNvPr id="4" name="Marcador de pie de página 3">
            <a:extLst>
              <a:ext uri="{FF2B5EF4-FFF2-40B4-BE49-F238E27FC236}">
                <a16:creationId xmlns:a16="http://schemas.microsoft.com/office/drawing/2014/main" id="{BC4C83CE-EC9B-40C4-BD7A-48797AE5B1D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5" name="Marcador de número de diapositiva 4">
            <a:extLst>
              <a:ext uri="{FF2B5EF4-FFF2-40B4-BE49-F238E27FC236}">
                <a16:creationId xmlns:a16="http://schemas.microsoft.com/office/drawing/2014/main" id="{7EE9A75D-9B4E-4704-98C7-2A42472F118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14CC6D6D-E986-427F-AD9C-4E9408DDBE53}" type="slidenum">
              <a:rPr lang="es-ES" smtClean="0"/>
              <a:t>‹Nº›</a:t>
            </a:fld>
            <a:endParaRPr lang="es-ES" dirty="0"/>
          </a:p>
        </p:txBody>
      </p:sp>
    </p:spTree>
    <p:extLst>
      <p:ext uri="{BB962C8B-B14F-4D97-AF65-F5344CB8AC3E}">
        <p14:creationId xmlns:p14="http://schemas.microsoft.com/office/powerpoint/2010/main" val="29987748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es-ES" sz="1200"/>
            </a:lvl1pPr>
          </a:lstStyle>
          <a:p>
            <a:pPr rtl="0"/>
            <a:endParaRPr lang="es-ES" dirty="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es-ES" sz="1200"/>
            </a:lvl1pPr>
          </a:lstStyle>
          <a:p>
            <a:pPr rtl="0"/>
            <a:fld id="{AF16CC03-BEF6-4808-A141-11CEDDFEDC27}" type="datetime1">
              <a:rPr lang="es-ES" smtClean="0"/>
              <a:t>19/05/2025</a:t>
            </a:fld>
            <a:endParaRPr lang="es-ES" dirty="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es-ES"/>
            </a:defPPr>
          </a:lstStyle>
          <a:p>
            <a:pPr rtl="0"/>
            <a:endParaRPr lang="es-ES" dirty="0"/>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es-ES"/>
            </a:defPPr>
          </a:lstStyle>
          <a:p>
            <a:pPr lvl="0" rtl="0"/>
            <a:r>
              <a:rPr lang="es-ES" dirty="0"/>
              <a:t>Haga clic para modificar los estilos de texto del patrón</a:t>
            </a:r>
          </a:p>
          <a:p>
            <a:pPr lvl="1" rtl="0"/>
            <a:r>
              <a:rPr lang="es-ES" dirty="0"/>
              <a:t>Segundo nivel</a:t>
            </a:r>
          </a:p>
          <a:p>
            <a:pPr lvl="2" rtl="0"/>
            <a:r>
              <a:rPr lang="es-ES" dirty="0"/>
              <a:t>Tercer nivel</a:t>
            </a:r>
          </a:p>
          <a:p>
            <a:pPr lvl="3" rtl="0"/>
            <a:r>
              <a:rPr lang="es-ES" dirty="0"/>
              <a:t>Cuarto nivel</a:t>
            </a:r>
          </a:p>
          <a:p>
            <a:pPr lvl="4" rtl="0"/>
            <a:r>
              <a:rPr lang="es-ES" dirty="0"/>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es-ES" sz="1200"/>
            </a:lvl1pPr>
          </a:lstStyle>
          <a:p>
            <a:pPr rtl="0"/>
            <a:endParaRPr lang="es-ES" dirty="0"/>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es-ES" sz="1200"/>
            </a:lvl1pPr>
          </a:lstStyle>
          <a:p>
            <a:pPr rtl="0"/>
            <a:fld id="{115A580F-E35D-42E1-AF82-E41CC201EA91}" type="slidenum">
              <a:rPr lang="es-ES" smtClean="0"/>
              <a:t>‹Nº›</a:t>
            </a:fld>
            <a:endParaRPr lang="es-ES" dirty="0"/>
          </a:p>
        </p:txBody>
      </p:sp>
    </p:spTree>
    <p:extLst>
      <p:ext uri="{BB962C8B-B14F-4D97-AF65-F5344CB8AC3E}">
        <p14:creationId xmlns:p14="http://schemas.microsoft.com/office/powerpoint/2010/main" val="145368066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es-ES" sz="1200" kern="1200">
        <a:solidFill>
          <a:schemeClr val="tx1"/>
        </a:solidFill>
        <a:latin typeface="+mn-lt"/>
        <a:ea typeface="+mn-ea"/>
        <a:cs typeface="+mn-cs"/>
      </a:defRPr>
    </a:lvl1pPr>
    <a:lvl2pPr marL="457200" algn="l" defTabSz="914400" rtl="0" eaLnBrk="1" latinLnBrk="0" hangingPunct="1">
      <a:defRPr lang="es-ES" sz="1200" kern="1200">
        <a:solidFill>
          <a:schemeClr val="tx1"/>
        </a:solidFill>
        <a:latin typeface="+mn-lt"/>
        <a:ea typeface="+mn-ea"/>
        <a:cs typeface="+mn-cs"/>
      </a:defRPr>
    </a:lvl2pPr>
    <a:lvl3pPr marL="914400" algn="l" defTabSz="914400" rtl="0" eaLnBrk="1" latinLnBrk="0" hangingPunct="1">
      <a:defRPr lang="es-ES" sz="1200" kern="1200">
        <a:solidFill>
          <a:schemeClr val="tx1"/>
        </a:solidFill>
        <a:latin typeface="+mn-lt"/>
        <a:ea typeface="+mn-ea"/>
        <a:cs typeface="+mn-cs"/>
      </a:defRPr>
    </a:lvl3pPr>
    <a:lvl4pPr marL="1371600" algn="l" defTabSz="914400" rtl="0" eaLnBrk="1" latinLnBrk="0" hangingPunct="1">
      <a:defRPr lang="es-ES" sz="1200" kern="1200">
        <a:solidFill>
          <a:schemeClr val="tx1"/>
        </a:solidFill>
        <a:latin typeface="+mn-lt"/>
        <a:ea typeface="+mn-ea"/>
        <a:cs typeface="+mn-cs"/>
      </a:defRPr>
    </a:lvl4pPr>
    <a:lvl5pPr marL="1828800" algn="l" defTabSz="914400" rtl="0" eaLnBrk="1" latinLnBrk="0" hangingPunct="1">
      <a:defRPr lang="es-ES" sz="1200" kern="1200">
        <a:solidFill>
          <a:schemeClr val="tx1"/>
        </a:solidFill>
        <a:latin typeface="+mn-lt"/>
        <a:ea typeface="+mn-ea"/>
        <a:cs typeface="+mn-cs"/>
      </a:defRPr>
    </a:lvl5pPr>
    <a:lvl6pPr marL="2286000" algn="l" defTabSz="914400" rtl="0" eaLnBrk="1" latinLnBrk="0" hangingPunct="1">
      <a:defRPr lang="es-ES" sz="1200" kern="1200">
        <a:solidFill>
          <a:schemeClr val="tx1"/>
        </a:solidFill>
        <a:latin typeface="+mn-lt"/>
        <a:ea typeface="+mn-ea"/>
        <a:cs typeface="+mn-cs"/>
      </a:defRPr>
    </a:lvl6pPr>
    <a:lvl7pPr marL="2743200" algn="l" defTabSz="914400" rtl="0" eaLnBrk="1" latinLnBrk="0" hangingPunct="1">
      <a:defRPr lang="es-ES" sz="1200" kern="1200">
        <a:solidFill>
          <a:schemeClr val="tx1"/>
        </a:solidFill>
        <a:latin typeface="+mn-lt"/>
        <a:ea typeface="+mn-ea"/>
        <a:cs typeface="+mn-cs"/>
      </a:defRPr>
    </a:lvl7pPr>
    <a:lvl8pPr marL="3200400" algn="l" defTabSz="914400" rtl="0" eaLnBrk="1" latinLnBrk="0" hangingPunct="1">
      <a:defRPr lang="es-ES" sz="1200" kern="1200">
        <a:solidFill>
          <a:schemeClr val="tx1"/>
        </a:solidFill>
        <a:latin typeface="+mn-lt"/>
        <a:ea typeface="+mn-ea"/>
        <a:cs typeface="+mn-cs"/>
      </a:defRPr>
    </a:lvl8pPr>
    <a:lvl9pPr marL="3657600" algn="l" defTabSz="914400" rtl="0" eaLnBrk="1" latinLnBrk="0" hangingPunct="1">
      <a:defRPr lang="es-ES"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15A580F-E35D-42E1-AF82-E41CC201EA91}" type="slidenum">
              <a:rPr lang="es-ES" smtClean="0"/>
              <a:t>1</a:t>
            </a:fld>
            <a:endParaRPr lang="es-ES" dirty="0"/>
          </a:p>
        </p:txBody>
      </p:sp>
    </p:spTree>
    <p:extLst>
      <p:ext uri="{BB962C8B-B14F-4D97-AF65-F5344CB8AC3E}">
        <p14:creationId xmlns:p14="http://schemas.microsoft.com/office/powerpoint/2010/main" val="29348846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15A580F-E35D-42E1-AF82-E41CC201EA91}" type="slidenum">
              <a:rPr lang="es-ES" smtClean="0"/>
              <a:t>2</a:t>
            </a:fld>
            <a:endParaRPr lang="es-ES" dirty="0"/>
          </a:p>
        </p:txBody>
      </p:sp>
    </p:spTree>
    <p:extLst>
      <p:ext uri="{BB962C8B-B14F-4D97-AF65-F5344CB8AC3E}">
        <p14:creationId xmlns:p14="http://schemas.microsoft.com/office/powerpoint/2010/main" val="17215353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15A580F-E35D-42E1-AF82-E41CC201EA91}" type="slidenum">
              <a:rPr lang="es-ES" smtClean="0"/>
              <a:t>3</a:t>
            </a:fld>
            <a:endParaRPr lang="es-ES" dirty="0"/>
          </a:p>
        </p:txBody>
      </p:sp>
    </p:spTree>
    <p:extLst>
      <p:ext uri="{BB962C8B-B14F-4D97-AF65-F5344CB8AC3E}">
        <p14:creationId xmlns:p14="http://schemas.microsoft.com/office/powerpoint/2010/main" val="1550389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15A580F-E35D-42E1-AF82-E41CC201EA91}" type="slidenum">
              <a:rPr lang="es-ES" smtClean="0"/>
              <a:t>4</a:t>
            </a:fld>
            <a:endParaRPr lang="es-ES" dirty="0"/>
          </a:p>
        </p:txBody>
      </p:sp>
    </p:spTree>
    <p:extLst>
      <p:ext uri="{BB962C8B-B14F-4D97-AF65-F5344CB8AC3E}">
        <p14:creationId xmlns:p14="http://schemas.microsoft.com/office/powerpoint/2010/main" val="7548082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15A580F-E35D-42E1-AF82-E41CC201EA91}" type="slidenum">
              <a:rPr lang="es-ES" smtClean="0"/>
              <a:t>5</a:t>
            </a:fld>
            <a:endParaRPr lang="es-ES" dirty="0"/>
          </a:p>
        </p:txBody>
      </p:sp>
    </p:spTree>
    <p:extLst>
      <p:ext uri="{BB962C8B-B14F-4D97-AF65-F5344CB8AC3E}">
        <p14:creationId xmlns:p14="http://schemas.microsoft.com/office/powerpoint/2010/main" val="1867358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15A580F-E35D-42E1-AF82-E41CC201EA91}" type="slidenum">
              <a:rPr lang="es-ES" smtClean="0"/>
              <a:t>6</a:t>
            </a:fld>
            <a:endParaRPr lang="es-ES" dirty="0"/>
          </a:p>
        </p:txBody>
      </p:sp>
    </p:spTree>
    <p:extLst>
      <p:ext uri="{BB962C8B-B14F-4D97-AF65-F5344CB8AC3E}">
        <p14:creationId xmlns:p14="http://schemas.microsoft.com/office/powerpoint/2010/main" val="3791835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15A580F-E35D-42E1-AF82-E41CC201EA91}" type="slidenum">
              <a:rPr lang="es-ES" smtClean="0"/>
              <a:t>7</a:t>
            </a:fld>
            <a:endParaRPr lang="es-ES" dirty="0"/>
          </a:p>
        </p:txBody>
      </p:sp>
    </p:spTree>
    <p:extLst>
      <p:ext uri="{BB962C8B-B14F-4D97-AF65-F5344CB8AC3E}">
        <p14:creationId xmlns:p14="http://schemas.microsoft.com/office/powerpoint/2010/main" val="3717194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15A580F-E35D-42E1-AF82-E41CC201EA91}" type="slidenum">
              <a:rPr lang="es-ES" smtClean="0"/>
              <a:t>9</a:t>
            </a:fld>
            <a:endParaRPr lang="es-ES" dirty="0"/>
          </a:p>
        </p:txBody>
      </p:sp>
    </p:spTree>
    <p:extLst>
      <p:ext uri="{BB962C8B-B14F-4D97-AF65-F5344CB8AC3E}">
        <p14:creationId xmlns:p14="http://schemas.microsoft.com/office/powerpoint/2010/main" val="1558809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rtlCol="0"/>
          <a:lstStyle>
            <a:defPPr>
              <a:defRPr lang="es-ES"/>
            </a:defPPr>
          </a:lstStyle>
          <a:p>
            <a:pPr rtl="0"/>
            <a:endParaRPr lang="es-ES" dirty="0"/>
          </a:p>
        </p:txBody>
      </p:sp>
      <p:sp>
        <p:nvSpPr>
          <p:cNvPr id="4" name="Marcador de número de diapositiva 3"/>
          <p:cNvSpPr>
            <a:spLocks noGrp="1"/>
          </p:cNvSpPr>
          <p:nvPr>
            <p:ph type="sldNum" sz="quarter" idx="5"/>
          </p:nvPr>
        </p:nvSpPr>
        <p:spPr/>
        <p:txBody>
          <a:bodyPr rtlCol="0"/>
          <a:lstStyle>
            <a:defPPr>
              <a:defRPr lang="es-ES"/>
            </a:defPPr>
          </a:lstStyle>
          <a:p>
            <a:pPr rtl="0"/>
            <a:fld id="{115A580F-E35D-42E1-AF82-E41CC201EA91}" type="slidenum">
              <a:rPr lang="es-ES" smtClean="0"/>
              <a:t>54</a:t>
            </a:fld>
            <a:endParaRPr lang="es-ES" dirty="0"/>
          </a:p>
        </p:txBody>
      </p:sp>
    </p:spTree>
    <p:extLst>
      <p:ext uri="{BB962C8B-B14F-4D97-AF65-F5344CB8AC3E}">
        <p14:creationId xmlns:p14="http://schemas.microsoft.com/office/powerpoint/2010/main" val="16805365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ítulo">
    <p:bg>
      <p:bgRef idx="1001">
        <a:schemeClr val="bg1"/>
      </p:bgRef>
    </p:bg>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89AE8321-5884-9E75-1272-926961F3131D}"/>
              </a:ext>
            </a:extLst>
          </p:cNvPr>
          <p:cNvSpPr>
            <a:spLocks noGrp="1"/>
          </p:cNvSpPr>
          <p:nvPr>
            <p:ph type="title" hasCustomPrompt="1"/>
          </p:nvPr>
        </p:nvSpPr>
        <p:spPr>
          <a:xfrm>
            <a:off x="685800" y="908591"/>
            <a:ext cx="4058728" cy="5225507"/>
          </a:xfrm>
        </p:spPr>
        <p:txBody>
          <a:bodyPr rtlCol="0" anchor="t">
            <a:normAutofit/>
          </a:bodyPr>
          <a:lstStyle>
            <a:lvl1pPr>
              <a:defRPr lang="es-ES" sz="3200"/>
            </a:lvl1pPr>
          </a:lstStyle>
          <a:p>
            <a:pPr rtl="0"/>
            <a:r>
              <a:rPr lang="es-ES"/>
              <a:t>Haga clic para agregar un título</a:t>
            </a:r>
          </a:p>
        </p:txBody>
      </p:sp>
      <p:sp>
        <p:nvSpPr>
          <p:cNvPr id="9" name="Marcador de posición de imagen 8">
            <a:extLst>
              <a:ext uri="{FF2B5EF4-FFF2-40B4-BE49-F238E27FC236}">
                <a16:creationId xmlns:a16="http://schemas.microsoft.com/office/drawing/2014/main" id="{B22DF521-FA73-0B43-D1F3-A28543BA84E8}"/>
              </a:ext>
            </a:extLst>
          </p:cNvPr>
          <p:cNvSpPr>
            <a:spLocks noGrp="1"/>
          </p:cNvSpPr>
          <p:nvPr>
            <p:ph type="pic" sz="quarter" idx="10" hasCustomPrompt="1"/>
          </p:nvPr>
        </p:nvSpPr>
        <p:spPr>
          <a:xfrm>
            <a:off x="5699125" y="0"/>
            <a:ext cx="5786438" cy="6134100"/>
          </a:xfrm>
        </p:spPr>
        <p:txBody>
          <a:bodyPr rtlCol="0"/>
          <a:lstStyle>
            <a:lvl1pPr marL="0" indent="0" algn="ctr">
              <a:buNone/>
              <a:defRPr lang="es-ES"/>
            </a:lvl1pPr>
          </a:lstStyle>
          <a:p>
            <a:pPr rtl="0"/>
            <a:r>
              <a:rPr lang="es-ES"/>
              <a:t>Haga clic en el icono para insertar una imagen</a:t>
            </a:r>
          </a:p>
        </p:txBody>
      </p:sp>
      <p:sp>
        <p:nvSpPr>
          <p:cNvPr id="4" name="Marcador de número de diapositiva 5">
            <a:extLst>
              <a:ext uri="{FF2B5EF4-FFF2-40B4-BE49-F238E27FC236}">
                <a16:creationId xmlns:a16="http://schemas.microsoft.com/office/drawing/2014/main" id="{400E6515-DDBF-35F4-5C9E-FF113FD164EF}"/>
              </a:ext>
            </a:extLst>
          </p:cNvPr>
          <p:cNvSpPr>
            <a:spLocks noGrp="1"/>
          </p:cNvSpPr>
          <p:nvPr>
            <p:ph type="sldNum" sz="quarter" idx="4"/>
          </p:nvPr>
        </p:nvSpPr>
        <p:spPr>
          <a:xfrm>
            <a:off x="10919012" y="6274074"/>
            <a:ext cx="672354" cy="583926"/>
          </a:xfrm>
          <a:prstGeom prst="rect">
            <a:avLst/>
          </a:prstGeom>
        </p:spPr>
        <p:txBody>
          <a:bodyPr vert="horz" lIns="91440" tIns="45720" rIns="91440" bIns="45720" rtlCol="0" anchor="t"/>
          <a:lstStyle>
            <a:lvl1pPr algn="r">
              <a:defRPr lang="es-ES" sz="1400">
                <a:solidFill>
                  <a:schemeClr val="tx1"/>
                </a:solidFill>
              </a:defRPr>
            </a:lvl1pPr>
          </a:lstStyle>
          <a:p>
            <a:pPr rtl="0"/>
            <a:fld id="{C3DB2ADC-AF19-4574-8C10-79B5B04FCA27}" type="slidenum">
              <a:rPr lang="es-ES" smtClean="0"/>
              <a:pPr rtl="0"/>
              <a:t>‹Nº›</a:t>
            </a:fld>
            <a:endParaRPr lang="es-ES" dirty="0"/>
          </a:p>
        </p:txBody>
      </p:sp>
      <p:cxnSp>
        <p:nvCxnSpPr>
          <p:cNvPr id="3" name="Conector recto 2">
            <a:extLst>
              <a:ext uri="{FF2B5EF4-FFF2-40B4-BE49-F238E27FC236}">
                <a16:creationId xmlns:a16="http://schemas.microsoft.com/office/drawing/2014/main" id="{8B32A424-7EFB-F80C-2BDA-94D103A55F77}"/>
              </a:ext>
              <a:ext uri="{C183D7F6-B498-43B3-948B-1728B52AA6E4}">
                <adec:decorative xmlns:adec="http://schemas.microsoft.com/office/drawing/2017/decorative" val="1"/>
              </a:ext>
            </a:extLst>
          </p:cNvPr>
          <p:cNvCxnSpPr>
            <a:cxnSpLocks/>
          </p:cNvCxnSpPr>
          <p:nvPr userDrawn="1"/>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668EFEEF-ABDC-22C9-C5DB-0494BEB8687D}"/>
              </a:ext>
              <a:ext uri="{C183D7F6-B498-43B3-948B-1728B52AA6E4}">
                <adec:decorative xmlns:adec="http://schemas.microsoft.com/office/drawing/2017/decorative" val="1"/>
              </a:ext>
            </a:extLst>
          </p:cNvPr>
          <p:cNvCxnSpPr>
            <a:cxnSpLocks/>
          </p:cNvCxnSpPr>
          <p:nvPr userDrawn="1"/>
        </p:nvCxnSpPr>
        <p:spPr>
          <a:xfrm>
            <a:off x="5699342" y="6136928"/>
            <a:ext cx="57867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31958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D7352414-3211-CEB2-31A1-11097989D435}"/>
              </a:ext>
            </a:extLst>
          </p:cNvPr>
          <p:cNvSpPr>
            <a:spLocks noGrp="1"/>
          </p:cNvSpPr>
          <p:nvPr>
            <p:ph type="title" hasCustomPrompt="1"/>
          </p:nvPr>
        </p:nvSpPr>
        <p:spPr>
          <a:xfrm>
            <a:off x="705934" y="723900"/>
            <a:ext cx="3503757" cy="5316415"/>
          </a:xfrm>
        </p:spPr>
        <p:txBody>
          <a:bodyPr rtlCol="0">
            <a:normAutofit/>
          </a:bodyPr>
          <a:lstStyle>
            <a:lvl1pPr>
              <a:defRPr lang="es-ES" sz="3200"/>
            </a:lvl1pPr>
          </a:lstStyle>
          <a:p>
            <a:pPr rtl="0"/>
            <a:r>
              <a:rPr lang="es-ES"/>
              <a:t>Haga clic para agregar un título</a:t>
            </a:r>
          </a:p>
        </p:txBody>
      </p:sp>
      <p:sp>
        <p:nvSpPr>
          <p:cNvPr id="9" name="Marcador de contenido 8">
            <a:extLst>
              <a:ext uri="{FF2B5EF4-FFF2-40B4-BE49-F238E27FC236}">
                <a16:creationId xmlns:a16="http://schemas.microsoft.com/office/drawing/2014/main" id="{4BA26D20-54E1-2490-0D75-F08BCB7D3BFF}"/>
              </a:ext>
            </a:extLst>
          </p:cNvPr>
          <p:cNvSpPr>
            <a:spLocks noGrp="1"/>
          </p:cNvSpPr>
          <p:nvPr>
            <p:ph sz="quarter" idx="10" hasCustomPrompt="1"/>
          </p:nvPr>
        </p:nvSpPr>
        <p:spPr>
          <a:xfrm>
            <a:off x="5582232" y="2053087"/>
            <a:ext cx="5903332" cy="3987230"/>
          </a:xfrm>
        </p:spPr>
        <p:txBody>
          <a:bodyPr rtlCol="0" anchor="t"/>
          <a:lstStyle>
            <a:lvl1pPr marL="0" indent="0">
              <a:buNone/>
              <a:defRPr lang="es-ES"/>
            </a:lvl1pPr>
            <a:lvl2pPr marL="742950" indent="-285750">
              <a:buFont typeface="Arial" panose="020B0604020202020204" pitchFamily="34" charset="0"/>
              <a:buChar char="•"/>
              <a:defRPr lang="es-ES"/>
            </a:lvl2pPr>
            <a:lvl3pPr marL="1200150" indent="-285750">
              <a:buFont typeface="Arial" panose="020B0604020202020204" pitchFamily="34" charset="0"/>
              <a:buChar char="•"/>
              <a:defRPr lang="es-ES"/>
            </a:lvl3pPr>
            <a:lvl4pPr marL="1657350" indent="-285750">
              <a:buFont typeface="Arial" panose="020B0604020202020204" pitchFamily="34" charset="0"/>
              <a:buChar char="•"/>
              <a:defRPr lang="es-ES"/>
            </a:lvl4pPr>
            <a:lvl5pPr marL="2114550" indent="-285750">
              <a:buFont typeface="Arial" panose="020B0604020202020204" pitchFamily="34" charset="0"/>
              <a:buChar char="•"/>
              <a:defRPr lang="es-ES"/>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4" name="Marcador de número de diapositiva 5">
            <a:extLst>
              <a:ext uri="{FF2B5EF4-FFF2-40B4-BE49-F238E27FC236}">
                <a16:creationId xmlns:a16="http://schemas.microsoft.com/office/drawing/2014/main" id="{400E6515-DDBF-35F4-5C9E-FF113FD164EF}"/>
              </a:ext>
            </a:extLst>
          </p:cNvPr>
          <p:cNvSpPr>
            <a:spLocks noGrp="1"/>
          </p:cNvSpPr>
          <p:nvPr>
            <p:ph type="sldNum" sz="quarter" idx="4"/>
          </p:nvPr>
        </p:nvSpPr>
        <p:spPr>
          <a:xfrm>
            <a:off x="10919012" y="6274074"/>
            <a:ext cx="672354" cy="583926"/>
          </a:xfrm>
          <a:prstGeom prst="rect">
            <a:avLst/>
          </a:prstGeom>
        </p:spPr>
        <p:txBody>
          <a:bodyPr vert="horz" lIns="91440" tIns="45720" rIns="91440" bIns="45720" rtlCol="0" anchor="t"/>
          <a:lstStyle>
            <a:lvl1pPr algn="r">
              <a:defRPr lang="es-ES" sz="1400">
                <a:solidFill>
                  <a:schemeClr val="tx1"/>
                </a:solidFill>
              </a:defRPr>
            </a:lvl1pPr>
          </a:lstStyle>
          <a:p>
            <a:pPr rtl="0"/>
            <a:fld id="{C3DB2ADC-AF19-4574-8C10-79B5B04FCA27}" type="slidenum">
              <a:rPr lang="es-ES" smtClean="0"/>
              <a:pPr rtl="0"/>
              <a:t>‹Nº›</a:t>
            </a:fld>
            <a:endParaRPr lang="es-ES" dirty="0"/>
          </a:p>
        </p:txBody>
      </p:sp>
      <p:cxnSp>
        <p:nvCxnSpPr>
          <p:cNvPr id="5" name="Conector recto 4">
            <a:extLst>
              <a:ext uri="{FF2B5EF4-FFF2-40B4-BE49-F238E27FC236}">
                <a16:creationId xmlns:a16="http://schemas.microsoft.com/office/drawing/2014/main" id="{998A376F-AF56-AABE-DFA3-DE5A8C899613}"/>
              </a:ext>
              <a:ext uri="{C183D7F6-B498-43B3-948B-1728B52AA6E4}">
                <adec:decorative xmlns:adec="http://schemas.microsoft.com/office/drawing/2017/decorative" val="1"/>
              </a:ext>
            </a:extLst>
          </p:cNvPr>
          <p:cNvCxnSpPr>
            <a:cxnSpLocks/>
          </p:cNvCxnSpPr>
          <p:nvPr userDrawn="1"/>
        </p:nvCxnSpPr>
        <p:spPr>
          <a:xfrm>
            <a:off x="5695467" y="723900"/>
            <a:ext cx="5790599"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Conector recto 5">
            <a:extLst>
              <a:ext uri="{FF2B5EF4-FFF2-40B4-BE49-F238E27FC236}">
                <a16:creationId xmlns:a16="http://schemas.microsoft.com/office/drawing/2014/main" id="{4DE9D420-BBEC-E7C6-7E76-FB9791C71C96}"/>
              </a:ext>
              <a:ext uri="{C183D7F6-B498-43B3-948B-1728B52AA6E4}">
                <adec:decorative xmlns:adec="http://schemas.microsoft.com/office/drawing/2017/decorative" val="1"/>
              </a:ext>
            </a:extLst>
          </p:cNvPr>
          <p:cNvCxnSpPr>
            <a:cxnSpLocks/>
          </p:cNvCxnSpPr>
          <p:nvPr userDrawn="1"/>
        </p:nvCxnSpPr>
        <p:spPr>
          <a:xfrm>
            <a:off x="5699342" y="6136928"/>
            <a:ext cx="57867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4468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de sección">
    <p:spTree>
      <p:nvGrpSpPr>
        <p:cNvPr id="1" name=""/>
        <p:cNvGrpSpPr/>
        <p:nvPr/>
      </p:nvGrpSpPr>
      <p:grpSpPr>
        <a:xfrm>
          <a:off x="0" y="0"/>
          <a:ext cx="0" cy="0"/>
          <a:chOff x="0" y="0"/>
          <a:chExt cx="0" cy="0"/>
        </a:xfrm>
      </p:grpSpPr>
      <p:cxnSp>
        <p:nvCxnSpPr>
          <p:cNvPr id="10" name="Conector recto 9">
            <a:extLst>
              <a:ext uri="{FF2B5EF4-FFF2-40B4-BE49-F238E27FC236}">
                <a16:creationId xmlns:a16="http://schemas.microsoft.com/office/drawing/2014/main" id="{C0AFB647-646C-4130-9EF5-C19C686B184A}"/>
              </a:ext>
              <a:ext uri="{C183D7F6-B498-43B3-948B-1728B52AA6E4}">
                <adec:decorative xmlns:adec="http://schemas.microsoft.com/office/drawing/2017/decorative" val="1"/>
              </a:ext>
            </a:extLst>
          </p:cNvPr>
          <p:cNvCxnSpPr>
            <a:cxnSpLocks/>
          </p:cNvCxnSpPr>
          <p:nvPr userDrawn="1"/>
        </p:nvCxnSpPr>
        <p:spPr>
          <a:xfrm>
            <a:off x="5715000" y="738013"/>
            <a:ext cx="5676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ítulo 1">
            <a:extLst>
              <a:ext uri="{FF2B5EF4-FFF2-40B4-BE49-F238E27FC236}">
                <a16:creationId xmlns:a16="http://schemas.microsoft.com/office/drawing/2014/main" id="{392D6AD5-5357-463C-B785-6A488FFC8D76}"/>
              </a:ext>
            </a:extLst>
          </p:cNvPr>
          <p:cNvSpPr>
            <a:spLocks noGrp="1"/>
          </p:cNvSpPr>
          <p:nvPr>
            <p:ph type="title" hasCustomPrompt="1"/>
          </p:nvPr>
        </p:nvSpPr>
        <p:spPr>
          <a:xfrm>
            <a:off x="5637007" y="817581"/>
            <a:ext cx="5935869" cy="5238159"/>
          </a:xfrm>
        </p:spPr>
        <p:txBody>
          <a:bodyPr rtlCol="0" anchor="ctr" anchorCtr="0">
            <a:noAutofit/>
          </a:bodyPr>
          <a:lstStyle>
            <a:lvl1pPr>
              <a:defRPr lang="es-ES" sz="3200"/>
            </a:lvl1pPr>
          </a:lstStyle>
          <a:p>
            <a:pPr rtl="0"/>
            <a:r>
              <a:rPr lang="es-ES"/>
              <a:t>Haga clic para agregar un título</a:t>
            </a:r>
          </a:p>
        </p:txBody>
      </p:sp>
      <p:sp>
        <p:nvSpPr>
          <p:cNvPr id="18" name="Marcador de posición de imagen 16">
            <a:extLst>
              <a:ext uri="{FF2B5EF4-FFF2-40B4-BE49-F238E27FC236}">
                <a16:creationId xmlns:a16="http://schemas.microsoft.com/office/drawing/2014/main" id="{EAD023B5-9ABC-4D4A-A1AD-D4D83D662192}"/>
              </a:ext>
            </a:extLst>
          </p:cNvPr>
          <p:cNvSpPr>
            <a:spLocks noGrp="1"/>
          </p:cNvSpPr>
          <p:nvPr>
            <p:ph type="pic" sz="quarter" idx="13"/>
          </p:nvPr>
        </p:nvSpPr>
        <p:spPr>
          <a:xfrm>
            <a:off x="-1" y="1"/>
            <a:ext cx="4876799" cy="6858000"/>
          </a:xfrm>
          <a:prstGeom prst="rect">
            <a:avLst/>
          </a:prstGeom>
        </p:spPr>
        <p:txBody>
          <a:bodyPr rtlCol="0">
            <a:normAutofit/>
          </a:bodyPr>
          <a:lstStyle>
            <a:lvl1pPr marL="0" indent="0" algn="ctr">
              <a:buNone/>
              <a:defRPr lang="es-ES" sz="1800"/>
            </a:lvl1pPr>
          </a:lstStyle>
          <a:p>
            <a:pPr rtl="0"/>
            <a:r>
              <a:rPr lang="es-ES"/>
              <a:t>Haga clic en el icono para agregar una imagen</a:t>
            </a:r>
          </a:p>
        </p:txBody>
      </p:sp>
      <p:cxnSp>
        <p:nvCxnSpPr>
          <p:cNvPr id="12" name="Conector recto 11">
            <a:extLst>
              <a:ext uri="{FF2B5EF4-FFF2-40B4-BE49-F238E27FC236}">
                <a16:creationId xmlns:a16="http://schemas.microsoft.com/office/drawing/2014/main" id="{5C0A0972-FD9A-4E9D-A0A3-BD0AF8C7B74C}"/>
              </a:ext>
              <a:ext uri="{C183D7F6-B498-43B3-948B-1728B52AA6E4}">
                <adec:decorative xmlns:adec="http://schemas.microsoft.com/office/drawing/2017/decorative" val="1"/>
              </a:ext>
            </a:extLst>
          </p:cNvPr>
          <p:cNvCxnSpPr>
            <a:cxnSpLocks/>
          </p:cNvCxnSpPr>
          <p:nvPr userDrawn="1"/>
        </p:nvCxnSpPr>
        <p:spPr>
          <a:xfrm>
            <a:off x="5715000" y="6134100"/>
            <a:ext cx="5676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35510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alto de sección 1">
    <p:spTree>
      <p:nvGrpSpPr>
        <p:cNvPr id="1" name=""/>
        <p:cNvGrpSpPr/>
        <p:nvPr/>
      </p:nvGrpSpPr>
      <p:grpSpPr>
        <a:xfrm>
          <a:off x="0" y="0"/>
          <a:ext cx="0" cy="0"/>
          <a:chOff x="0" y="0"/>
          <a:chExt cx="0" cy="0"/>
        </a:xfrm>
      </p:grpSpPr>
      <p:sp>
        <p:nvSpPr>
          <p:cNvPr id="20" name="Título 10">
            <a:extLst>
              <a:ext uri="{FF2B5EF4-FFF2-40B4-BE49-F238E27FC236}">
                <a16:creationId xmlns:a16="http://schemas.microsoft.com/office/drawing/2014/main" id="{6DC3399C-8B0E-4D7D-A955-FB1F37CF3672}"/>
              </a:ext>
            </a:extLst>
          </p:cNvPr>
          <p:cNvSpPr>
            <a:spLocks noGrp="1"/>
          </p:cNvSpPr>
          <p:nvPr>
            <p:ph type="ctrTitle" hasCustomPrompt="1"/>
          </p:nvPr>
        </p:nvSpPr>
        <p:spPr>
          <a:xfrm>
            <a:off x="710520" y="776873"/>
            <a:ext cx="5854182" cy="3070508"/>
          </a:xfrm>
          <a:prstGeom prst="rect">
            <a:avLst/>
          </a:prstGeom>
        </p:spPr>
        <p:txBody>
          <a:bodyPr rtlCol="0" anchor="b">
            <a:normAutofit/>
          </a:bodyPr>
          <a:lstStyle>
            <a:lvl1pPr>
              <a:defRPr lang="es-ES" sz="3200"/>
            </a:lvl1pPr>
          </a:lstStyle>
          <a:p>
            <a:pPr rtl="0"/>
            <a:r>
              <a:rPr lang="es-ES"/>
              <a:t>Haga clic para agregar un título</a:t>
            </a:r>
          </a:p>
        </p:txBody>
      </p:sp>
      <p:sp>
        <p:nvSpPr>
          <p:cNvPr id="21" name="Subtítulo 11">
            <a:extLst>
              <a:ext uri="{FF2B5EF4-FFF2-40B4-BE49-F238E27FC236}">
                <a16:creationId xmlns:a16="http://schemas.microsoft.com/office/drawing/2014/main" id="{13C3C1EB-2C5B-4710-893A-9DD6284D5CB0}"/>
              </a:ext>
            </a:extLst>
          </p:cNvPr>
          <p:cNvSpPr>
            <a:spLocks noGrp="1"/>
          </p:cNvSpPr>
          <p:nvPr>
            <p:ph type="subTitle" idx="1" hasCustomPrompt="1"/>
          </p:nvPr>
        </p:nvSpPr>
        <p:spPr>
          <a:xfrm>
            <a:off x="721202" y="4088927"/>
            <a:ext cx="5842218" cy="1880552"/>
          </a:xfrm>
          <a:prstGeom prst="rect">
            <a:avLst/>
          </a:prstGeom>
        </p:spPr>
        <p:txBody>
          <a:bodyPr rtlCol="0">
            <a:normAutofit/>
          </a:bodyPr>
          <a:lstStyle>
            <a:lvl1pPr marL="0" indent="0">
              <a:buNone/>
              <a:defRPr lang="es-ES" sz="2000"/>
            </a:lvl1pPr>
          </a:lstStyle>
          <a:p>
            <a:pPr rtl="0"/>
            <a:r>
              <a:rPr lang="es-ES"/>
              <a:t>Haga clic para agregar un subtítulo</a:t>
            </a:r>
          </a:p>
        </p:txBody>
      </p:sp>
      <p:sp>
        <p:nvSpPr>
          <p:cNvPr id="30" name="Marcador de posición de imagen 28">
            <a:extLst>
              <a:ext uri="{FF2B5EF4-FFF2-40B4-BE49-F238E27FC236}">
                <a16:creationId xmlns:a16="http://schemas.microsoft.com/office/drawing/2014/main" id="{E335E712-C7FD-4BAC-B89C-58AF6594A4E7}"/>
              </a:ext>
            </a:extLst>
          </p:cNvPr>
          <p:cNvSpPr>
            <a:spLocks noGrp="1"/>
          </p:cNvSpPr>
          <p:nvPr>
            <p:ph type="pic" sz="quarter" idx="13"/>
          </p:nvPr>
        </p:nvSpPr>
        <p:spPr>
          <a:xfrm>
            <a:off x="7315200" y="0"/>
            <a:ext cx="4876800" cy="6858000"/>
          </a:xfrm>
          <a:prstGeom prst="rect">
            <a:avLst/>
          </a:prstGeom>
        </p:spPr>
        <p:txBody>
          <a:bodyPr rtlCol="0">
            <a:normAutofit/>
          </a:bodyPr>
          <a:lstStyle>
            <a:lvl1pPr marL="0" indent="0" algn="ctr">
              <a:buNone/>
              <a:defRPr lang="es-ES" sz="1800"/>
            </a:lvl1pPr>
          </a:lstStyle>
          <a:p>
            <a:pPr rtl="0"/>
            <a:r>
              <a:rPr lang="es-ES"/>
              <a:t>Haga clic en el icono para agregar una imagen</a:t>
            </a:r>
          </a:p>
        </p:txBody>
      </p:sp>
      <p:cxnSp>
        <p:nvCxnSpPr>
          <p:cNvPr id="3" name="Conector recto 2">
            <a:extLst>
              <a:ext uri="{FF2B5EF4-FFF2-40B4-BE49-F238E27FC236}">
                <a16:creationId xmlns:a16="http://schemas.microsoft.com/office/drawing/2014/main" id="{A541CC69-A0B0-C1BE-2165-D8AD1B7D2DDA}"/>
              </a:ext>
              <a:ext uri="{C183D7F6-B498-43B3-948B-1728B52AA6E4}">
                <adec:decorative xmlns:adec="http://schemas.microsoft.com/office/drawing/2017/decorative" val="1"/>
              </a:ext>
            </a:extLst>
          </p:cNvPr>
          <p:cNvCxnSpPr>
            <a:cxnSpLocks/>
          </p:cNvCxnSpPr>
          <p:nvPr userDrawn="1"/>
        </p:nvCxnSpPr>
        <p:spPr>
          <a:xfrm>
            <a:off x="724574" y="723899"/>
            <a:ext cx="57867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Conector recto 3">
            <a:extLst>
              <a:ext uri="{FF2B5EF4-FFF2-40B4-BE49-F238E27FC236}">
                <a16:creationId xmlns:a16="http://schemas.microsoft.com/office/drawing/2014/main" id="{0D54A957-6A3F-2C34-A453-905FBAE77CCD}"/>
              </a:ext>
              <a:ext uri="{C183D7F6-B498-43B3-948B-1728B52AA6E4}">
                <adec:decorative xmlns:adec="http://schemas.microsoft.com/office/drawing/2017/decorative" val="1"/>
              </a:ext>
            </a:extLst>
          </p:cNvPr>
          <p:cNvCxnSpPr>
            <a:cxnSpLocks/>
          </p:cNvCxnSpPr>
          <p:nvPr userDrawn="1"/>
        </p:nvCxnSpPr>
        <p:spPr>
          <a:xfrm>
            <a:off x="724574" y="6136928"/>
            <a:ext cx="57867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537572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abla 2">
    <p:spTree>
      <p:nvGrpSpPr>
        <p:cNvPr id="1" name=""/>
        <p:cNvGrpSpPr/>
        <p:nvPr/>
      </p:nvGrpSpPr>
      <p:grpSpPr>
        <a:xfrm>
          <a:off x="0" y="0"/>
          <a:ext cx="0" cy="0"/>
          <a:chOff x="0" y="0"/>
          <a:chExt cx="0" cy="0"/>
        </a:xfrm>
      </p:grpSpPr>
      <p:sp>
        <p:nvSpPr>
          <p:cNvPr id="8" name="Título 9">
            <a:extLst>
              <a:ext uri="{FF2B5EF4-FFF2-40B4-BE49-F238E27FC236}">
                <a16:creationId xmlns:a16="http://schemas.microsoft.com/office/drawing/2014/main" id="{4246B94A-8C64-4FBA-B409-1F9487E19CF3}"/>
              </a:ext>
            </a:extLst>
          </p:cNvPr>
          <p:cNvSpPr>
            <a:spLocks noGrp="1"/>
          </p:cNvSpPr>
          <p:nvPr>
            <p:ph type="title" hasCustomPrompt="1"/>
          </p:nvPr>
        </p:nvSpPr>
        <p:spPr>
          <a:xfrm>
            <a:off x="734592" y="976997"/>
            <a:ext cx="11000208" cy="1239985"/>
          </a:xfrm>
          <a:prstGeom prst="rect">
            <a:avLst/>
          </a:prstGeom>
        </p:spPr>
        <p:txBody>
          <a:bodyPr rtlCol="0" anchor="t">
            <a:normAutofit/>
          </a:bodyPr>
          <a:lstStyle>
            <a:lvl1pPr>
              <a:defRPr lang="es-ES" sz="3200"/>
            </a:lvl1pPr>
          </a:lstStyle>
          <a:p>
            <a:pPr rtl="0"/>
            <a:r>
              <a:rPr lang="es-ES"/>
              <a:t>Haga clic para agregar un título</a:t>
            </a:r>
          </a:p>
        </p:txBody>
      </p:sp>
      <p:sp>
        <p:nvSpPr>
          <p:cNvPr id="5" name="Marcador de contenido 4">
            <a:extLst>
              <a:ext uri="{FF2B5EF4-FFF2-40B4-BE49-F238E27FC236}">
                <a16:creationId xmlns:a16="http://schemas.microsoft.com/office/drawing/2014/main" id="{02736CFB-FEC9-D3FB-01C8-D0AF64ED3AE0}"/>
              </a:ext>
            </a:extLst>
          </p:cNvPr>
          <p:cNvSpPr>
            <a:spLocks noGrp="1"/>
          </p:cNvSpPr>
          <p:nvPr>
            <p:ph sz="quarter" idx="10" hasCustomPrompt="1"/>
          </p:nvPr>
        </p:nvSpPr>
        <p:spPr>
          <a:xfrm>
            <a:off x="734592" y="2244725"/>
            <a:ext cx="7814185" cy="4233713"/>
          </a:xfrm>
        </p:spPr>
        <p:txBody>
          <a:bodyPr rtlCol="0"/>
          <a:lstStyle>
            <a:defPPr>
              <a:defRPr lang="es-ES"/>
            </a:def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2" name="Marcador de número de diapositiva 5">
            <a:extLst>
              <a:ext uri="{FF2B5EF4-FFF2-40B4-BE49-F238E27FC236}">
                <a16:creationId xmlns:a16="http://schemas.microsoft.com/office/drawing/2014/main" id="{457EDA23-301F-47EE-3683-0B3206D8F539}"/>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lang="es-ES" sz="1400">
                <a:solidFill>
                  <a:schemeClr val="tx1"/>
                </a:solidFill>
              </a:defRPr>
            </a:lvl1pPr>
          </a:lstStyle>
          <a:p>
            <a:pPr rtl="0"/>
            <a:fld id="{C3DB2ADC-AF19-4574-8C10-79B5B04FCA27}" type="slidenum">
              <a:rPr lang="es-ES" smtClean="0"/>
              <a:pPr rtl="0"/>
              <a:t>‹Nº›</a:t>
            </a:fld>
            <a:endParaRPr lang="es-ES" dirty="0"/>
          </a:p>
        </p:txBody>
      </p:sp>
      <p:cxnSp>
        <p:nvCxnSpPr>
          <p:cNvPr id="6" name="Conector recto 5">
            <a:extLst>
              <a:ext uri="{FF2B5EF4-FFF2-40B4-BE49-F238E27FC236}">
                <a16:creationId xmlns:a16="http://schemas.microsoft.com/office/drawing/2014/main" id="{93AC3921-F10C-2A33-F8DF-3B42EE1E382E}"/>
              </a:ext>
              <a:ext uri="{C183D7F6-B498-43B3-948B-1728B52AA6E4}">
                <adec:decorative xmlns:adec="http://schemas.microsoft.com/office/drawing/2017/decorative" val="1"/>
              </a:ext>
            </a:extLst>
          </p:cNvPr>
          <p:cNvCxnSpPr>
            <a:cxnSpLocks/>
          </p:cNvCxnSpPr>
          <p:nvPr userDrawn="1"/>
        </p:nvCxnSpPr>
        <p:spPr>
          <a:xfrm>
            <a:off x="724574" y="723899"/>
            <a:ext cx="1101022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9493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ítulo de la sección 2">
    <p:bg>
      <p:bgRef idx="1001">
        <a:schemeClr val="bg1"/>
      </p:bgRef>
    </p:bg>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89AE8321-5884-9E75-1272-926961F3131D}"/>
              </a:ext>
            </a:extLst>
          </p:cNvPr>
          <p:cNvSpPr>
            <a:spLocks noGrp="1"/>
          </p:cNvSpPr>
          <p:nvPr>
            <p:ph type="title" hasCustomPrompt="1"/>
          </p:nvPr>
        </p:nvSpPr>
        <p:spPr>
          <a:xfrm>
            <a:off x="763439" y="684311"/>
            <a:ext cx="4058728" cy="2749009"/>
          </a:xfrm>
        </p:spPr>
        <p:txBody>
          <a:bodyPr rtlCol="0" anchor="b">
            <a:normAutofit/>
          </a:bodyPr>
          <a:lstStyle>
            <a:lvl1pPr algn="l">
              <a:defRPr lang="es-ES" sz="3200"/>
            </a:lvl1pPr>
          </a:lstStyle>
          <a:p>
            <a:pPr rtl="0"/>
            <a:r>
              <a:rPr lang="es-ES"/>
              <a:t>Haga clic para agregar un título</a:t>
            </a:r>
          </a:p>
        </p:txBody>
      </p:sp>
      <p:sp>
        <p:nvSpPr>
          <p:cNvPr id="13" name="Marcador de contenido 12">
            <a:extLst>
              <a:ext uri="{FF2B5EF4-FFF2-40B4-BE49-F238E27FC236}">
                <a16:creationId xmlns:a16="http://schemas.microsoft.com/office/drawing/2014/main" id="{5EB8AC8C-DEDA-D180-1CD8-B67B47276E34}"/>
              </a:ext>
            </a:extLst>
          </p:cNvPr>
          <p:cNvSpPr>
            <a:spLocks noGrp="1"/>
          </p:cNvSpPr>
          <p:nvPr>
            <p:ph sz="quarter" idx="11" hasCustomPrompt="1"/>
          </p:nvPr>
        </p:nvSpPr>
        <p:spPr>
          <a:xfrm>
            <a:off x="757600" y="3662835"/>
            <a:ext cx="4064567" cy="2468396"/>
          </a:xfrm>
        </p:spPr>
        <p:txBody>
          <a:bodyPr rtlCol="0"/>
          <a:lstStyle>
            <a:lvl1pPr marL="0" indent="0">
              <a:buNone/>
              <a:defRPr lang="es-ES"/>
            </a:lvl1pPr>
            <a:lvl2pPr marL="457200" indent="0">
              <a:buNone/>
              <a:defRPr lang="es-ES"/>
            </a:lvl2pPr>
            <a:lvl3pPr marL="914400" indent="0">
              <a:buNone/>
              <a:defRPr lang="es-ES"/>
            </a:lvl3pPr>
            <a:lvl4pPr marL="1371600" indent="0">
              <a:buNone/>
              <a:defRPr lang="es-ES"/>
            </a:lvl4pPr>
            <a:lvl5pPr marL="1828800" indent="0">
              <a:buNone/>
              <a:defRPr lang="es-ES"/>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9" name="Marcador de posición de imagen 8">
            <a:extLst>
              <a:ext uri="{FF2B5EF4-FFF2-40B4-BE49-F238E27FC236}">
                <a16:creationId xmlns:a16="http://schemas.microsoft.com/office/drawing/2014/main" id="{B22DF521-FA73-0B43-D1F3-A28543BA84E8}"/>
              </a:ext>
            </a:extLst>
          </p:cNvPr>
          <p:cNvSpPr>
            <a:spLocks noGrp="1"/>
          </p:cNvSpPr>
          <p:nvPr>
            <p:ph type="pic" sz="quarter" idx="10" hasCustomPrompt="1"/>
          </p:nvPr>
        </p:nvSpPr>
        <p:spPr>
          <a:xfrm>
            <a:off x="5707756" y="4"/>
            <a:ext cx="5786438" cy="6134100"/>
          </a:xfrm>
        </p:spPr>
        <p:txBody>
          <a:bodyPr rtlCol="0"/>
          <a:lstStyle>
            <a:lvl1pPr marL="0" indent="0" algn="ctr">
              <a:buNone/>
              <a:defRPr lang="es-ES"/>
            </a:lvl1pPr>
          </a:lstStyle>
          <a:p>
            <a:pPr rtl="0"/>
            <a:r>
              <a:rPr lang="es-ES"/>
              <a:t>Haga clic en el icono para insertar una imagen</a:t>
            </a:r>
          </a:p>
        </p:txBody>
      </p:sp>
      <p:cxnSp>
        <p:nvCxnSpPr>
          <p:cNvPr id="5" name="Conector recto 4">
            <a:extLst>
              <a:ext uri="{FF2B5EF4-FFF2-40B4-BE49-F238E27FC236}">
                <a16:creationId xmlns:a16="http://schemas.microsoft.com/office/drawing/2014/main" id="{9D527B4D-405A-DCD2-6970-1162843E00DD}"/>
              </a:ext>
              <a:ext uri="{C183D7F6-B498-43B3-948B-1728B52AA6E4}">
                <adec:decorative xmlns:adec="http://schemas.microsoft.com/office/drawing/2017/decorative" val="1"/>
              </a:ext>
            </a:extLst>
          </p:cNvPr>
          <p:cNvCxnSpPr>
            <a:cxnSpLocks/>
          </p:cNvCxnSpPr>
          <p:nvPr userDrawn="1"/>
        </p:nvCxnSpPr>
        <p:spPr>
          <a:xfrm>
            <a:off x="814484" y="721031"/>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Marcador de número de diapositiva 5">
            <a:extLst>
              <a:ext uri="{FF2B5EF4-FFF2-40B4-BE49-F238E27FC236}">
                <a16:creationId xmlns:a16="http://schemas.microsoft.com/office/drawing/2014/main" id="{400E6515-DDBF-35F4-5C9E-FF113FD164EF}"/>
              </a:ext>
            </a:extLst>
          </p:cNvPr>
          <p:cNvSpPr>
            <a:spLocks noGrp="1"/>
          </p:cNvSpPr>
          <p:nvPr>
            <p:ph type="sldNum" sz="quarter" idx="4"/>
          </p:nvPr>
        </p:nvSpPr>
        <p:spPr>
          <a:xfrm>
            <a:off x="10919012" y="6274074"/>
            <a:ext cx="672354" cy="583926"/>
          </a:xfrm>
          <a:prstGeom prst="rect">
            <a:avLst/>
          </a:prstGeom>
        </p:spPr>
        <p:txBody>
          <a:bodyPr vert="horz" lIns="91440" tIns="45720" rIns="91440" bIns="45720" rtlCol="0" anchor="t"/>
          <a:lstStyle>
            <a:lvl1pPr algn="r">
              <a:defRPr lang="es-ES" sz="1400">
                <a:solidFill>
                  <a:schemeClr val="tx1"/>
                </a:solidFill>
              </a:defRPr>
            </a:lvl1pPr>
          </a:lstStyle>
          <a:p>
            <a:pPr rtl="0"/>
            <a:fld id="{C3DB2ADC-AF19-4574-8C10-79B5B04FCA27}" type="slidenum">
              <a:rPr lang="es-ES" smtClean="0"/>
              <a:pPr rtl="0"/>
              <a:t>‹Nº›</a:t>
            </a:fld>
            <a:endParaRPr lang="es-ES" dirty="0"/>
          </a:p>
        </p:txBody>
      </p:sp>
      <p:cxnSp>
        <p:nvCxnSpPr>
          <p:cNvPr id="2" name="Conector recto 1">
            <a:extLst>
              <a:ext uri="{FF2B5EF4-FFF2-40B4-BE49-F238E27FC236}">
                <a16:creationId xmlns:a16="http://schemas.microsoft.com/office/drawing/2014/main" id="{B3B79298-0F84-5214-4916-E9C0B4B46AB4}"/>
              </a:ext>
              <a:ext uri="{C183D7F6-B498-43B3-948B-1728B52AA6E4}">
                <adec:decorative xmlns:adec="http://schemas.microsoft.com/office/drawing/2017/decorative" val="1"/>
              </a:ext>
            </a:extLst>
          </p:cNvPr>
          <p:cNvCxnSpPr>
            <a:cxnSpLocks/>
          </p:cNvCxnSpPr>
          <p:nvPr userDrawn="1"/>
        </p:nvCxnSpPr>
        <p:spPr>
          <a:xfrm>
            <a:off x="5699342" y="6136928"/>
            <a:ext cx="57867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6052968"/>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ítulo y dos contenidos">
    <p:spTree>
      <p:nvGrpSpPr>
        <p:cNvPr id="1" name=""/>
        <p:cNvGrpSpPr/>
        <p:nvPr/>
      </p:nvGrpSpPr>
      <p:grpSpPr>
        <a:xfrm>
          <a:off x="0" y="0"/>
          <a:ext cx="0" cy="0"/>
          <a:chOff x="0" y="0"/>
          <a:chExt cx="0" cy="0"/>
        </a:xfrm>
      </p:grpSpPr>
      <p:sp>
        <p:nvSpPr>
          <p:cNvPr id="8" name="Título 9">
            <a:extLst>
              <a:ext uri="{FF2B5EF4-FFF2-40B4-BE49-F238E27FC236}">
                <a16:creationId xmlns:a16="http://schemas.microsoft.com/office/drawing/2014/main" id="{4246B94A-8C64-4FBA-B409-1F9487E19CF3}"/>
              </a:ext>
            </a:extLst>
          </p:cNvPr>
          <p:cNvSpPr>
            <a:spLocks noGrp="1"/>
          </p:cNvSpPr>
          <p:nvPr>
            <p:ph type="title" hasCustomPrompt="1"/>
          </p:nvPr>
        </p:nvSpPr>
        <p:spPr>
          <a:xfrm>
            <a:off x="734591" y="976997"/>
            <a:ext cx="11000209" cy="1188227"/>
          </a:xfrm>
          <a:prstGeom prst="rect">
            <a:avLst/>
          </a:prstGeom>
        </p:spPr>
        <p:txBody>
          <a:bodyPr rtlCol="0" anchor="t">
            <a:normAutofit/>
          </a:bodyPr>
          <a:lstStyle>
            <a:lvl1pPr>
              <a:defRPr lang="es-ES" sz="3200"/>
            </a:lvl1pPr>
          </a:lstStyle>
          <a:p>
            <a:pPr rtl="0"/>
            <a:r>
              <a:rPr lang="es-ES"/>
              <a:t>Haga clic para agregar un título</a:t>
            </a:r>
          </a:p>
        </p:txBody>
      </p:sp>
      <p:sp>
        <p:nvSpPr>
          <p:cNvPr id="5" name="Marcador de contenido 4">
            <a:extLst>
              <a:ext uri="{FF2B5EF4-FFF2-40B4-BE49-F238E27FC236}">
                <a16:creationId xmlns:a16="http://schemas.microsoft.com/office/drawing/2014/main" id="{02736CFB-FEC9-D3FB-01C8-D0AF64ED3AE0}"/>
              </a:ext>
            </a:extLst>
          </p:cNvPr>
          <p:cNvSpPr>
            <a:spLocks noGrp="1"/>
          </p:cNvSpPr>
          <p:nvPr>
            <p:ph sz="quarter" idx="10" hasCustomPrompt="1"/>
          </p:nvPr>
        </p:nvSpPr>
        <p:spPr>
          <a:xfrm>
            <a:off x="734593" y="2244725"/>
            <a:ext cx="5045105" cy="4233713"/>
          </a:xfrm>
        </p:spPr>
        <p:txBody>
          <a:bodyPr rtlCol="0">
            <a:normAutofit/>
          </a:bodyPr>
          <a:lstStyle>
            <a:lvl1pPr>
              <a:spcBef>
                <a:spcPts val="0"/>
              </a:spcBef>
              <a:spcAft>
                <a:spcPts val="1200"/>
              </a:spcAft>
              <a:defRPr lang="es-ES" sz="1800"/>
            </a:lvl1pPr>
            <a:lvl2pPr>
              <a:spcBef>
                <a:spcPts val="0"/>
              </a:spcBef>
              <a:spcAft>
                <a:spcPts val="1200"/>
              </a:spcAft>
              <a:defRPr lang="es-ES" sz="1600"/>
            </a:lvl2pPr>
            <a:lvl3pPr>
              <a:spcBef>
                <a:spcPts val="0"/>
              </a:spcBef>
              <a:spcAft>
                <a:spcPts val="1200"/>
              </a:spcAft>
              <a:defRPr lang="es-ES" sz="1400"/>
            </a:lvl3pPr>
            <a:lvl4pPr>
              <a:spcBef>
                <a:spcPts val="0"/>
              </a:spcBef>
              <a:spcAft>
                <a:spcPts val="1200"/>
              </a:spcAft>
              <a:defRPr lang="es-ES" sz="1200"/>
            </a:lvl4pPr>
            <a:lvl5pPr>
              <a:spcBef>
                <a:spcPts val="0"/>
              </a:spcBef>
              <a:spcAft>
                <a:spcPts val="1200"/>
              </a:spcAft>
              <a:defRPr lang="es-ES" sz="12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cxnSp>
        <p:nvCxnSpPr>
          <p:cNvPr id="6" name="Conector recto 5">
            <a:extLst>
              <a:ext uri="{FF2B5EF4-FFF2-40B4-BE49-F238E27FC236}">
                <a16:creationId xmlns:a16="http://schemas.microsoft.com/office/drawing/2014/main" id="{93AC3921-F10C-2A33-F8DF-3B42EE1E382E}"/>
              </a:ext>
              <a:ext uri="{C183D7F6-B498-43B3-948B-1728B52AA6E4}">
                <adec:decorative xmlns:adec="http://schemas.microsoft.com/office/drawing/2017/decorative" val="1"/>
              </a:ext>
            </a:extLst>
          </p:cNvPr>
          <p:cNvCxnSpPr>
            <a:cxnSpLocks/>
          </p:cNvCxnSpPr>
          <p:nvPr userDrawn="1"/>
        </p:nvCxnSpPr>
        <p:spPr>
          <a:xfrm>
            <a:off x="724574" y="723899"/>
            <a:ext cx="1101022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Marcador de contenido 4">
            <a:extLst>
              <a:ext uri="{FF2B5EF4-FFF2-40B4-BE49-F238E27FC236}">
                <a16:creationId xmlns:a16="http://schemas.microsoft.com/office/drawing/2014/main" id="{A4F2998B-5567-1A45-7720-4998CC19EF0D}"/>
              </a:ext>
            </a:extLst>
          </p:cNvPr>
          <p:cNvSpPr>
            <a:spLocks noGrp="1"/>
          </p:cNvSpPr>
          <p:nvPr>
            <p:ph sz="quarter" idx="11" hasCustomPrompt="1"/>
          </p:nvPr>
        </p:nvSpPr>
        <p:spPr>
          <a:xfrm>
            <a:off x="6412304" y="2244724"/>
            <a:ext cx="5322496" cy="4233713"/>
          </a:xfrm>
        </p:spPr>
        <p:txBody>
          <a:bodyPr rtlCol="0">
            <a:normAutofit/>
          </a:bodyPr>
          <a:lstStyle>
            <a:lvl1pPr>
              <a:spcBef>
                <a:spcPts val="0"/>
              </a:spcBef>
              <a:spcAft>
                <a:spcPts val="1200"/>
              </a:spcAft>
              <a:defRPr lang="es-ES" sz="1800"/>
            </a:lvl1pPr>
            <a:lvl2pPr>
              <a:spcBef>
                <a:spcPts val="0"/>
              </a:spcBef>
              <a:spcAft>
                <a:spcPts val="1200"/>
              </a:spcAft>
              <a:defRPr lang="es-ES" sz="1600"/>
            </a:lvl2pPr>
            <a:lvl3pPr>
              <a:spcBef>
                <a:spcPts val="0"/>
              </a:spcBef>
              <a:spcAft>
                <a:spcPts val="1200"/>
              </a:spcAft>
              <a:defRPr lang="es-ES" sz="1400"/>
            </a:lvl3pPr>
            <a:lvl4pPr>
              <a:spcBef>
                <a:spcPts val="0"/>
              </a:spcBef>
              <a:spcAft>
                <a:spcPts val="1200"/>
              </a:spcAft>
              <a:defRPr lang="es-ES" sz="1200"/>
            </a:lvl4pPr>
            <a:lvl5pPr>
              <a:spcBef>
                <a:spcPts val="0"/>
              </a:spcBef>
              <a:spcAft>
                <a:spcPts val="1200"/>
              </a:spcAft>
              <a:defRPr lang="es-ES" sz="12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2" name="Marcador de número de diapositiva 5">
            <a:extLst>
              <a:ext uri="{FF2B5EF4-FFF2-40B4-BE49-F238E27FC236}">
                <a16:creationId xmlns:a16="http://schemas.microsoft.com/office/drawing/2014/main" id="{457EDA23-301F-47EE-3683-0B3206D8F539}"/>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lang="es-ES" sz="1400">
                <a:solidFill>
                  <a:schemeClr val="tx1"/>
                </a:solidFill>
              </a:defRPr>
            </a:lvl1pPr>
          </a:lstStyle>
          <a:p>
            <a:pPr rtl="0"/>
            <a:fld id="{C3DB2ADC-AF19-4574-8C10-79B5B04FCA27}" type="slidenum">
              <a:rPr lang="es-ES" smtClean="0"/>
              <a:pPr rtl="0"/>
              <a:t>‹Nº›</a:t>
            </a:fld>
            <a:endParaRPr lang="es-ES" dirty="0"/>
          </a:p>
        </p:txBody>
      </p:sp>
    </p:spTree>
    <p:extLst>
      <p:ext uri="{BB962C8B-B14F-4D97-AF65-F5344CB8AC3E}">
        <p14:creationId xmlns:p14="http://schemas.microsoft.com/office/powerpoint/2010/main" val="1627042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ítulo y dos contenido 2">
    <p:spTree>
      <p:nvGrpSpPr>
        <p:cNvPr id="1" name=""/>
        <p:cNvGrpSpPr/>
        <p:nvPr/>
      </p:nvGrpSpPr>
      <p:grpSpPr>
        <a:xfrm>
          <a:off x="0" y="0"/>
          <a:ext cx="0" cy="0"/>
          <a:chOff x="0" y="0"/>
          <a:chExt cx="0" cy="0"/>
        </a:xfrm>
      </p:grpSpPr>
      <p:sp>
        <p:nvSpPr>
          <p:cNvPr id="8" name="Título 9">
            <a:extLst>
              <a:ext uri="{FF2B5EF4-FFF2-40B4-BE49-F238E27FC236}">
                <a16:creationId xmlns:a16="http://schemas.microsoft.com/office/drawing/2014/main" id="{4246B94A-8C64-4FBA-B409-1F9487E19CF3}"/>
              </a:ext>
            </a:extLst>
          </p:cNvPr>
          <p:cNvSpPr>
            <a:spLocks noGrp="1"/>
          </p:cNvSpPr>
          <p:nvPr>
            <p:ph type="title" hasCustomPrompt="1"/>
          </p:nvPr>
        </p:nvSpPr>
        <p:spPr>
          <a:xfrm>
            <a:off x="725965" y="976999"/>
            <a:ext cx="11034713" cy="1196853"/>
          </a:xfrm>
          <a:prstGeom prst="rect">
            <a:avLst/>
          </a:prstGeom>
        </p:spPr>
        <p:txBody>
          <a:bodyPr rtlCol="0" anchor="t">
            <a:normAutofit/>
          </a:bodyPr>
          <a:lstStyle>
            <a:lvl1pPr>
              <a:defRPr lang="es-ES" sz="3200"/>
            </a:lvl1pPr>
          </a:lstStyle>
          <a:p>
            <a:pPr rtl="0"/>
            <a:r>
              <a:rPr lang="es-ES"/>
              <a:t>Haga clic para agregar un título</a:t>
            </a:r>
          </a:p>
        </p:txBody>
      </p:sp>
      <p:sp>
        <p:nvSpPr>
          <p:cNvPr id="5" name="Marcador de contenido 4">
            <a:extLst>
              <a:ext uri="{FF2B5EF4-FFF2-40B4-BE49-F238E27FC236}">
                <a16:creationId xmlns:a16="http://schemas.microsoft.com/office/drawing/2014/main" id="{02736CFB-FEC9-D3FB-01C8-D0AF64ED3AE0}"/>
              </a:ext>
            </a:extLst>
          </p:cNvPr>
          <p:cNvSpPr>
            <a:spLocks noGrp="1"/>
          </p:cNvSpPr>
          <p:nvPr>
            <p:ph sz="quarter" idx="10" hasCustomPrompt="1"/>
          </p:nvPr>
        </p:nvSpPr>
        <p:spPr>
          <a:xfrm>
            <a:off x="741826" y="2244725"/>
            <a:ext cx="2958075" cy="3904268"/>
          </a:xfrm>
        </p:spPr>
        <p:txBody>
          <a:bodyPr rtlCol="0">
            <a:normAutofit/>
          </a:bodyPr>
          <a:lstStyle>
            <a:lvl1pPr>
              <a:spcBef>
                <a:spcPts val="0"/>
              </a:spcBef>
              <a:spcAft>
                <a:spcPts val="1200"/>
              </a:spcAft>
              <a:defRPr lang="es-ES" sz="2000" b="1"/>
            </a:lvl1pPr>
            <a:lvl2pPr>
              <a:spcBef>
                <a:spcPts val="0"/>
              </a:spcBef>
              <a:spcAft>
                <a:spcPts val="1200"/>
              </a:spcAft>
              <a:defRPr lang="es-ES" sz="1800" b="1"/>
            </a:lvl2pPr>
            <a:lvl3pPr>
              <a:spcBef>
                <a:spcPts val="0"/>
              </a:spcBef>
              <a:spcAft>
                <a:spcPts val="1200"/>
              </a:spcAft>
              <a:defRPr lang="es-ES" sz="1600" b="1"/>
            </a:lvl3pPr>
            <a:lvl4pPr>
              <a:spcBef>
                <a:spcPts val="0"/>
              </a:spcBef>
              <a:spcAft>
                <a:spcPts val="1200"/>
              </a:spcAft>
              <a:defRPr lang="es-ES" sz="1400" b="1"/>
            </a:lvl4pPr>
            <a:lvl5pPr>
              <a:spcBef>
                <a:spcPts val="0"/>
              </a:spcBef>
              <a:spcAft>
                <a:spcPts val="1200"/>
              </a:spcAft>
              <a:defRPr lang="es-ES" sz="1400" b="1"/>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3" name="Marcador de contenido 4">
            <a:extLst>
              <a:ext uri="{FF2B5EF4-FFF2-40B4-BE49-F238E27FC236}">
                <a16:creationId xmlns:a16="http://schemas.microsoft.com/office/drawing/2014/main" id="{A4F2998B-5567-1A45-7720-4998CC19EF0D}"/>
              </a:ext>
            </a:extLst>
          </p:cNvPr>
          <p:cNvSpPr>
            <a:spLocks noGrp="1"/>
          </p:cNvSpPr>
          <p:nvPr>
            <p:ph sz="quarter" idx="11" hasCustomPrompt="1"/>
          </p:nvPr>
        </p:nvSpPr>
        <p:spPr>
          <a:xfrm>
            <a:off x="4407226" y="2244725"/>
            <a:ext cx="7353452" cy="3912896"/>
          </a:xfrm>
        </p:spPr>
        <p:txBody>
          <a:bodyPr rtlCol="0">
            <a:normAutofit/>
          </a:bodyPr>
          <a:lstStyle>
            <a:lvl1pPr>
              <a:spcBef>
                <a:spcPts val="0"/>
              </a:spcBef>
              <a:spcAft>
                <a:spcPts val="1200"/>
              </a:spcAft>
              <a:defRPr lang="es-ES" sz="2000"/>
            </a:lvl1pPr>
            <a:lvl2pPr>
              <a:spcBef>
                <a:spcPts val="0"/>
              </a:spcBef>
              <a:spcAft>
                <a:spcPts val="1200"/>
              </a:spcAft>
              <a:defRPr lang="es-ES" sz="1800"/>
            </a:lvl2pPr>
            <a:lvl3pPr>
              <a:spcBef>
                <a:spcPts val="0"/>
              </a:spcBef>
              <a:spcAft>
                <a:spcPts val="1200"/>
              </a:spcAft>
              <a:defRPr lang="es-ES" sz="1600"/>
            </a:lvl3pPr>
            <a:lvl4pPr>
              <a:spcBef>
                <a:spcPts val="0"/>
              </a:spcBef>
              <a:spcAft>
                <a:spcPts val="1200"/>
              </a:spcAft>
              <a:defRPr lang="es-ES" sz="1400"/>
            </a:lvl4pPr>
            <a:lvl5pPr>
              <a:spcBef>
                <a:spcPts val="0"/>
              </a:spcBef>
              <a:spcAft>
                <a:spcPts val="1200"/>
              </a:spcAft>
              <a:defRPr lang="es-ES" sz="14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2" name="Marcador de número de diapositiva 5">
            <a:extLst>
              <a:ext uri="{FF2B5EF4-FFF2-40B4-BE49-F238E27FC236}">
                <a16:creationId xmlns:a16="http://schemas.microsoft.com/office/drawing/2014/main" id="{457EDA23-301F-47EE-3683-0B3206D8F539}"/>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lang="es-ES" sz="1400">
                <a:solidFill>
                  <a:schemeClr val="tx1"/>
                </a:solidFill>
              </a:defRPr>
            </a:lvl1pPr>
          </a:lstStyle>
          <a:p>
            <a:pPr rtl="0"/>
            <a:fld id="{C3DB2ADC-AF19-4574-8C10-79B5B04FCA27}" type="slidenum">
              <a:rPr lang="es-ES" smtClean="0"/>
              <a:pPr rtl="0"/>
              <a:t>‹Nº›</a:t>
            </a:fld>
            <a:endParaRPr lang="es-ES" dirty="0"/>
          </a:p>
        </p:txBody>
      </p:sp>
      <p:cxnSp>
        <p:nvCxnSpPr>
          <p:cNvPr id="6" name="Conector recto 5">
            <a:extLst>
              <a:ext uri="{FF2B5EF4-FFF2-40B4-BE49-F238E27FC236}">
                <a16:creationId xmlns:a16="http://schemas.microsoft.com/office/drawing/2014/main" id="{93AC3921-F10C-2A33-F8DF-3B42EE1E382E}"/>
              </a:ext>
              <a:ext uri="{C183D7F6-B498-43B3-948B-1728B52AA6E4}">
                <adec:decorative xmlns:adec="http://schemas.microsoft.com/office/drawing/2017/decorative" val="1"/>
              </a:ext>
            </a:extLst>
          </p:cNvPr>
          <p:cNvCxnSpPr>
            <a:cxnSpLocks/>
          </p:cNvCxnSpPr>
          <p:nvPr userDrawn="1"/>
        </p:nvCxnSpPr>
        <p:spPr>
          <a:xfrm>
            <a:off x="724574" y="723899"/>
            <a:ext cx="1101022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88171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alto de sección 2">
    <p:spTree>
      <p:nvGrpSpPr>
        <p:cNvPr id="1" name=""/>
        <p:cNvGrpSpPr/>
        <p:nvPr/>
      </p:nvGrpSpPr>
      <p:grpSpPr>
        <a:xfrm>
          <a:off x="0" y="0"/>
          <a:ext cx="0" cy="0"/>
          <a:chOff x="0" y="0"/>
          <a:chExt cx="0" cy="0"/>
        </a:xfrm>
      </p:grpSpPr>
      <p:sp>
        <p:nvSpPr>
          <p:cNvPr id="20" name="Título 10">
            <a:extLst>
              <a:ext uri="{FF2B5EF4-FFF2-40B4-BE49-F238E27FC236}">
                <a16:creationId xmlns:a16="http://schemas.microsoft.com/office/drawing/2014/main" id="{6DC3399C-8B0E-4D7D-A955-FB1F37CF3672}"/>
              </a:ext>
            </a:extLst>
          </p:cNvPr>
          <p:cNvSpPr>
            <a:spLocks noGrp="1"/>
          </p:cNvSpPr>
          <p:nvPr>
            <p:ph type="ctrTitle" hasCustomPrompt="1"/>
          </p:nvPr>
        </p:nvSpPr>
        <p:spPr>
          <a:xfrm>
            <a:off x="719146" y="983901"/>
            <a:ext cx="5724786" cy="1198580"/>
          </a:xfrm>
          <a:prstGeom prst="rect">
            <a:avLst/>
          </a:prstGeom>
        </p:spPr>
        <p:txBody>
          <a:bodyPr rtlCol="0" anchor="t">
            <a:normAutofit/>
          </a:bodyPr>
          <a:lstStyle>
            <a:lvl1pPr>
              <a:defRPr lang="es-ES" sz="3200"/>
            </a:lvl1pPr>
          </a:lstStyle>
          <a:p>
            <a:pPr rtl="0"/>
            <a:r>
              <a:rPr lang="es-ES"/>
              <a:t>Haga clic para agregar un título</a:t>
            </a:r>
          </a:p>
        </p:txBody>
      </p:sp>
      <p:sp>
        <p:nvSpPr>
          <p:cNvPr id="7" name="Marcador de contenido 6">
            <a:extLst>
              <a:ext uri="{FF2B5EF4-FFF2-40B4-BE49-F238E27FC236}">
                <a16:creationId xmlns:a16="http://schemas.microsoft.com/office/drawing/2014/main" id="{63C6D5E5-DE84-EC37-75DB-50DB75B5CD48}"/>
              </a:ext>
            </a:extLst>
          </p:cNvPr>
          <p:cNvSpPr>
            <a:spLocks noGrp="1"/>
          </p:cNvSpPr>
          <p:nvPr>
            <p:ph sz="quarter" idx="14" hasCustomPrompt="1"/>
          </p:nvPr>
        </p:nvSpPr>
        <p:spPr>
          <a:xfrm>
            <a:off x="710520" y="2244725"/>
            <a:ext cx="5724786" cy="3795683"/>
          </a:xfrm>
        </p:spPr>
        <p:txBody>
          <a:bodyPr rtlCol="0"/>
          <a:lstStyle>
            <a:lvl1pPr>
              <a:spcBef>
                <a:spcPts val="0"/>
              </a:spcBef>
              <a:spcAft>
                <a:spcPts val="1200"/>
              </a:spcAft>
              <a:defRPr lang="es-ES"/>
            </a:lvl1pPr>
            <a:lvl2pPr>
              <a:spcBef>
                <a:spcPts val="0"/>
              </a:spcBef>
              <a:spcAft>
                <a:spcPts val="1200"/>
              </a:spcAft>
              <a:defRPr lang="es-ES"/>
            </a:lvl2pPr>
            <a:lvl3pPr>
              <a:spcBef>
                <a:spcPts val="0"/>
              </a:spcBef>
              <a:spcAft>
                <a:spcPts val="1200"/>
              </a:spcAft>
              <a:defRPr lang="es-ES"/>
            </a:lvl3pPr>
            <a:lvl4pPr>
              <a:spcBef>
                <a:spcPts val="0"/>
              </a:spcBef>
              <a:spcAft>
                <a:spcPts val="1200"/>
              </a:spcAft>
              <a:defRPr lang="es-ES"/>
            </a:lvl4pPr>
            <a:lvl5pPr>
              <a:spcBef>
                <a:spcPts val="0"/>
              </a:spcBef>
              <a:spcAft>
                <a:spcPts val="1200"/>
              </a:spcAft>
              <a:defRPr lang="es-ES"/>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30" name="Marcador de posición de imagen 28">
            <a:extLst>
              <a:ext uri="{FF2B5EF4-FFF2-40B4-BE49-F238E27FC236}">
                <a16:creationId xmlns:a16="http://schemas.microsoft.com/office/drawing/2014/main" id="{E335E712-C7FD-4BAC-B89C-58AF6594A4E7}"/>
              </a:ext>
            </a:extLst>
          </p:cNvPr>
          <p:cNvSpPr>
            <a:spLocks noGrp="1"/>
          </p:cNvSpPr>
          <p:nvPr>
            <p:ph type="pic" sz="quarter" idx="13"/>
          </p:nvPr>
        </p:nvSpPr>
        <p:spPr>
          <a:xfrm>
            <a:off x="7315200" y="723899"/>
            <a:ext cx="4876800" cy="5316510"/>
          </a:xfrm>
          <a:prstGeom prst="rect">
            <a:avLst/>
          </a:prstGeom>
        </p:spPr>
        <p:txBody>
          <a:bodyPr rtlCol="0">
            <a:normAutofit/>
          </a:bodyPr>
          <a:lstStyle>
            <a:lvl1pPr marL="0" indent="0" algn="ctr">
              <a:buNone/>
              <a:defRPr lang="es-ES" sz="1800"/>
            </a:lvl1pPr>
          </a:lstStyle>
          <a:p>
            <a:pPr rtl="0"/>
            <a:r>
              <a:rPr lang="es-ES"/>
              <a:t>Haga clic en el icono para agregar una imagen</a:t>
            </a:r>
          </a:p>
        </p:txBody>
      </p:sp>
      <p:cxnSp>
        <p:nvCxnSpPr>
          <p:cNvPr id="3" name="Conector recto 2">
            <a:extLst>
              <a:ext uri="{FF2B5EF4-FFF2-40B4-BE49-F238E27FC236}">
                <a16:creationId xmlns:a16="http://schemas.microsoft.com/office/drawing/2014/main" id="{A541CC69-A0B0-C1BE-2165-D8AD1B7D2DDA}"/>
              </a:ext>
              <a:ext uri="{C183D7F6-B498-43B3-948B-1728B52AA6E4}">
                <adec:decorative xmlns:adec="http://schemas.microsoft.com/office/drawing/2017/decorative" val="1"/>
              </a:ext>
            </a:extLst>
          </p:cNvPr>
          <p:cNvCxnSpPr>
            <a:cxnSpLocks/>
          </p:cNvCxnSpPr>
          <p:nvPr userDrawn="1"/>
        </p:nvCxnSpPr>
        <p:spPr>
          <a:xfrm>
            <a:off x="724574" y="723899"/>
            <a:ext cx="57867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Marcador de número de diapositiva 5">
            <a:extLst>
              <a:ext uri="{FF2B5EF4-FFF2-40B4-BE49-F238E27FC236}">
                <a16:creationId xmlns:a16="http://schemas.microsoft.com/office/drawing/2014/main" id="{9147C2FA-8BD9-36BF-787A-3B3C4847BF5F}"/>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lang="es-ES" sz="1400">
                <a:solidFill>
                  <a:schemeClr val="tx1"/>
                </a:solidFill>
              </a:defRPr>
            </a:lvl1pPr>
          </a:lstStyle>
          <a:p>
            <a:pPr rtl="0"/>
            <a:fld id="{C3DB2ADC-AF19-4574-8C10-79B5B04FCA27}" type="slidenum">
              <a:rPr lang="es-ES" smtClean="0"/>
              <a:pPr rtl="0"/>
              <a:t>‹Nº›</a:t>
            </a:fld>
            <a:endParaRPr lang="es-ES" dirty="0"/>
          </a:p>
        </p:txBody>
      </p:sp>
    </p:spTree>
    <p:extLst>
      <p:ext uri="{BB962C8B-B14F-4D97-AF65-F5344CB8AC3E}">
        <p14:creationId xmlns:p14="http://schemas.microsoft.com/office/powerpoint/2010/main" val="2819531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ítulo, contenido y tabla">
    <p:spTree>
      <p:nvGrpSpPr>
        <p:cNvPr id="1" name=""/>
        <p:cNvGrpSpPr/>
        <p:nvPr/>
      </p:nvGrpSpPr>
      <p:grpSpPr>
        <a:xfrm>
          <a:off x="0" y="0"/>
          <a:ext cx="0" cy="0"/>
          <a:chOff x="0" y="0"/>
          <a:chExt cx="0" cy="0"/>
        </a:xfrm>
      </p:grpSpPr>
      <p:sp>
        <p:nvSpPr>
          <p:cNvPr id="20" name="Título 10">
            <a:extLst>
              <a:ext uri="{FF2B5EF4-FFF2-40B4-BE49-F238E27FC236}">
                <a16:creationId xmlns:a16="http://schemas.microsoft.com/office/drawing/2014/main" id="{6DC3399C-8B0E-4D7D-A955-FB1F37CF3672}"/>
              </a:ext>
            </a:extLst>
          </p:cNvPr>
          <p:cNvSpPr>
            <a:spLocks noGrp="1"/>
          </p:cNvSpPr>
          <p:nvPr>
            <p:ph type="ctrTitle" hasCustomPrompt="1"/>
          </p:nvPr>
        </p:nvSpPr>
        <p:spPr>
          <a:xfrm>
            <a:off x="734591" y="992528"/>
            <a:ext cx="10722817" cy="1188227"/>
          </a:xfrm>
          <a:prstGeom prst="rect">
            <a:avLst/>
          </a:prstGeom>
        </p:spPr>
        <p:txBody>
          <a:bodyPr rtlCol="0" anchor="t">
            <a:normAutofit/>
          </a:bodyPr>
          <a:lstStyle>
            <a:lvl1pPr>
              <a:defRPr lang="es-ES" sz="3200"/>
            </a:lvl1pPr>
          </a:lstStyle>
          <a:p>
            <a:pPr rtl="0"/>
            <a:r>
              <a:rPr lang="es-ES"/>
              <a:t>Haga clic para agregar un título</a:t>
            </a:r>
          </a:p>
        </p:txBody>
      </p:sp>
      <p:sp>
        <p:nvSpPr>
          <p:cNvPr id="7" name="Marcador de contenido 6">
            <a:extLst>
              <a:ext uri="{FF2B5EF4-FFF2-40B4-BE49-F238E27FC236}">
                <a16:creationId xmlns:a16="http://schemas.microsoft.com/office/drawing/2014/main" id="{63C6D5E5-DE84-EC37-75DB-50DB75B5CD48}"/>
              </a:ext>
            </a:extLst>
          </p:cNvPr>
          <p:cNvSpPr>
            <a:spLocks noGrp="1"/>
          </p:cNvSpPr>
          <p:nvPr>
            <p:ph sz="quarter" idx="14" hasCustomPrompt="1"/>
          </p:nvPr>
        </p:nvSpPr>
        <p:spPr>
          <a:xfrm>
            <a:off x="743216" y="2244725"/>
            <a:ext cx="3277639" cy="3903663"/>
          </a:xfrm>
        </p:spPr>
        <p:txBody>
          <a:bodyPr rtlCol="0"/>
          <a:lstStyle>
            <a:lvl1pPr>
              <a:spcBef>
                <a:spcPts val="0"/>
              </a:spcBef>
              <a:spcAft>
                <a:spcPts val="1200"/>
              </a:spcAft>
              <a:defRPr lang="es-ES"/>
            </a:lvl1pPr>
            <a:lvl2pPr>
              <a:spcBef>
                <a:spcPts val="0"/>
              </a:spcBef>
              <a:spcAft>
                <a:spcPts val="1200"/>
              </a:spcAft>
              <a:defRPr lang="es-ES"/>
            </a:lvl2pPr>
            <a:lvl3pPr>
              <a:spcBef>
                <a:spcPts val="0"/>
              </a:spcBef>
              <a:spcAft>
                <a:spcPts val="1200"/>
              </a:spcAft>
              <a:defRPr lang="es-ES"/>
            </a:lvl3pPr>
            <a:lvl4pPr>
              <a:spcBef>
                <a:spcPts val="0"/>
              </a:spcBef>
              <a:spcAft>
                <a:spcPts val="1200"/>
              </a:spcAft>
              <a:defRPr lang="es-ES"/>
            </a:lvl4pPr>
            <a:lvl5pPr>
              <a:spcBef>
                <a:spcPts val="0"/>
              </a:spcBef>
              <a:spcAft>
                <a:spcPts val="1200"/>
              </a:spcAft>
              <a:defRPr lang="es-ES"/>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6" name="Marcador de posición de tabla 5">
            <a:extLst>
              <a:ext uri="{FF2B5EF4-FFF2-40B4-BE49-F238E27FC236}">
                <a16:creationId xmlns:a16="http://schemas.microsoft.com/office/drawing/2014/main" id="{C6DB8F81-B3A9-1D53-A844-F980B4ED20C9}"/>
              </a:ext>
            </a:extLst>
          </p:cNvPr>
          <p:cNvSpPr>
            <a:spLocks noGrp="1"/>
          </p:cNvSpPr>
          <p:nvPr>
            <p:ph type="tbl" sz="quarter" idx="15" hasCustomPrompt="1"/>
          </p:nvPr>
        </p:nvSpPr>
        <p:spPr>
          <a:xfrm>
            <a:off x="4406900" y="2244725"/>
            <a:ext cx="7061200" cy="3903663"/>
          </a:xfrm>
        </p:spPr>
        <p:txBody>
          <a:bodyPr rtlCol="0"/>
          <a:lstStyle>
            <a:lvl1pPr>
              <a:defRPr lang="es-ES"/>
            </a:lvl1pPr>
          </a:lstStyle>
          <a:p>
            <a:pPr rtl="0"/>
            <a:r>
              <a:rPr lang="es-ES"/>
              <a:t>Haga clic en el icono para insertar una tabla</a:t>
            </a:r>
          </a:p>
        </p:txBody>
      </p:sp>
      <p:sp>
        <p:nvSpPr>
          <p:cNvPr id="8" name="Marcador de número de diapositiva 5">
            <a:extLst>
              <a:ext uri="{FF2B5EF4-FFF2-40B4-BE49-F238E27FC236}">
                <a16:creationId xmlns:a16="http://schemas.microsoft.com/office/drawing/2014/main" id="{9147C2FA-8BD9-36BF-787A-3B3C4847BF5F}"/>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lang="es-ES" sz="1400">
                <a:solidFill>
                  <a:schemeClr val="tx1"/>
                </a:solidFill>
              </a:defRPr>
            </a:lvl1pPr>
          </a:lstStyle>
          <a:p>
            <a:pPr rtl="0"/>
            <a:fld id="{C3DB2ADC-AF19-4574-8C10-79B5B04FCA27}" type="slidenum">
              <a:rPr lang="es-ES" smtClean="0"/>
              <a:pPr rtl="0"/>
              <a:t>‹Nº›</a:t>
            </a:fld>
            <a:endParaRPr lang="es-ES" dirty="0"/>
          </a:p>
        </p:txBody>
      </p:sp>
      <p:cxnSp>
        <p:nvCxnSpPr>
          <p:cNvPr id="9" name="Conector recto 8">
            <a:extLst>
              <a:ext uri="{FF2B5EF4-FFF2-40B4-BE49-F238E27FC236}">
                <a16:creationId xmlns:a16="http://schemas.microsoft.com/office/drawing/2014/main" id="{133A6849-B613-7080-903C-A7A211B7C596}"/>
              </a:ext>
              <a:ext uri="{C183D7F6-B498-43B3-948B-1728B52AA6E4}">
                <adec:decorative xmlns:adec="http://schemas.microsoft.com/office/drawing/2017/decorative" val="1"/>
              </a:ext>
            </a:extLst>
          </p:cNvPr>
          <p:cNvCxnSpPr>
            <a:cxnSpLocks/>
          </p:cNvCxnSpPr>
          <p:nvPr userDrawn="1"/>
        </p:nvCxnSpPr>
        <p:spPr>
          <a:xfrm>
            <a:off x="724574" y="723899"/>
            <a:ext cx="1076149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01178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y dos contenido 3">
    <p:spTree>
      <p:nvGrpSpPr>
        <p:cNvPr id="1" name=""/>
        <p:cNvGrpSpPr/>
        <p:nvPr/>
      </p:nvGrpSpPr>
      <p:grpSpPr>
        <a:xfrm>
          <a:off x="0" y="0"/>
          <a:ext cx="0" cy="0"/>
          <a:chOff x="0" y="0"/>
          <a:chExt cx="0" cy="0"/>
        </a:xfrm>
      </p:grpSpPr>
      <p:sp>
        <p:nvSpPr>
          <p:cNvPr id="8" name="Título 9">
            <a:extLst>
              <a:ext uri="{FF2B5EF4-FFF2-40B4-BE49-F238E27FC236}">
                <a16:creationId xmlns:a16="http://schemas.microsoft.com/office/drawing/2014/main" id="{4246B94A-8C64-4FBA-B409-1F9487E19CF3}"/>
              </a:ext>
            </a:extLst>
          </p:cNvPr>
          <p:cNvSpPr>
            <a:spLocks noGrp="1"/>
          </p:cNvSpPr>
          <p:nvPr>
            <p:ph type="title" hasCustomPrompt="1"/>
          </p:nvPr>
        </p:nvSpPr>
        <p:spPr>
          <a:xfrm>
            <a:off x="700087" y="985626"/>
            <a:ext cx="10703197" cy="1170978"/>
          </a:xfrm>
          <a:prstGeom prst="rect">
            <a:avLst/>
          </a:prstGeom>
        </p:spPr>
        <p:txBody>
          <a:bodyPr rtlCol="0" anchor="t">
            <a:normAutofit/>
          </a:bodyPr>
          <a:lstStyle>
            <a:lvl1pPr>
              <a:defRPr lang="es-ES" sz="3200"/>
            </a:lvl1pPr>
          </a:lstStyle>
          <a:p>
            <a:pPr rtl="0"/>
            <a:r>
              <a:rPr lang="es-ES"/>
              <a:t>Haga clic para agregar un título</a:t>
            </a:r>
          </a:p>
        </p:txBody>
      </p:sp>
      <p:sp>
        <p:nvSpPr>
          <p:cNvPr id="3" name="Marcador de contenido 4">
            <a:extLst>
              <a:ext uri="{FF2B5EF4-FFF2-40B4-BE49-F238E27FC236}">
                <a16:creationId xmlns:a16="http://schemas.microsoft.com/office/drawing/2014/main" id="{A4F2998B-5567-1A45-7720-4998CC19EF0D}"/>
              </a:ext>
            </a:extLst>
          </p:cNvPr>
          <p:cNvSpPr>
            <a:spLocks noGrp="1"/>
          </p:cNvSpPr>
          <p:nvPr>
            <p:ph sz="quarter" idx="11" hasCustomPrompt="1"/>
          </p:nvPr>
        </p:nvSpPr>
        <p:spPr>
          <a:xfrm>
            <a:off x="700087" y="2244725"/>
            <a:ext cx="7060200" cy="3912896"/>
          </a:xfrm>
        </p:spPr>
        <p:txBody>
          <a:bodyPr rtlCol="0">
            <a:normAutofit/>
          </a:bodyPr>
          <a:lstStyle>
            <a:lvl1pPr>
              <a:spcBef>
                <a:spcPts val="0"/>
              </a:spcBef>
              <a:spcAft>
                <a:spcPts val="1200"/>
              </a:spcAft>
              <a:defRPr lang="es-ES" sz="2000"/>
            </a:lvl1pPr>
            <a:lvl2pPr>
              <a:spcBef>
                <a:spcPts val="0"/>
              </a:spcBef>
              <a:spcAft>
                <a:spcPts val="1200"/>
              </a:spcAft>
              <a:defRPr lang="es-ES" sz="1800"/>
            </a:lvl2pPr>
            <a:lvl3pPr>
              <a:spcBef>
                <a:spcPts val="0"/>
              </a:spcBef>
              <a:spcAft>
                <a:spcPts val="1200"/>
              </a:spcAft>
              <a:defRPr lang="es-ES" sz="1600"/>
            </a:lvl3pPr>
            <a:lvl4pPr>
              <a:spcBef>
                <a:spcPts val="0"/>
              </a:spcBef>
              <a:spcAft>
                <a:spcPts val="1200"/>
              </a:spcAft>
              <a:defRPr lang="es-ES" sz="1400"/>
            </a:lvl4pPr>
            <a:lvl5pPr>
              <a:spcBef>
                <a:spcPts val="0"/>
              </a:spcBef>
              <a:spcAft>
                <a:spcPts val="1200"/>
              </a:spcAft>
              <a:defRPr lang="es-ES" sz="1400"/>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5" name="Marcador de contenido 4">
            <a:extLst>
              <a:ext uri="{FF2B5EF4-FFF2-40B4-BE49-F238E27FC236}">
                <a16:creationId xmlns:a16="http://schemas.microsoft.com/office/drawing/2014/main" id="{02736CFB-FEC9-D3FB-01C8-D0AF64ED3AE0}"/>
              </a:ext>
            </a:extLst>
          </p:cNvPr>
          <p:cNvSpPr>
            <a:spLocks noGrp="1"/>
          </p:cNvSpPr>
          <p:nvPr>
            <p:ph sz="quarter" idx="10" hasCustomPrompt="1"/>
          </p:nvPr>
        </p:nvSpPr>
        <p:spPr>
          <a:xfrm>
            <a:off x="8445209" y="2244725"/>
            <a:ext cx="2958075" cy="3904268"/>
          </a:xfrm>
        </p:spPr>
        <p:txBody>
          <a:bodyPr rtlCol="0">
            <a:normAutofit/>
          </a:bodyPr>
          <a:lstStyle>
            <a:lvl1pPr>
              <a:spcBef>
                <a:spcPts val="0"/>
              </a:spcBef>
              <a:spcAft>
                <a:spcPts val="1200"/>
              </a:spcAft>
              <a:defRPr lang="es-ES" sz="2000" b="1"/>
            </a:lvl1pPr>
            <a:lvl2pPr>
              <a:spcBef>
                <a:spcPts val="0"/>
              </a:spcBef>
              <a:spcAft>
                <a:spcPts val="1200"/>
              </a:spcAft>
              <a:defRPr lang="es-ES" sz="1800" b="1"/>
            </a:lvl2pPr>
            <a:lvl3pPr>
              <a:spcBef>
                <a:spcPts val="0"/>
              </a:spcBef>
              <a:spcAft>
                <a:spcPts val="1200"/>
              </a:spcAft>
              <a:defRPr lang="es-ES" sz="1600" b="1"/>
            </a:lvl3pPr>
            <a:lvl4pPr>
              <a:spcBef>
                <a:spcPts val="0"/>
              </a:spcBef>
              <a:spcAft>
                <a:spcPts val="1200"/>
              </a:spcAft>
              <a:defRPr lang="es-ES" sz="1400" b="1"/>
            </a:lvl4pPr>
            <a:lvl5pPr>
              <a:spcBef>
                <a:spcPts val="0"/>
              </a:spcBef>
              <a:spcAft>
                <a:spcPts val="1200"/>
              </a:spcAft>
              <a:defRPr lang="es-ES" sz="1400" b="1"/>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
        <p:nvSpPr>
          <p:cNvPr id="2" name="Marcador de número de diapositiva 5">
            <a:extLst>
              <a:ext uri="{FF2B5EF4-FFF2-40B4-BE49-F238E27FC236}">
                <a16:creationId xmlns:a16="http://schemas.microsoft.com/office/drawing/2014/main" id="{457EDA23-301F-47EE-3683-0B3206D8F539}"/>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lang="es-ES" sz="1400">
                <a:solidFill>
                  <a:schemeClr val="tx1"/>
                </a:solidFill>
              </a:defRPr>
            </a:lvl1pPr>
          </a:lstStyle>
          <a:p>
            <a:pPr rtl="0"/>
            <a:fld id="{C3DB2ADC-AF19-4574-8C10-79B5B04FCA27}" type="slidenum">
              <a:rPr lang="es-ES" smtClean="0"/>
              <a:pPr rtl="0"/>
              <a:t>‹Nº›</a:t>
            </a:fld>
            <a:endParaRPr lang="es-ES" dirty="0"/>
          </a:p>
        </p:txBody>
      </p:sp>
      <p:cxnSp>
        <p:nvCxnSpPr>
          <p:cNvPr id="4" name="Conector recto 3">
            <a:extLst>
              <a:ext uri="{FF2B5EF4-FFF2-40B4-BE49-F238E27FC236}">
                <a16:creationId xmlns:a16="http://schemas.microsoft.com/office/drawing/2014/main" id="{2E205FD8-58A9-6B91-010A-1870572FDC78}"/>
              </a:ext>
              <a:ext uri="{C183D7F6-B498-43B3-948B-1728B52AA6E4}">
                <adec:decorative xmlns:adec="http://schemas.microsoft.com/office/drawing/2017/decorative" val="1"/>
              </a:ext>
            </a:extLst>
          </p:cNvPr>
          <p:cNvCxnSpPr>
            <a:cxnSpLocks/>
          </p:cNvCxnSpPr>
          <p:nvPr userDrawn="1"/>
        </p:nvCxnSpPr>
        <p:spPr>
          <a:xfrm>
            <a:off x="724574" y="723899"/>
            <a:ext cx="1076149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17356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ítulo y tabla">
    <p:spTree>
      <p:nvGrpSpPr>
        <p:cNvPr id="1" name=""/>
        <p:cNvGrpSpPr/>
        <p:nvPr/>
      </p:nvGrpSpPr>
      <p:grpSpPr>
        <a:xfrm>
          <a:off x="0" y="0"/>
          <a:ext cx="0" cy="0"/>
          <a:chOff x="0" y="0"/>
          <a:chExt cx="0" cy="0"/>
        </a:xfrm>
      </p:grpSpPr>
      <p:sp>
        <p:nvSpPr>
          <p:cNvPr id="20" name="Título 10">
            <a:extLst>
              <a:ext uri="{FF2B5EF4-FFF2-40B4-BE49-F238E27FC236}">
                <a16:creationId xmlns:a16="http://schemas.microsoft.com/office/drawing/2014/main" id="{6DC3399C-8B0E-4D7D-A955-FB1F37CF3672}"/>
              </a:ext>
            </a:extLst>
          </p:cNvPr>
          <p:cNvSpPr>
            <a:spLocks noGrp="1"/>
          </p:cNvSpPr>
          <p:nvPr>
            <p:ph type="ctrTitle" hasCustomPrompt="1"/>
          </p:nvPr>
        </p:nvSpPr>
        <p:spPr>
          <a:xfrm>
            <a:off x="723860" y="983902"/>
            <a:ext cx="10787370" cy="1051927"/>
          </a:xfrm>
          <a:prstGeom prst="rect">
            <a:avLst/>
          </a:prstGeom>
        </p:spPr>
        <p:txBody>
          <a:bodyPr rtlCol="0" anchor="t">
            <a:normAutofit/>
          </a:bodyPr>
          <a:lstStyle>
            <a:lvl1pPr>
              <a:defRPr lang="es-ES" sz="3200"/>
            </a:lvl1pPr>
          </a:lstStyle>
          <a:p>
            <a:pPr rtl="0"/>
            <a:r>
              <a:rPr lang="es-ES"/>
              <a:t>Haga clic para agregar un título</a:t>
            </a:r>
          </a:p>
        </p:txBody>
      </p:sp>
      <p:sp>
        <p:nvSpPr>
          <p:cNvPr id="6" name="Marcador de posición de tabla 5">
            <a:extLst>
              <a:ext uri="{FF2B5EF4-FFF2-40B4-BE49-F238E27FC236}">
                <a16:creationId xmlns:a16="http://schemas.microsoft.com/office/drawing/2014/main" id="{C6DB8F81-B3A9-1D53-A844-F980B4ED20C9}"/>
              </a:ext>
            </a:extLst>
          </p:cNvPr>
          <p:cNvSpPr>
            <a:spLocks noGrp="1"/>
          </p:cNvSpPr>
          <p:nvPr>
            <p:ph type="tbl" sz="quarter" idx="15" hasCustomPrompt="1"/>
          </p:nvPr>
        </p:nvSpPr>
        <p:spPr>
          <a:xfrm>
            <a:off x="706608" y="2244725"/>
            <a:ext cx="10761492" cy="3903663"/>
          </a:xfrm>
        </p:spPr>
        <p:txBody>
          <a:bodyPr rtlCol="0"/>
          <a:lstStyle>
            <a:lvl1pPr>
              <a:defRPr lang="es-ES"/>
            </a:lvl1pPr>
          </a:lstStyle>
          <a:p>
            <a:pPr rtl="0"/>
            <a:r>
              <a:rPr lang="es-ES"/>
              <a:t>Haga clic en el icono para insertar una tabla</a:t>
            </a:r>
          </a:p>
        </p:txBody>
      </p:sp>
      <p:sp>
        <p:nvSpPr>
          <p:cNvPr id="8" name="Marcador de número de diapositiva 5">
            <a:extLst>
              <a:ext uri="{FF2B5EF4-FFF2-40B4-BE49-F238E27FC236}">
                <a16:creationId xmlns:a16="http://schemas.microsoft.com/office/drawing/2014/main" id="{9147C2FA-8BD9-36BF-787A-3B3C4847BF5F}"/>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lang="es-ES" sz="1400">
                <a:solidFill>
                  <a:schemeClr val="tx1"/>
                </a:solidFill>
              </a:defRPr>
            </a:lvl1pPr>
          </a:lstStyle>
          <a:p>
            <a:pPr rtl="0"/>
            <a:fld id="{C3DB2ADC-AF19-4574-8C10-79B5B04FCA27}" type="slidenum">
              <a:rPr lang="es-ES" smtClean="0"/>
              <a:pPr rtl="0"/>
              <a:t>‹Nº›</a:t>
            </a:fld>
            <a:endParaRPr lang="es-ES" dirty="0"/>
          </a:p>
        </p:txBody>
      </p:sp>
      <p:cxnSp>
        <p:nvCxnSpPr>
          <p:cNvPr id="9" name="Conector recto 8">
            <a:extLst>
              <a:ext uri="{FF2B5EF4-FFF2-40B4-BE49-F238E27FC236}">
                <a16:creationId xmlns:a16="http://schemas.microsoft.com/office/drawing/2014/main" id="{133A6849-B613-7080-903C-A7A211B7C596}"/>
              </a:ext>
              <a:ext uri="{C183D7F6-B498-43B3-948B-1728B52AA6E4}">
                <adec:decorative xmlns:adec="http://schemas.microsoft.com/office/drawing/2017/decorative" val="1"/>
              </a:ext>
            </a:extLst>
          </p:cNvPr>
          <p:cNvCxnSpPr>
            <a:cxnSpLocks/>
          </p:cNvCxnSpPr>
          <p:nvPr userDrawn="1"/>
        </p:nvCxnSpPr>
        <p:spPr>
          <a:xfrm>
            <a:off x="724574" y="723899"/>
            <a:ext cx="10761492"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87781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erre 2">
    <p:bg>
      <p:bgRef idx="1001">
        <a:schemeClr val="bg1"/>
      </p:bgRef>
    </p:bg>
    <p:spTree>
      <p:nvGrpSpPr>
        <p:cNvPr id="1" name=""/>
        <p:cNvGrpSpPr/>
        <p:nvPr/>
      </p:nvGrpSpPr>
      <p:grpSpPr>
        <a:xfrm>
          <a:off x="0" y="0"/>
          <a:ext cx="0" cy="0"/>
          <a:chOff x="0" y="0"/>
          <a:chExt cx="0" cy="0"/>
        </a:xfrm>
      </p:grpSpPr>
      <p:sp>
        <p:nvSpPr>
          <p:cNvPr id="7" name="Título 6">
            <a:extLst>
              <a:ext uri="{FF2B5EF4-FFF2-40B4-BE49-F238E27FC236}">
                <a16:creationId xmlns:a16="http://schemas.microsoft.com/office/drawing/2014/main" id="{89AE8321-5884-9E75-1272-926961F3131D}"/>
              </a:ext>
            </a:extLst>
          </p:cNvPr>
          <p:cNvSpPr>
            <a:spLocks noGrp="1"/>
          </p:cNvSpPr>
          <p:nvPr>
            <p:ph type="title" hasCustomPrompt="1"/>
          </p:nvPr>
        </p:nvSpPr>
        <p:spPr>
          <a:xfrm>
            <a:off x="763439" y="684311"/>
            <a:ext cx="4058728" cy="2749009"/>
          </a:xfrm>
        </p:spPr>
        <p:txBody>
          <a:bodyPr rtlCol="0" anchor="b">
            <a:normAutofit/>
          </a:bodyPr>
          <a:lstStyle>
            <a:lvl1pPr algn="l">
              <a:defRPr lang="es-ES" sz="3200"/>
            </a:lvl1pPr>
          </a:lstStyle>
          <a:p>
            <a:pPr rtl="0"/>
            <a:r>
              <a:rPr lang="es-ES"/>
              <a:t>Haga clic para agregar un título</a:t>
            </a:r>
          </a:p>
        </p:txBody>
      </p:sp>
      <p:cxnSp>
        <p:nvCxnSpPr>
          <p:cNvPr id="5" name="Conector recto 4">
            <a:extLst>
              <a:ext uri="{FF2B5EF4-FFF2-40B4-BE49-F238E27FC236}">
                <a16:creationId xmlns:a16="http://schemas.microsoft.com/office/drawing/2014/main" id="{9D527B4D-405A-DCD2-6970-1162843E00DD}"/>
              </a:ext>
              <a:ext uri="{C183D7F6-B498-43B3-948B-1728B52AA6E4}">
                <adec:decorative xmlns:adec="http://schemas.microsoft.com/office/drawing/2017/decorative" val="1"/>
              </a:ext>
            </a:extLst>
          </p:cNvPr>
          <p:cNvCxnSpPr>
            <a:cxnSpLocks/>
          </p:cNvCxnSpPr>
          <p:nvPr userDrawn="1"/>
        </p:nvCxnSpPr>
        <p:spPr>
          <a:xfrm>
            <a:off x="814484" y="721031"/>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FB621246-77E4-43F0-CD40-C7DB9555D266}"/>
              </a:ext>
              <a:ext uri="{C183D7F6-B498-43B3-948B-1728B52AA6E4}">
                <adec:decorative xmlns:adec="http://schemas.microsoft.com/office/drawing/2017/decorative" val="1"/>
              </a:ext>
            </a:extLst>
          </p:cNvPr>
          <p:cNvCxnSpPr>
            <a:cxnSpLocks/>
          </p:cNvCxnSpPr>
          <p:nvPr userDrawn="1"/>
        </p:nvCxnSpPr>
        <p:spPr>
          <a:xfrm>
            <a:off x="5713726" y="6134059"/>
            <a:ext cx="57867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Marcador de contenido 12">
            <a:extLst>
              <a:ext uri="{FF2B5EF4-FFF2-40B4-BE49-F238E27FC236}">
                <a16:creationId xmlns:a16="http://schemas.microsoft.com/office/drawing/2014/main" id="{5EB8AC8C-DEDA-D180-1CD8-B67B47276E34}"/>
              </a:ext>
            </a:extLst>
          </p:cNvPr>
          <p:cNvSpPr>
            <a:spLocks noGrp="1"/>
          </p:cNvSpPr>
          <p:nvPr>
            <p:ph sz="quarter" idx="11" hasCustomPrompt="1"/>
          </p:nvPr>
        </p:nvSpPr>
        <p:spPr>
          <a:xfrm>
            <a:off x="757600" y="3662835"/>
            <a:ext cx="4064567" cy="2468396"/>
          </a:xfrm>
        </p:spPr>
        <p:txBody>
          <a:bodyPr rtlCol="0"/>
          <a:lstStyle>
            <a:lvl1pPr marL="0" indent="0">
              <a:spcBef>
                <a:spcPts val="0"/>
              </a:spcBef>
              <a:buNone/>
              <a:defRPr lang="es-ES"/>
            </a:lvl1pPr>
            <a:lvl2pPr marL="457200" indent="0">
              <a:spcBef>
                <a:spcPts val="0"/>
              </a:spcBef>
              <a:buNone/>
              <a:defRPr lang="es-ES"/>
            </a:lvl2pPr>
            <a:lvl3pPr marL="914400" indent="0">
              <a:spcBef>
                <a:spcPts val="0"/>
              </a:spcBef>
              <a:buNone/>
              <a:defRPr lang="es-ES"/>
            </a:lvl3pPr>
            <a:lvl4pPr marL="1371600" indent="0">
              <a:spcBef>
                <a:spcPts val="0"/>
              </a:spcBef>
              <a:buNone/>
              <a:defRPr lang="es-ES"/>
            </a:lvl4pPr>
            <a:lvl5pPr marL="1828800" indent="0">
              <a:spcBef>
                <a:spcPts val="0"/>
              </a:spcBef>
              <a:buNone/>
              <a:defRPr lang="es-ES"/>
            </a:lvl5pPr>
          </a:lstStyle>
          <a:p>
            <a:pPr lvl="0" rtl="0"/>
            <a:r>
              <a:rPr lang="es-ES"/>
              <a:t>Haga clic para agregar contenido</a:t>
            </a:r>
          </a:p>
          <a:p>
            <a:pPr lvl="1" rtl="0"/>
            <a:r>
              <a:rPr lang="es-ES"/>
              <a:t>Segundo nivel</a:t>
            </a:r>
          </a:p>
          <a:p>
            <a:pPr lvl="2" rtl="0"/>
            <a:r>
              <a:rPr lang="es-ES"/>
              <a:t>Tercer nivel</a:t>
            </a:r>
          </a:p>
          <a:p>
            <a:pPr lvl="3" rtl="0"/>
            <a:r>
              <a:rPr lang="es-ES"/>
              <a:t>Cuarto nivel</a:t>
            </a:r>
          </a:p>
          <a:p>
            <a:pPr lvl="4" rtl="0"/>
            <a:r>
              <a:rPr lang="es-ES"/>
              <a:t>Quinto nivel</a:t>
            </a:r>
          </a:p>
        </p:txBody>
      </p:sp>
    </p:spTree>
    <p:extLst>
      <p:ext uri="{BB962C8B-B14F-4D97-AF65-F5344CB8AC3E}">
        <p14:creationId xmlns:p14="http://schemas.microsoft.com/office/powerpoint/2010/main" val="149894395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92594" cy="365125"/>
          </a:xfrm>
          <a:prstGeom prst="rect">
            <a:avLst/>
          </a:prstGeom>
        </p:spPr>
        <p:txBody>
          <a:bodyPr vert="horz" lIns="91440" tIns="45720" rIns="91440" bIns="45720" rtlCol="0" anchor="ctr"/>
          <a:lstStyle>
            <a:lvl1pPr algn="r">
              <a:defRPr lang="es-ES" sz="1050">
                <a:solidFill>
                  <a:schemeClr val="tx1"/>
                </a:solidFill>
                <a:latin typeface="+mj-lt"/>
              </a:defRPr>
            </a:lvl1pPr>
          </a:lstStyle>
          <a:p>
            <a:pPr rtl="0"/>
            <a:endParaRPr lang="es-ES" dirty="0"/>
          </a:p>
        </p:txBody>
      </p:sp>
      <p:sp>
        <p:nvSpPr>
          <p:cNvPr id="5" name="Marcador de pie de página 4">
            <a:extLst>
              <a:ext uri="{FF2B5EF4-FFF2-40B4-BE49-F238E27FC236}">
                <a16:creationId xmlns:a16="http://schemas.microsoft.com/office/drawing/2014/main" id="{D19B6B78-577F-43F5-BAEE-BF72484C9850}"/>
              </a:ext>
            </a:extLst>
          </p:cNvPr>
          <p:cNvSpPr>
            <a:spLocks noGrp="1"/>
          </p:cNvSpPr>
          <p:nvPr>
            <p:ph type="ftr" sz="quarter" idx="3"/>
          </p:nvPr>
        </p:nvSpPr>
        <p:spPr>
          <a:xfrm>
            <a:off x="715383" y="6356350"/>
            <a:ext cx="4539727" cy="365125"/>
          </a:xfrm>
          <a:prstGeom prst="rect">
            <a:avLst/>
          </a:prstGeom>
        </p:spPr>
        <p:txBody>
          <a:bodyPr vert="horz" lIns="91440" tIns="45720" rIns="91440" bIns="45720" rtlCol="0" anchor="ctr"/>
          <a:lstStyle>
            <a:lvl1pPr algn="l">
              <a:defRPr lang="es-ES" sz="1050">
                <a:solidFill>
                  <a:schemeClr val="tx1"/>
                </a:solidFill>
                <a:latin typeface="+mj-lt"/>
              </a:defRPr>
            </a:lvl1pPr>
          </a:lstStyle>
          <a:p>
            <a:pPr rtl="0"/>
            <a:endParaRPr lang="es-ES" dirty="0"/>
          </a:p>
        </p:txBody>
      </p:sp>
      <p:sp>
        <p:nvSpPr>
          <p:cNvPr id="6" name="Marcador de número de diapositiva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lang="es-ES" sz="1400">
                <a:solidFill>
                  <a:schemeClr val="tx1"/>
                </a:solidFill>
              </a:defRPr>
            </a:lvl1pPr>
          </a:lstStyle>
          <a:p>
            <a:pPr rtl="0"/>
            <a:fld id="{C3DB2ADC-AF19-4574-8C10-79B5B04FCA27}" type="slidenum">
              <a:rPr lang="es-ES" smtClean="0"/>
              <a:pPr rtl="0"/>
              <a:t>‹Nº›</a:t>
            </a:fld>
            <a:endParaRPr lang="es-ES" dirty="0"/>
          </a:p>
        </p:txBody>
      </p:sp>
      <p:sp>
        <p:nvSpPr>
          <p:cNvPr id="2" name="Marcador de título 1">
            <a:extLst>
              <a:ext uri="{FF2B5EF4-FFF2-40B4-BE49-F238E27FC236}">
                <a16:creationId xmlns:a16="http://schemas.microsoft.com/office/drawing/2014/main" id="{02438FE7-776A-97AE-C1AE-5D67DD624A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defPPr>
              <a:defRPr lang="es-ES"/>
            </a:defPPr>
          </a:lstStyle>
          <a:p>
            <a:pPr rtl="0"/>
            <a:r>
              <a:rPr lang="es-ES"/>
              <a:t>Haga clic para modificar el estilo de título del patrón</a:t>
            </a:r>
          </a:p>
        </p:txBody>
      </p:sp>
      <p:sp>
        <p:nvSpPr>
          <p:cNvPr id="3" name="Marcador de texto 2">
            <a:extLst>
              <a:ext uri="{FF2B5EF4-FFF2-40B4-BE49-F238E27FC236}">
                <a16:creationId xmlns:a16="http://schemas.microsoft.com/office/drawing/2014/main" id="{219E96F4-AD7C-5201-D53C-4EA4F86B8F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defPPr>
              <a:defRPr lang="es-ES"/>
            </a:defPPr>
          </a:lstStyle>
          <a:p>
            <a:pPr lvl="0" rtl="0"/>
            <a:r>
              <a:rPr lang="es-ES"/>
              <a:t>Haga clic para modificar los estilos de texto del patrón</a:t>
            </a:r>
          </a:p>
          <a:p>
            <a:pPr lvl="1" rtl="0"/>
            <a:r>
              <a:rPr lang="es-ES"/>
              <a:t>Segundo nivel</a:t>
            </a:r>
          </a:p>
          <a:p>
            <a:pPr lvl="2" rtl="0"/>
            <a:r>
              <a:rPr lang="es-ES"/>
              <a:t>Tercer nivel</a:t>
            </a:r>
          </a:p>
          <a:p>
            <a:pPr lvl="3" rtl="0"/>
            <a:r>
              <a:rPr lang="es-ES"/>
              <a:t>Cuarto nivel</a:t>
            </a:r>
          </a:p>
          <a:p>
            <a:pPr lvl="4" rtl="0"/>
            <a:r>
              <a:rPr lang="es-ES"/>
              <a:t>Quinto nivel</a:t>
            </a:r>
            <a:endParaRPr lang="es-ES" dirty="0"/>
          </a:p>
        </p:txBody>
      </p:sp>
    </p:spTree>
    <p:extLst>
      <p:ext uri="{BB962C8B-B14F-4D97-AF65-F5344CB8AC3E}">
        <p14:creationId xmlns:p14="http://schemas.microsoft.com/office/powerpoint/2010/main" val="2866470824"/>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Lst>
  <p:hf hdr="0" ftr="0" dt="0"/>
  <p:txStyles>
    <p:titleStyle>
      <a:lvl1pPr algn="l" defTabSz="914400" rtl="0" eaLnBrk="1" latinLnBrk="0" hangingPunct="1">
        <a:lnSpc>
          <a:spcPct val="100000"/>
        </a:lnSpc>
        <a:spcBef>
          <a:spcPct val="0"/>
        </a:spcBef>
        <a:buNone/>
        <a:defRPr lang="es-ES"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lang="es-ES"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lang="es-ES"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lang="es-ES"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lang="es-ES"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lang="es-E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p:bodyStyle>
    <p:otherStyle>
      <a:defPPr>
        <a:defRPr lang="es-ES"/>
      </a:defPPr>
      <a:lvl1pPr marL="0" algn="l" defTabSz="914400" rtl="0" eaLnBrk="1" latinLnBrk="0" hangingPunct="1">
        <a:defRPr lang="es-ES" sz="1800" kern="1200">
          <a:solidFill>
            <a:schemeClr val="tx1"/>
          </a:solidFill>
          <a:latin typeface="+mn-lt"/>
          <a:ea typeface="+mn-ea"/>
          <a:cs typeface="+mn-cs"/>
        </a:defRPr>
      </a:lvl1pPr>
      <a:lvl2pPr marL="457200" algn="l" defTabSz="914400" rtl="0" eaLnBrk="1" latinLnBrk="0" hangingPunct="1">
        <a:defRPr lang="es-ES" sz="1800" kern="1200">
          <a:solidFill>
            <a:schemeClr val="tx1"/>
          </a:solidFill>
          <a:latin typeface="+mn-lt"/>
          <a:ea typeface="+mn-ea"/>
          <a:cs typeface="+mn-cs"/>
        </a:defRPr>
      </a:lvl2pPr>
      <a:lvl3pPr marL="914400" algn="l" defTabSz="914400" rtl="0" eaLnBrk="1" latinLnBrk="0" hangingPunct="1">
        <a:defRPr lang="es-ES" sz="1800" kern="1200">
          <a:solidFill>
            <a:schemeClr val="tx1"/>
          </a:solidFill>
          <a:latin typeface="+mn-lt"/>
          <a:ea typeface="+mn-ea"/>
          <a:cs typeface="+mn-cs"/>
        </a:defRPr>
      </a:lvl3pPr>
      <a:lvl4pPr marL="1371600" algn="l" defTabSz="914400" rtl="0" eaLnBrk="1" latinLnBrk="0" hangingPunct="1">
        <a:defRPr lang="es-ES" sz="1800" kern="1200">
          <a:solidFill>
            <a:schemeClr val="tx1"/>
          </a:solidFill>
          <a:latin typeface="+mn-lt"/>
          <a:ea typeface="+mn-ea"/>
          <a:cs typeface="+mn-cs"/>
        </a:defRPr>
      </a:lvl4pPr>
      <a:lvl5pPr marL="1828800" algn="l" defTabSz="914400" rtl="0" eaLnBrk="1" latinLnBrk="0" hangingPunct="1">
        <a:defRPr lang="es-ES" sz="1800" kern="1200">
          <a:solidFill>
            <a:schemeClr val="tx1"/>
          </a:solidFill>
          <a:latin typeface="+mn-lt"/>
          <a:ea typeface="+mn-ea"/>
          <a:cs typeface="+mn-cs"/>
        </a:defRPr>
      </a:lvl5pPr>
      <a:lvl6pPr marL="2286000" algn="l" defTabSz="914400" rtl="0" eaLnBrk="1" latinLnBrk="0" hangingPunct="1">
        <a:defRPr lang="es-ES" sz="1800" kern="1200">
          <a:solidFill>
            <a:schemeClr val="tx1"/>
          </a:solidFill>
          <a:latin typeface="+mn-lt"/>
          <a:ea typeface="+mn-ea"/>
          <a:cs typeface="+mn-cs"/>
        </a:defRPr>
      </a:lvl6pPr>
      <a:lvl7pPr marL="2743200" algn="l" defTabSz="914400" rtl="0" eaLnBrk="1" latinLnBrk="0" hangingPunct="1">
        <a:defRPr lang="es-ES" sz="1800" kern="1200">
          <a:solidFill>
            <a:schemeClr val="tx1"/>
          </a:solidFill>
          <a:latin typeface="+mn-lt"/>
          <a:ea typeface="+mn-ea"/>
          <a:cs typeface="+mn-cs"/>
        </a:defRPr>
      </a:lvl7pPr>
      <a:lvl8pPr marL="3200400" algn="l" defTabSz="914400" rtl="0" eaLnBrk="1" latinLnBrk="0" hangingPunct="1">
        <a:defRPr lang="es-ES" sz="1800" kern="1200">
          <a:solidFill>
            <a:schemeClr val="tx1"/>
          </a:solidFill>
          <a:latin typeface="+mn-lt"/>
          <a:ea typeface="+mn-ea"/>
          <a:cs typeface="+mn-cs"/>
        </a:defRPr>
      </a:lvl8pPr>
      <a:lvl9pPr marL="3657600" algn="l" defTabSz="914400" rtl="0" eaLnBrk="1" latinLnBrk="0" hangingPunct="1">
        <a:defRPr lang="es-ES"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672">
          <p15:clr>
            <a:srgbClr val="F26B43"/>
          </p15:clr>
        </p15:guide>
        <p15:guide id="4" orient="horz" pos="912">
          <p15:clr>
            <a:srgbClr val="F26B43"/>
          </p15:clr>
        </p15:guide>
        <p15:guide id="5" pos="7176">
          <p15:clr>
            <a:srgbClr val="F26B43"/>
          </p15:clr>
        </p15:guide>
        <p15:guide id="6" pos="504">
          <p15:clr>
            <a:srgbClr val="F26B43"/>
          </p15:clr>
        </p15:guide>
        <p15:guide id="7" orient="horz" pos="3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4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7.xml"/><Relationship Id="rId5" Type="http://schemas.openxmlformats.org/officeDocument/2006/relationships/image" Target="../media/image51.png"/><Relationship Id="rId4" Type="http://schemas.openxmlformats.org/officeDocument/2006/relationships/image" Target="../media/image50.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 Id="rId5" Type="http://schemas.openxmlformats.org/officeDocument/2006/relationships/image" Target="../media/image60.png"/><Relationship Id="rId4" Type="http://schemas.openxmlformats.org/officeDocument/2006/relationships/image" Target="../media/image59.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499D8326-B701-CBE8-39AA-6C700DA49CE4}"/>
              </a:ext>
            </a:extLst>
          </p:cNvPr>
          <p:cNvSpPr>
            <a:spLocks noGrp="1"/>
          </p:cNvSpPr>
          <p:nvPr>
            <p:ph type="title"/>
          </p:nvPr>
        </p:nvSpPr>
        <p:spPr>
          <a:xfrm>
            <a:off x="367380" y="908592"/>
            <a:ext cx="4058728" cy="2520408"/>
          </a:xfrm>
        </p:spPr>
        <p:txBody>
          <a:bodyPr rtlCol="0">
            <a:normAutofit fontScale="90000"/>
          </a:bodyPr>
          <a:lstStyle>
            <a:defPPr>
              <a:defRPr lang="es-ES"/>
            </a:defPPr>
          </a:lstStyle>
          <a:p>
            <a:pPr algn="just" rtl="0"/>
            <a:r>
              <a:rPr lang="es-MX" sz="2400" b="1" dirty="0">
                <a:effectLst/>
                <a:latin typeface="Arial" panose="020B0604020202020204" pitchFamily="34" charset="0"/>
                <a:ea typeface="Calibri" panose="020F0502020204030204" pitchFamily="34" charset="0"/>
              </a:rPr>
              <a:t>DESARROLLO DE UN SOFTWARE PARA EL DISEÑO DE DISPAROS DE PRODUCCIÓN Y SU ANÁLISIS EN LA PRODUCTIVIDAD DE LOS POZOS PETROLEROS</a:t>
            </a:r>
            <a:br>
              <a:rPr lang="es-MX" sz="2400" b="1" dirty="0">
                <a:effectLst/>
                <a:latin typeface="Arial" panose="020B0604020202020204" pitchFamily="34" charset="0"/>
                <a:ea typeface="Calibri" panose="020F0502020204030204" pitchFamily="34" charset="0"/>
              </a:rPr>
            </a:br>
            <a:br>
              <a:rPr lang="es-MX" sz="2400" b="1" dirty="0">
                <a:effectLst/>
                <a:latin typeface="Arial" panose="020B0604020202020204" pitchFamily="34" charset="0"/>
                <a:ea typeface="Calibri" panose="020F0502020204030204" pitchFamily="34" charset="0"/>
              </a:rPr>
            </a:br>
            <a:br>
              <a:rPr lang="es-MX" sz="2400" b="1" dirty="0">
                <a:effectLst/>
                <a:latin typeface="Arial" panose="020B0604020202020204" pitchFamily="34" charset="0"/>
                <a:ea typeface="Calibri" panose="020F0502020204030204" pitchFamily="34" charset="0"/>
              </a:rPr>
            </a:br>
            <a:br>
              <a:rPr lang="es-MX" sz="2400" b="1" dirty="0">
                <a:effectLst/>
                <a:latin typeface="Arial" panose="020B0604020202020204" pitchFamily="34" charset="0"/>
                <a:ea typeface="Calibri" panose="020F0502020204030204" pitchFamily="34" charset="0"/>
              </a:rPr>
            </a:br>
            <a:endParaRPr lang="es-ES" sz="4000" dirty="0"/>
          </a:p>
        </p:txBody>
      </p:sp>
      <p:sp>
        <p:nvSpPr>
          <p:cNvPr id="12" name="CuadroTexto 11">
            <a:extLst>
              <a:ext uri="{FF2B5EF4-FFF2-40B4-BE49-F238E27FC236}">
                <a16:creationId xmlns:a16="http://schemas.microsoft.com/office/drawing/2014/main" id="{A48264AE-10BB-4078-875D-F198650DFF85}"/>
              </a:ext>
            </a:extLst>
          </p:cNvPr>
          <p:cNvSpPr txBox="1"/>
          <p:nvPr/>
        </p:nvSpPr>
        <p:spPr>
          <a:xfrm>
            <a:off x="367380" y="5210768"/>
            <a:ext cx="4695567" cy="923330"/>
          </a:xfrm>
          <a:prstGeom prst="rect">
            <a:avLst/>
          </a:prstGeom>
          <a:noFill/>
        </p:spPr>
        <p:txBody>
          <a:bodyPr wrap="square" rtlCol="0">
            <a:spAutoFit/>
          </a:bodyPr>
          <a:lstStyle/>
          <a:p>
            <a:r>
              <a:rPr lang="es-MX" sz="1800" b="1" dirty="0">
                <a:effectLst/>
                <a:latin typeface="Arial" panose="020B0604020202020204" pitchFamily="34" charset="0"/>
                <a:ea typeface="Calibri" panose="020F0502020204030204" pitchFamily="34" charset="0"/>
              </a:rPr>
              <a:t>PRESENTAN:</a:t>
            </a:r>
          </a:p>
          <a:p>
            <a:pPr marL="285750" indent="-285750">
              <a:buFont typeface="Arial" panose="020B0604020202020204" pitchFamily="34" charset="0"/>
              <a:buChar char="•"/>
            </a:pPr>
            <a:r>
              <a:rPr lang="es-MX" sz="1800" b="1" dirty="0">
                <a:effectLst/>
                <a:latin typeface="Arial" panose="020B0604020202020204" pitchFamily="34" charset="0"/>
                <a:ea typeface="Calibri" panose="020F0502020204030204" pitchFamily="34" charset="0"/>
              </a:rPr>
              <a:t>HERNANDEZ CHAVARRIA DANIEL</a:t>
            </a:r>
            <a:endParaRPr lang="es-MX" b="1" dirty="0">
              <a:latin typeface="Arial" panose="020B0604020202020204" pitchFamily="34" charset="0"/>
              <a:ea typeface="Calibri" panose="020F0502020204030204" pitchFamily="34" charset="0"/>
            </a:endParaRPr>
          </a:p>
          <a:p>
            <a:pPr marL="285750" indent="-285750">
              <a:buFont typeface="Arial" panose="020B0604020202020204" pitchFamily="34" charset="0"/>
              <a:buChar char="•"/>
            </a:pPr>
            <a:r>
              <a:rPr lang="es-MX" sz="1800" b="1" dirty="0">
                <a:effectLst/>
                <a:latin typeface="Arial" panose="020B0604020202020204" pitchFamily="34" charset="0"/>
                <a:ea typeface="Calibri" panose="020F0502020204030204" pitchFamily="34" charset="0"/>
              </a:rPr>
              <a:t>MENDOZA NAVARRO SEBASTIAN</a:t>
            </a:r>
            <a:endParaRPr lang="es-MX" dirty="0"/>
          </a:p>
        </p:txBody>
      </p:sp>
    </p:spTree>
    <p:extLst>
      <p:ext uri="{BB962C8B-B14F-4D97-AF65-F5344CB8AC3E}">
        <p14:creationId xmlns:p14="http://schemas.microsoft.com/office/powerpoint/2010/main" val="29222889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408BEF5F-00BC-5BA7-C0E2-94A5C1FC0D29}"/>
              </a:ext>
            </a:extLst>
          </p:cNvPr>
          <p:cNvSpPr>
            <a:spLocks noGrp="1"/>
          </p:cNvSpPr>
          <p:nvPr>
            <p:ph type="title"/>
          </p:nvPr>
        </p:nvSpPr>
        <p:spPr>
          <a:xfrm>
            <a:off x="705934" y="723900"/>
            <a:ext cx="3503757" cy="5316415"/>
          </a:xfrm>
        </p:spPr>
        <p:txBody>
          <a:bodyPr rtlCol="0"/>
          <a:lstStyle>
            <a:defPPr>
              <a:defRPr lang="es-ES"/>
            </a:defPPr>
          </a:lstStyle>
          <a:p>
            <a:pPr rtl="0"/>
            <a:r>
              <a:rPr lang="es-ES" dirty="0"/>
              <a:t>PROBLEMATICA</a:t>
            </a:r>
          </a:p>
        </p:txBody>
      </p:sp>
      <p:sp>
        <p:nvSpPr>
          <p:cNvPr id="4" name="Marcador de contenido 3">
            <a:extLst>
              <a:ext uri="{FF2B5EF4-FFF2-40B4-BE49-F238E27FC236}">
                <a16:creationId xmlns:a16="http://schemas.microsoft.com/office/drawing/2014/main" id="{2B7243AA-A570-5533-577C-6CF74FAD07DC}"/>
              </a:ext>
            </a:extLst>
          </p:cNvPr>
          <p:cNvSpPr>
            <a:spLocks noGrp="1"/>
          </p:cNvSpPr>
          <p:nvPr>
            <p:ph sz="quarter" idx="10"/>
          </p:nvPr>
        </p:nvSpPr>
        <p:spPr>
          <a:xfrm>
            <a:off x="5788421" y="1388492"/>
            <a:ext cx="5466768" cy="3987230"/>
          </a:xfrm>
        </p:spPr>
        <p:txBody>
          <a:bodyPr rtlCol="0">
            <a:normAutofit fontScale="85000" lnSpcReduction="10000"/>
          </a:bodyPr>
          <a:lstStyle>
            <a:defPPr>
              <a:defRPr lang="es-ES"/>
            </a:defPPr>
          </a:lstStyle>
          <a:p>
            <a:pPr algn="just" rtl="0"/>
            <a:r>
              <a:rPr lang="es-MX" dirty="0">
                <a:latin typeface="Arial" panose="020B0604020202020204" pitchFamily="34" charset="0"/>
                <a:cs typeface="Arial" panose="020B0604020202020204" pitchFamily="34" charset="0"/>
              </a:rPr>
              <a:t>El sector petrolero mexicano enfrenta un fuerte rezago tecnológico, especialmente en infraestructura digital y procesos de optimización. La baja productividad en pozos, causada por el agotamiento de campos maduros y la falta de modernización, exige soluciones eficientes. Actualmente, el diseño de disparos en pozos se realiza con herramientas limitadas, sin aprovechar el potencial de automatización y análisis que ofrece la tecnología actual. Desarrollar un software especializado para el diseño de disparos representa una solución viable para: Mejorar la eficiencia operativa, Optimizar los recursos técnicos, Y contribuir a la modernización del sector energético.</a:t>
            </a:r>
            <a:endParaRPr lang="es-ES" dirty="0">
              <a:latin typeface="Arial" panose="020B0604020202020204" pitchFamily="34" charset="0"/>
              <a:cs typeface="Arial" panose="020B0604020202020204" pitchFamily="34" charset="0"/>
            </a:endParaRPr>
          </a:p>
        </p:txBody>
      </p:sp>
      <p:sp>
        <p:nvSpPr>
          <p:cNvPr id="2" name="Marcador de número de diapositiva 1">
            <a:extLst>
              <a:ext uri="{FF2B5EF4-FFF2-40B4-BE49-F238E27FC236}">
                <a16:creationId xmlns:a16="http://schemas.microsoft.com/office/drawing/2014/main" id="{DA128192-0728-892D-258C-A8F14C65D606}"/>
              </a:ext>
            </a:extLst>
          </p:cNvPr>
          <p:cNvSpPr>
            <a:spLocks noGrp="1"/>
          </p:cNvSpPr>
          <p:nvPr>
            <p:ph type="sldNum" sz="quarter" idx="4"/>
          </p:nvPr>
        </p:nvSpPr>
        <p:spPr>
          <a:xfrm>
            <a:off x="10919012" y="6274074"/>
            <a:ext cx="672354" cy="583926"/>
          </a:xfrm>
        </p:spPr>
        <p:txBody>
          <a:bodyPr rtlCol="0"/>
          <a:lstStyle>
            <a:defPPr>
              <a:defRPr lang="es-ES"/>
            </a:defPPr>
          </a:lstStyle>
          <a:p>
            <a:pPr rtl="0"/>
            <a:fld id="{C3DB2ADC-AF19-4574-8C10-79B5B04FCA27}" type="slidenum">
              <a:rPr lang="es-ES" smtClean="0"/>
              <a:pPr/>
              <a:t>2</a:t>
            </a:fld>
            <a:endParaRPr lang="es-ES" dirty="0"/>
          </a:p>
        </p:txBody>
      </p:sp>
    </p:spTree>
    <p:extLst>
      <p:ext uri="{BB962C8B-B14F-4D97-AF65-F5344CB8AC3E}">
        <p14:creationId xmlns:p14="http://schemas.microsoft.com/office/powerpoint/2010/main" val="918817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a:extLst>
              <a:ext uri="{FF2B5EF4-FFF2-40B4-BE49-F238E27FC236}">
                <a16:creationId xmlns:a16="http://schemas.microsoft.com/office/drawing/2014/main" id="{2BF5439E-A994-3EE5-80B8-64D8C5A922E8}"/>
              </a:ext>
            </a:extLst>
          </p:cNvPr>
          <p:cNvSpPr>
            <a:spLocks noGrp="1"/>
          </p:cNvSpPr>
          <p:nvPr>
            <p:ph type="ctrTitle"/>
          </p:nvPr>
        </p:nvSpPr>
        <p:spPr>
          <a:xfrm>
            <a:off x="710520" y="776873"/>
            <a:ext cx="5854182" cy="3070508"/>
          </a:xfrm>
        </p:spPr>
        <p:txBody>
          <a:bodyPr rtlCol="0"/>
          <a:lstStyle>
            <a:defPPr>
              <a:defRPr lang="es-ES"/>
            </a:defPPr>
          </a:lstStyle>
          <a:p>
            <a:pPr rtl="0"/>
            <a:r>
              <a:rPr lang="es-ES" dirty="0"/>
              <a:t>OBJETIVO GENERAL</a:t>
            </a:r>
          </a:p>
        </p:txBody>
      </p:sp>
      <p:sp>
        <p:nvSpPr>
          <p:cNvPr id="23" name="Subtítulo 22">
            <a:extLst>
              <a:ext uri="{FF2B5EF4-FFF2-40B4-BE49-F238E27FC236}">
                <a16:creationId xmlns:a16="http://schemas.microsoft.com/office/drawing/2014/main" id="{D5FF0C52-0A5C-D2E2-6605-0DCC0E0DCE6C}"/>
              </a:ext>
            </a:extLst>
          </p:cNvPr>
          <p:cNvSpPr>
            <a:spLocks noGrp="1"/>
          </p:cNvSpPr>
          <p:nvPr>
            <p:ph type="subTitle" idx="1"/>
          </p:nvPr>
        </p:nvSpPr>
        <p:spPr>
          <a:xfrm>
            <a:off x="721201" y="4088927"/>
            <a:ext cx="5654199" cy="1880552"/>
          </a:xfrm>
        </p:spPr>
        <p:txBody>
          <a:bodyPr rtlCol="0">
            <a:normAutofit fontScale="85000" lnSpcReduction="10000"/>
          </a:bodyPr>
          <a:lstStyle>
            <a:defPPr>
              <a:defRPr lang="es-ES"/>
            </a:defPPr>
          </a:lstStyle>
          <a:p>
            <a:pPr algn="just"/>
            <a:r>
              <a:rPr lang="es-MX" sz="18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Desarrollar un software que permita diseñar disparos de producción en pozos petroleros, integrando los parámetros técnicos involucrados como lo son los factores geométricos del disparo, tipo de pistolas y cargas, daño generado por el disparo y el daño causado por los fluidos de perforación y terminación  con el fin de analizar su influencia en el índice de productividad (IP) del pozo.</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rtl="0"/>
            <a:endParaRPr lang="es-ES" dirty="0"/>
          </a:p>
        </p:txBody>
      </p:sp>
      <p:pic>
        <p:nvPicPr>
          <p:cNvPr id="7" name="Marcador de posición de imagen 6">
            <a:extLst>
              <a:ext uri="{FF2B5EF4-FFF2-40B4-BE49-F238E27FC236}">
                <a16:creationId xmlns:a16="http://schemas.microsoft.com/office/drawing/2014/main" id="{48087440-555D-460D-9E10-580E4C1637E1}"/>
              </a:ext>
            </a:extLst>
          </p:cNvPr>
          <p:cNvPicPr>
            <a:picLocks noGrp="1" noChangeAspect="1"/>
          </p:cNvPicPr>
          <p:nvPr>
            <p:ph type="pic" sz="quarter" idx="13"/>
          </p:nvPr>
        </p:nvPicPr>
        <p:blipFill>
          <a:blip r:embed="rId3"/>
          <a:srcRect l="26296" r="26296"/>
          <a:stretch>
            <a:fillRect/>
          </a:stretch>
        </p:blipFill>
        <p:spPr/>
      </p:pic>
    </p:spTree>
    <p:extLst>
      <p:ext uri="{BB962C8B-B14F-4D97-AF65-F5344CB8AC3E}">
        <p14:creationId xmlns:p14="http://schemas.microsoft.com/office/powerpoint/2010/main" val="1889560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F6C19A-30E3-001C-1A19-8812A6F8D8EC}"/>
              </a:ext>
            </a:extLst>
          </p:cNvPr>
          <p:cNvSpPr>
            <a:spLocks noGrp="1"/>
          </p:cNvSpPr>
          <p:nvPr>
            <p:ph type="title"/>
          </p:nvPr>
        </p:nvSpPr>
        <p:spPr>
          <a:xfrm>
            <a:off x="734592" y="976997"/>
            <a:ext cx="11000208" cy="1239985"/>
          </a:xfrm>
        </p:spPr>
        <p:txBody>
          <a:bodyPr rtlCol="0"/>
          <a:lstStyle>
            <a:defPPr>
              <a:defRPr lang="es-ES"/>
            </a:defPPr>
          </a:lstStyle>
          <a:p>
            <a:pPr rtl="0"/>
            <a:r>
              <a:rPr lang="es-ES" dirty="0"/>
              <a:t>OBJETIVOS PARTICULARES</a:t>
            </a:r>
          </a:p>
        </p:txBody>
      </p:sp>
      <p:sp>
        <p:nvSpPr>
          <p:cNvPr id="6" name="Marcador de contenido 5">
            <a:extLst>
              <a:ext uri="{FF2B5EF4-FFF2-40B4-BE49-F238E27FC236}">
                <a16:creationId xmlns:a16="http://schemas.microsoft.com/office/drawing/2014/main" id="{5632A4BB-EBAC-A965-82D8-1198A802BA6C}"/>
              </a:ext>
            </a:extLst>
          </p:cNvPr>
          <p:cNvSpPr>
            <a:spLocks noGrp="1"/>
          </p:cNvSpPr>
          <p:nvPr>
            <p:ph sz="quarter" idx="10"/>
          </p:nvPr>
        </p:nvSpPr>
        <p:spPr>
          <a:xfrm>
            <a:off x="734593" y="2244725"/>
            <a:ext cx="8362515" cy="4476750"/>
          </a:xfrm>
        </p:spPr>
        <p:txBody>
          <a:bodyPr rtlCol="0">
            <a:normAutofit/>
          </a:bodyPr>
          <a:lstStyle>
            <a:defPPr>
              <a:defRPr lang="es-ES"/>
            </a:defPPr>
          </a:lstStyle>
          <a:p>
            <a:pPr marL="342900" lvl="0" indent="-342900" algn="just">
              <a:lnSpc>
                <a:spcPct val="115000"/>
              </a:lnSpc>
              <a:spcAft>
                <a:spcPts val="1000"/>
              </a:spcAft>
              <a:buFont typeface="+mj-lt"/>
              <a:buAutoNum type="alphaUcPeriod"/>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Identificar los principales parámetros técnicos que influyen en el diseño de disparos de producción y su afectación en la productividad.</a:t>
            </a:r>
            <a:endParaRPr lang="es-MX"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buFont typeface="+mj-lt"/>
              <a:buAutoNum type="alphaUcPeriod"/>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Desarrollar el software para el diseño de disparos de producción. </a:t>
            </a:r>
            <a:endParaRPr lang="es-MX"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buFont typeface="+mj-lt"/>
              <a:buAutoNum type="alphaUcPeriod"/>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Validar el funcionamiento del software mediante escenarios de prueba.</a:t>
            </a:r>
            <a:endParaRPr lang="es-MX" sz="1800" dirty="0">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buFont typeface="+mj-lt"/>
              <a:buAutoNum type="alphaUcPeriod"/>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Analizar los resultados del análisis técnico en la redacción de la tesina.</a:t>
            </a:r>
            <a:endParaRPr lang="es-MX" sz="1800" dirty="0">
              <a:effectLst/>
              <a:latin typeface="Calibri" panose="020F0502020204030204" pitchFamily="34" charset="0"/>
              <a:ea typeface="Times New Roman" panose="02020603050405020304" pitchFamily="18" charset="0"/>
              <a:cs typeface="Times New Roman" panose="02020603050405020304" pitchFamily="18" charset="0"/>
            </a:endParaRPr>
          </a:p>
          <a:p>
            <a:pPr rtl="0"/>
            <a:endParaRPr lang="es-ES" sz="2400" dirty="0"/>
          </a:p>
        </p:txBody>
      </p:sp>
      <p:sp>
        <p:nvSpPr>
          <p:cNvPr id="3" name="Marcador de número de diapositiva 2">
            <a:extLst>
              <a:ext uri="{FF2B5EF4-FFF2-40B4-BE49-F238E27FC236}">
                <a16:creationId xmlns:a16="http://schemas.microsoft.com/office/drawing/2014/main" id="{CE941DE2-1E04-BCDD-5770-8991998B6B7B}"/>
              </a:ext>
            </a:extLst>
          </p:cNvPr>
          <p:cNvSpPr>
            <a:spLocks noGrp="1"/>
          </p:cNvSpPr>
          <p:nvPr>
            <p:ph type="sldNum" sz="quarter" idx="4"/>
          </p:nvPr>
        </p:nvSpPr>
        <p:spPr>
          <a:xfrm>
            <a:off x="10919012" y="6356350"/>
            <a:ext cx="672354" cy="365125"/>
          </a:xfrm>
        </p:spPr>
        <p:txBody>
          <a:bodyPr rtlCol="0"/>
          <a:lstStyle>
            <a:defPPr>
              <a:defRPr lang="es-ES"/>
            </a:defPPr>
          </a:lstStyle>
          <a:p>
            <a:pPr rtl="0"/>
            <a:fld id="{C3DB2ADC-AF19-4574-8C10-79B5B04FCA27}" type="slidenum">
              <a:rPr lang="es-ES" smtClean="0"/>
              <a:pPr rtl="0"/>
              <a:t>4</a:t>
            </a:fld>
            <a:endParaRPr lang="es-ES" dirty="0"/>
          </a:p>
        </p:txBody>
      </p:sp>
    </p:spTree>
    <p:extLst>
      <p:ext uri="{BB962C8B-B14F-4D97-AF65-F5344CB8AC3E}">
        <p14:creationId xmlns:p14="http://schemas.microsoft.com/office/powerpoint/2010/main" val="1553300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90E82A33-7ED3-A4A3-7E06-B568D6D134CD}"/>
              </a:ext>
            </a:extLst>
          </p:cNvPr>
          <p:cNvSpPr>
            <a:spLocks noGrp="1"/>
          </p:cNvSpPr>
          <p:nvPr>
            <p:ph type="title"/>
          </p:nvPr>
        </p:nvSpPr>
        <p:spPr>
          <a:xfrm>
            <a:off x="763439" y="684311"/>
            <a:ext cx="3960961" cy="2749009"/>
          </a:xfrm>
        </p:spPr>
        <p:txBody>
          <a:bodyPr rtlCol="0"/>
          <a:lstStyle>
            <a:defPPr>
              <a:defRPr lang="es-ES"/>
            </a:defPPr>
          </a:lstStyle>
          <a:p>
            <a:pPr rtl="0"/>
            <a:r>
              <a:rPr lang="es-ES" dirty="0"/>
              <a:t>Introducción a los disparos.</a:t>
            </a:r>
          </a:p>
        </p:txBody>
      </p:sp>
      <p:sp>
        <p:nvSpPr>
          <p:cNvPr id="3" name="Marcador de posición de imagen 2">
            <a:extLst>
              <a:ext uri="{FF2B5EF4-FFF2-40B4-BE49-F238E27FC236}">
                <a16:creationId xmlns:a16="http://schemas.microsoft.com/office/drawing/2014/main" id="{CC4CCAF9-46FC-40EA-BA2C-FD52A6C3CE3D}"/>
              </a:ext>
            </a:extLst>
          </p:cNvPr>
          <p:cNvSpPr>
            <a:spLocks noGrp="1"/>
          </p:cNvSpPr>
          <p:nvPr>
            <p:ph type="pic" sz="quarter" idx="10"/>
          </p:nvPr>
        </p:nvSpPr>
        <p:spPr/>
      </p:sp>
    </p:spTree>
    <p:extLst>
      <p:ext uri="{BB962C8B-B14F-4D97-AF65-F5344CB8AC3E}">
        <p14:creationId xmlns:p14="http://schemas.microsoft.com/office/powerpoint/2010/main" val="2098613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3F9FE95-42FD-9AB0-913D-DFE3A18AFAE9}"/>
              </a:ext>
            </a:extLst>
          </p:cNvPr>
          <p:cNvSpPr>
            <a:spLocks noGrp="1"/>
          </p:cNvSpPr>
          <p:nvPr>
            <p:ph type="title"/>
          </p:nvPr>
        </p:nvSpPr>
        <p:spPr>
          <a:xfrm>
            <a:off x="734591" y="976997"/>
            <a:ext cx="11034713" cy="1188227"/>
          </a:xfrm>
        </p:spPr>
        <p:txBody>
          <a:bodyPr rtlCol="0"/>
          <a:lstStyle>
            <a:defPPr>
              <a:defRPr lang="es-ES"/>
            </a:defPPr>
          </a:lstStyle>
          <a:p>
            <a:pPr rtl="0"/>
            <a:r>
              <a:rPr lang="es-ES" dirty="0"/>
              <a:t>disparo</a:t>
            </a:r>
          </a:p>
        </p:txBody>
      </p:sp>
      <p:sp>
        <p:nvSpPr>
          <p:cNvPr id="4" name="Marcador de contenido 3">
            <a:extLst>
              <a:ext uri="{FF2B5EF4-FFF2-40B4-BE49-F238E27FC236}">
                <a16:creationId xmlns:a16="http://schemas.microsoft.com/office/drawing/2014/main" id="{85DD9D89-0B97-5577-308E-9F320E5DC495}"/>
              </a:ext>
            </a:extLst>
          </p:cNvPr>
          <p:cNvSpPr>
            <a:spLocks noGrp="1"/>
          </p:cNvSpPr>
          <p:nvPr>
            <p:ph sz="quarter" idx="10"/>
          </p:nvPr>
        </p:nvSpPr>
        <p:spPr>
          <a:xfrm>
            <a:off x="734593" y="2244725"/>
            <a:ext cx="5437607" cy="4233713"/>
          </a:xfrm>
        </p:spPr>
        <p:txBody>
          <a:bodyPr rtlCol="0"/>
          <a:lstStyle>
            <a:defPPr>
              <a:defRPr lang="es-ES"/>
            </a:defPPr>
          </a:lstStyle>
          <a:p>
            <a:pPr algn="just" rtl="0"/>
            <a:r>
              <a:rPr lang="es-MX" sz="1800" dirty="0">
                <a:effectLst/>
                <a:latin typeface="Arial" panose="020B0604020202020204" pitchFamily="34" charset="0"/>
                <a:ea typeface="Calibri" panose="020F0502020204030204" pitchFamily="34" charset="0"/>
              </a:rPr>
              <a:t>La etapa final en la intervención de un pozo, orientada a lograr la extracción de hidrocarburos, consiste en la realización de disparos, los cuales permiten establecer la conexión entre el yacimiento y el interior de la tubería de producción. </a:t>
            </a:r>
            <a:endParaRPr lang="es-ES" noProof="1"/>
          </a:p>
        </p:txBody>
      </p:sp>
      <p:sp>
        <p:nvSpPr>
          <p:cNvPr id="8" name="Marcador de contenido 7">
            <a:extLst>
              <a:ext uri="{FF2B5EF4-FFF2-40B4-BE49-F238E27FC236}">
                <a16:creationId xmlns:a16="http://schemas.microsoft.com/office/drawing/2014/main" id="{A021E0D1-93E4-278F-190D-F92AD1861694}"/>
              </a:ext>
            </a:extLst>
          </p:cNvPr>
          <p:cNvSpPr>
            <a:spLocks noGrp="1"/>
          </p:cNvSpPr>
          <p:nvPr>
            <p:ph sz="quarter" idx="11"/>
          </p:nvPr>
        </p:nvSpPr>
        <p:spPr>
          <a:xfrm>
            <a:off x="6412304" y="2244724"/>
            <a:ext cx="5045103" cy="4233713"/>
          </a:xfrm>
        </p:spPr>
        <p:txBody>
          <a:bodyPr rtlCol="0"/>
          <a:lstStyle>
            <a:defPPr>
              <a:defRPr lang="es-ES"/>
            </a:defPPr>
          </a:lstStyle>
          <a:p>
            <a:pPr marL="0" indent="0" rtl="0">
              <a:buNone/>
            </a:pPr>
            <a:r>
              <a:rPr lang="es-ES" noProof="1">
                <a:latin typeface="Arial" panose="020B0604020202020204" pitchFamily="34" charset="0"/>
                <a:cs typeface="Arial" panose="020B0604020202020204" pitchFamily="34" charset="0"/>
              </a:rPr>
              <a:t>Tipos de disparos:</a:t>
            </a:r>
          </a:p>
          <a:p>
            <a:pPr rtl="0"/>
            <a:r>
              <a:rPr lang="es-ES" noProof="1">
                <a:latin typeface="Arial" panose="020B0604020202020204" pitchFamily="34" charset="0"/>
                <a:cs typeface="Arial" panose="020B0604020202020204" pitchFamily="34" charset="0"/>
              </a:rPr>
              <a:t>Con bala</a:t>
            </a:r>
          </a:p>
          <a:p>
            <a:pPr rtl="0"/>
            <a:r>
              <a:rPr lang="es-ES" noProof="1">
                <a:latin typeface="Arial" panose="020B0604020202020204" pitchFamily="34" charset="0"/>
                <a:cs typeface="Arial" panose="020B0604020202020204" pitchFamily="34" charset="0"/>
              </a:rPr>
              <a:t>A chorro</a:t>
            </a:r>
          </a:p>
          <a:p>
            <a:pPr rtl="0"/>
            <a:r>
              <a:rPr lang="es-ES" noProof="1">
                <a:latin typeface="Arial" panose="020B0604020202020204" pitchFamily="34" charset="0"/>
                <a:cs typeface="Arial" panose="020B0604020202020204" pitchFamily="34" charset="0"/>
              </a:rPr>
              <a:t>Hidraulico.</a:t>
            </a:r>
          </a:p>
        </p:txBody>
      </p:sp>
      <p:sp>
        <p:nvSpPr>
          <p:cNvPr id="3" name="Marcador de número de diapositiva 2">
            <a:extLst>
              <a:ext uri="{FF2B5EF4-FFF2-40B4-BE49-F238E27FC236}">
                <a16:creationId xmlns:a16="http://schemas.microsoft.com/office/drawing/2014/main" id="{DCBC99EE-15DF-A164-D7A5-05B6D09C808B}"/>
              </a:ext>
            </a:extLst>
          </p:cNvPr>
          <p:cNvSpPr>
            <a:spLocks noGrp="1"/>
          </p:cNvSpPr>
          <p:nvPr>
            <p:ph type="sldNum" sz="quarter" idx="4"/>
          </p:nvPr>
        </p:nvSpPr>
        <p:spPr>
          <a:xfrm>
            <a:off x="10919012" y="6356350"/>
            <a:ext cx="672354" cy="365125"/>
          </a:xfrm>
        </p:spPr>
        <p:txBody>
          <a:bodyPr rtlCol="0"/>
          <a:lstStyle>
            <a:defPPr>
              <a:defRPr lang="es-ES"/>
            </a:defPPr>
          </a:lstStyle>
          <a:p>
            <a:pPr rtl="0"/>
            <a:fld id="{C3DB2ADC-AF19-4574-8C10-79B5B04FCA27}" type="slidenum">
              <a:rPr lang="es-ES" smtClean="0"/>
              <a:pPr rtl="0"/>
              <a:t>6</a:t>
            </a:fld>
            <a:endParaRPr lang="es-ES" dirty="0"/>
          </a:p>
        </p:txBody>
      </p:sp>
      <p:cxnSp>
        <p:nvCxnSpPr>
          <p:cNvPr id="6" name="Conector recto 5">
            <a:extLst>
              <a:ext uri="{FF2B5EF4-FFF2-40B4-BE49-F238E27FC236}">
                <a16:creationId xmlns:a16="http://schemas.microsoft.com/office/drawing/2014/main" id="{6350011D-AA38-4DBF-A3D2-AF7E55F17282}"/>
              </a:ext>
            </a:extLst>
          </p:cNvPr>
          <p:cNvCxnSpPr>
            <a:cxnSpLocks/>
          </p:cNvCxnSpPr>
          <p:nvPr/>
        </p:nvCxnSpPr>
        <p:spPr>
          <a:xfrm>
            <a:off x="6172200" y="2244724"/>
            <a:ext cx="0" cy="3029641"/>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6198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56E1DE-D988-960C-DAB5-9F76114BF8AF}"/>
              </a:ext>
            </a:extLst>
          </p:cNvPr>
          <p:cNvSpPr>
            <a:spLocks noGrp="1"/>
          </p:cNvSpPr>
          <p:nvPr>
            <p:ph type="title"/>
          </p:nvPr>
        </p:nvSpPr>
        <p:spPr>
          <a:xfrm>
            <a:off x="725965" y="976999"/>
            <a:ext cx="11034713" cy="1196853"/>
          </a:xfrm>
        </p:spPr>
        <p:txBody>
          <a:bodyPr rtlCol="0"/>
          <a:lstStyle>
            <a:defPPr>
              <a:defRPr lang="es-ES"/>
            </a:defPPr>
          </a:lstStyle>
          <a:p>
            <a:pPr rtl="0"/>
            <a:r>
              <a:rPr lang="es-ES" dirty="0"/>
              <a:t>Componentes de los disparos de perforación</a:t>
            </a:r>
          </a:p>
        </p:txBody>
      </p:sp>
      <p:sp>
        <p:nvSpPr>
          <p:cNvPr id="13" name="Marcador de contenido 12">
            <a:extLst>
              <a:ext uri="{FF2B5EF4-FFF2-40B4-BE49-F238E27FC236}">
                <a16:creationId xmlns:a16="http://schemas.microsoft.com/office/drawing/2014/main" id="{2EBEEF04-935C-A06F-62F6-BCFF0B291A24}"/>
              </a:ext>
            </a:extLst>
          </p:cNvPr>
          <p:cNvSpPr>
            <a:spLocks noGrp="1"/>
          </p:cNvSpPr>
          <p:nvPr>
            <p:ph sz="quarter" idx="11"/>
          </p:nvPr>
        </p:nvSpPr>
        <p:spPr>
          <a:xfrm>
            <a:off x="4407226" y="2244725"/>
            <a:ext cx="6709507" cy="3912896"/>
          </a:xfrm>
        </p:spPr>
        <p:txBody>
          <a:bodyPr rtlCol="0"/>
          <a:lstStyle>
            <a:defPPr>
              <a:defRPr lang="es-ES"/>
            </a:defPPr>
          </a:lstStyle>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El tren de explosión consiste en una serie de dispositivos cuya función es iniciar y propagar la detonación. Está formado por tres elementos principales:</a:t>
            </a:r>
          </a:p>
          <a:p>
            <a:pPr algn="just">
              <a:lnSpc>
                <a:spcPct val="115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Detonador o iniciador</a:t>
            </a:r>
            <a:endParaRPr lang="es-MX" sz="18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Cordón detonante</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r>
              <a:rPr lang="es-MX" sz="1800" dirty="0">
                <a:effectLst/>
                <a:latin typeface="Arial" panose="020B0604020202020204" pitchFamily="34" charset="0"/>
                <a:ea typeface="Calibri" panose="020F0502020204030204" pitchFamily="34" charset="0"/>
              </a:rPr>
              <a:t>Carga explosiva moldeada</a:t>
            </a:r>
            <a:endParaRPr lang="es-ES" dirty="0"/>
          </a:p>
        </p:txBody>
      </p:sp>
      <p:sp>
        <p:nvSpPr>
          <p:cNvPr id="3" name="Marcador de número de diapositiva 2">
            <a:extLst>
              <a:ext uri="{FF2B5EF4-FFF2-40B4-BE49-F238E27FC236}">
                <a16:creationId xmlns:a16="http://schemas.microsoft.com/office/drawing/2014/main" id="{522643B0-B668-8150-0AAC-AFA1C43109DF}"/>
              </a:ext>
            </a:extLst>
          </p:cNvPr>
          <p:cNvSpPr>
            <a:spLocks noGrp="1"/>
          </p:cNvSpPr>
          <p:nvPr>
            <p:ph type="sldNum" sz="quarter" idx="4"/>
          </p:nvPr>
        </p:nvSpPr>
        <p:spPr>
          <a:xfrm>
            <a:off x="10919012" y="6356350"/>
            <a:ext cx="672354" cy="365125"/>
          </a:xfrm>
        </p:spPr>
        <p:txBody>
          <a:bodyPr rtlCol="0"/>
          <a:lstStyle>
            <a:defPPr>
              <a:defRPr lang="es-ES"/>
            </a:defPPr>
          </a:lstStyle>
          <a:p>
            <a:pPr rtl="0"/>
            <a:fld id="{C3DB2ADC-AF19-4574-8C10-79B5B04FCA27}" type="slidenum">
              <a:rPr lang="es-ES" smtClean="0"/>
              <a:pPr rtl="0"/>
              <a:t>7</a:t>
            </a:fld>
            <a:endParaRPr lang="es-ES" dirty="0"/>
          </a:p>
        </p:txBody>
      </p:sp>
      <p:pic>
        <p:nvPicPr>
          <p:cNvPr id="6" name="Marcador de contenido 5">
            <a:extLst>
              <a:ext uri="{FF2B5EF4-FFF2-40B4-BE49-F238E27FC236}">
                <a16:creationId xmlns:a16="http://schemas.microsoft.com/office/drawing/2014/main" id="{06E42923-E055-4CA6-8585-56816791DDCD}"/>
              </a:ext>
            </a:extLst>
          </p:cNvPr>
          <p:cNvPicPr>
            <a:picLocks noGrp="1"/>
          </p:cNvPicPr>
          <p:nvPr>
            <p:ph sz="quarter" idx="10"/>
          </p:nvPr>
        </p:nvPicPr>
        <p:blipFill>
          <a:blip r:embed="rId3">
            <a:extLst>
              <a:ext uri="{28A0092B-C50C-407E-A947-70E740481C1C}">
                <a14:useLocalDpi xmlns:a14="http://schemas.microsoft.com/office/drawing/2010/main" val="0"/>
              </a:ext>
            </a:extLst>
          </a:blip>
          <a:srcRect/>
          <a:stretch>
            <a:fillRect/>
          </a:stretch>
        </p:blipFill>
        <p:spPr bwMode="auto">
          <a:xfrm>
            <a:off x="1320675" y="2244725"/>
            <a:ext cx="2694734" cy="2994688"/>
          </a:xfrm>
          <a:prstGeom prst="rect">
            <a:avLst/>
          </a:prstGeom>
          <a:noFill/>
          <a:ln>
            <a:noFill/>
          </a:ln>
        </p:spPr>
      </p:pic>
    </p:spTree>
    <p:extLst>
      <p:ext uri="{BB962C8B-B14F-4D97-AF65-F5344CB8AC3E}">
        <p14:creationId xmlns:p14="http://schemas.microsoft.com/office/powerpoint/2010/main" val="1475236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17418C-B77E-4C8F-B3B1-E882CD9FF5A3}"/>
              </a:ext>
            </a:extLst>
          </p:cNvPr>
          <p:cNvSpPr>
            <a:spLocks noGrp="1"/>
          </p:cNvSpPr>
          <p:nvPr>
            <p:ph type="title"/>
          </p:nvPr>
        </p:nvSpPr>
        <p:spPr/>
        <p:txBody>
          <a:bodyPr/>
          <a:lstStyle/>
          <a:p>
            <a:r>
              <a:rPr lang="es-MX" dirty="0"/>
              <a:t>Tipos de cargas </a:t>
            </a:r>
          </a:p>
        </p:txBody>
      </p:sp>
      <p:sp>
        <p:nvSpPr>
          <p:cNvPr id="4" name="Marcador de contenido 3">
            <a:extLst>
              <a:ext uri="{FF2B5EF4-FFF2-40B4-BE49-F238E27FC236}">
                <a16:creationId xmlns:a16="http://schemas.microsoft.com/office/drawing/2014/main" id="{51E3EE5A-C913-4AE6-BCC3-173B51B21F6D}"/>
              </a:ext>
            </a:extLst>
          </p:cNvPr>
          <p:cNvSpPr>
            <a:spLocks noGrp="1"/>
          </p:cNvSpPr>
          <p:nvPr>
            <p:ph sz="quarter" idx="11"/>
          </p:nvPr>
        </p:nvSpPr>
        <p:spPr>
          <a:xfrm>
            <a:off x="4414925" y="1575425"/>
            <a:ext cx="7353452" cy="1853575"/>
          </a:xfrm>
        </p:spPr>
        <p:txBody>
          <a:bodyPr>
            <a:normAutofit/>
          </a:bodyPr>
          <a:lstStyle/>
          <a:p>
            <a:pPr marL="1143000" lvl="2" indent="-228600">
              <a:lnSpc>
                <a:spcPct val="107000"/>
              </a:lnSpc>
              <a:spcBef>
                <a:spcPts val="200"/>
              </a:spcBef>
              <a:buFont typeface="+mj-lt"/>
              <a:buAutoNum type="arabicPeriod"/>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Cargas de Alta Penetración (DP - Deep </a:t>
            </a:r>
            <a:r>
              <a:rPr lang="es-MX" sz="1800" b="1" dirty="0" err="1">
                <a:effectLst/>
                <a:latin typeface="Arial" panose="020B0604020202020204" pitchFamily="34" charset="0"/>
                <a:ea typeface="Times New Roman" panose="02020603050405020304" pitchFamily="18" charset="0"/>
                <a:cs typeface="Times New Roman" panose="02020603050405020304" pitchFamily="18" charset="0"/>
              </a:rPr>
              <a:t>Penetration</a:t>
            </a: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a:t>
            </a:r>
          </a:p>
          <a:p>
            <a:pPr marL="0" indent="0" algn="just">
              <a:buNone/>
            </a:pPr>
            <a:r>
              <a:rPr lang="es-MX" sz="1800" dirty="0">
                <a:effectLst/>
                <a:latin typeface="Arial" panose="020B0604020202020204" pitchFamily="34" charset="0"/>
                <a:ea typeface="Calibri" panose="020F0502020204030204" pitchFamily="34" charset="0"/>
              </a:rPr>
              <a:t>Este tipo de carga utiliza un </a:t>
            </a:r>
            <a:r>
              <a:rPr lang="es-MX" sz="1800" dirty="0" err="1">
                <a:effectLst/>
                <a:latin typeface="Arial" panose="020B0604020202020204" pitchFamily="34" charset="0"/>
                <a:ea typeface="Calibri" panose="020F0502020204030204" pitchFamily="34" charset="0"/>
              </a:rPr>
              <a:t>liner</a:t>
            </a:r>
            <a:r>
              <a:rPr lang="es-MX" sz="1800" dirty="0">
                <a:effectLst/>
                <a:latin typeface="Arial" panose="020B0604020202020204" pitchFamily="34" charset="0"/>
                <a:ea typeface="Calibri" panose="020F0502020204030204" pitchFamily="34" charset="0"/>
              </a:rPr>
              <a:t> con forma cónica, lo que permite generar un chorro o jet delgado, largo y concentrado. Esta configuración produce perforaciones profundas, aunque con un diámetro reducido </a:t>
            </a:r>
            <a:endParaRPr lang="es-MX" sz="3200" dirty="0"/>
          </a:p>
        </p:txBody>
      </p:sp>
      <p:sp>
        <p:nvSpPr>
          <p:cNvPr id="5" name="Marcador de número de diapositiva 4">
            <a:extLst>
              <a:ext uri="{FF2B5EF4-FFF2-40B4-BE49-F238E27FC236}">
                <a16:creationId xmlns:a16="http://schemas.microsoft.com/office/drawing/2014/main" id="{710DF2CC-F68E-41CF-B507-B8A4F0F0A15B}"/>
              </a:ext>
            </a:extLst>
          </p:cNvPr>
          <p:cNvSpPr>
            <a:spLocks noGrp="1"/>
          </p:cNvSpPr>
          <p:nvPr>
            <p:ph type="sldNum" sz="quarter" idx="4"/>
          </p:nvPr>
        </p:nvSpPr>
        <p:spPr/>
        <p:txBody>
          <a:bodyPr/>
          <a:lstStyle/>
          <a:p>
            <a:pPr rtl="0"/>
            <a:fld id="{C3DB2ADC-AF19-4574-8C10-79B5B04FCA27}" type="slidenum">
              <a:rPr lang="es-ES" smtClean="0"/>
              <a:pPr rtl="0"/>
              <a:t>8</a:t>
            </a:fld>
            <a:endParaRPr lang="es-ES" dirty="0"/>
          </a:p>
        </p:txBody>
      </p:sp>
      <p:pic>
        <p:nvPicPr>
          <p:cNvPr id="6" name="Marcador de contenido 5">
            <a:extLst>
              <a:ext uri="{FF2B5EF4-FFF2-40B4-BE49-F238E27FC236}">
                <a16:creationId xmlns:a16="http://schemas.microsoft.com/office/drawing/2014/main" id="{05903DE3-022F-4F20-8B64-583808F180BA}"/>
              </a:ext>
            </a:extLst>
          </p:cNvPr>
          <p:cNvPicPr>
            <a:picLocks noGrp="1"/>
          </p:cNvPicPr>
          <p:nvPr>
            <p:ph sz="quarter" idx="10"/>
          </p:nvPr>
        </p:nvPicPr>
        <p:blipFill rotWithShape="1">
          <a:blip r:embed="rId2">
            <a:extLst>
              <a:ext uri="{28A0092B-C50C-407E-A947-70E740481C1C}">
                <a14:useLocalDpi xmlns:a14="http://schemas.microsoft.com/office/drawing/2010/main" val="0"/>
              </a:ext>
            </a:extLst>
          </a:blip>
          <a:srcRect l="2149" t="2982" r="1297" b="2924"/>
          <a:stretch/>
        </p:blipFill>
        <p:spPr bwMode="auto">
          <a:xfrm>
            <a:off x="725965" y="1575425"/>
            <a:ext cx="3665863" cy="1662905"/>
          </a:xfrm>
          <a:prstGeom prst="rect">
            <a:avLst/>
          </a:prstGeom>
          <a:noFill/>
          <a:ln>
            <a:noFill/>
          </a:ln>
          <a:extLst>
            <a:ext uri="{53640926-AAD7-44D8-BBD7-CCE9431645EC}">
              <a14:shadowObscured xmlns:a14="http://schemas.microsoft.com/office/drawing/2010/main"/>
            </a:ext>
          </a:extLst>
        </p:spPr>
      </p:pic>
      <p:pic>
        <p:nvPicPr>
          <p:cNvPr id="7" name="Marcador de contenido 7">
            <a:extLst>
              <a:ext uri="{FF2B5EF4-FFF2-40B4-BE49-F238E27FC236}">
                <a16:creationId xmlns:a16="http://schemas.microsoft.com/office/drawing/2014/main" id="{E9FB6F5B-87F1-400B-8220-3F1AB5554723}"/>
              </a:ext>
            </a:extLst>
          </p:cNvPr>
          <p:cNvPicPr>
            <a:picLocks/>
          </p:cNvPicPr>
          <p:nvPr/>
        </p:nvPicPr>
        <p:blipFill>
          <a:blip r:embed="rId3">
            <a:extLst>
              <a:ext uri="{28A0092B-C50C-407E-A947-70E740481C1C}">
                <a14:useLocalDpi xmlns:a14="http://schemas.microsoft.com/office/drawing/2010/main" val="0"/>
              </a:ext>
            </a:extLst>
          </a:blip>
          <a:srcRect/>
          <a:stretch>
            <a:fillRect/>
          </a:stretch>
        </p:blipFill>
        <p:spPr bwMode="auto">
          <a:xfrm>
            <a:off x="725965" y="3867648"/>
            <a:ext cx="2754813" cy="2013835"/>
          </a:xfrm>
          <a:prstGeom prst="rect">
            <a:avLst/>
          </a:prstGeom>
          <a:noFill/>
          <a:ln>
            <a:noFill/>
          </a:ln>
        </p:spPr>
      </p:pic>
      <p:sp>
        <p:nvSpPr>
          <p:cNvPr id="8" name="Marcador de contenido 3">
            <a:extLst>
              <a:ext uri="{FF2B5EF4-FFF2-40B4-BE49-F238E27FC236}">
                <a16:creationId xmlns:a16="http://schemas.microsoft.com/office/drawing/2014/main" id="{587CB9E3-832F-4A62-BB80-92191E7C61DD}"/>
              </a:ext>
            </a:extLst>
          </p:cNvPr>
          <p:cNvSpPr txBox="1">
            <a:spLocks/>
          </p:cNvSpPr>
          <p:nvPr/>
        </p:nvSpPr>
        <p:spPr>
          <a:xfrm>
            <a:off x="4407226" y="3867648"/>
            <a:ext cx="7353452" cy="2340323"/>
          </a:xfrm>
          <a:prstGeom prst="rect">
            <a:avLst/>
          </a:prstGeom>
        </p:spPr>
        <p:txBody>
          <a:bodyPr vert="horz" lIns="91440" tIns="45720" rIns="91440" bIns="45720" rtlCol="0">
            <a:normAutofit/>
          </a:bodyPr>
          <a:lstStyle>
            <a:defPPr>
              <a:defRPr lang="es-ES"/>
            </a:defPPr>
            <a:lvl1pPr marL="228600" indent="-228600" algn="l" defTabSz="914400" rtl="0" eaLnBrk="1" latinLnBrk="0" hangingPunct="1">
              <a:lnSpc>
                <a:spcPct val="120000"/>
              </a:lnSpc>
              <a:spcBef>
                <a:spcPts val="0"/>
              </a:spcBef>
              <a:spcAft>
                <a:spcPts val="1200"/>
              </a:spcAft>
              <a:buFont typeface="Arial" panose="020B0604020202020204" pitchFamily="34" charset="0"/>
              <a:buChar char="•"/>
              <a:defRPr lang="es-ES" sz="2000" kern="1200">
                <a:solidFill>
                  <a:schemeClr val="tx1"/>
                </a:solidFill>
                <a:latin typeface="+mn-lt"/>
                <a:ea typeface="+mn-ea"/>
                <a:cs typeface="+mn-cs"/>
              </a:defRPr>
            </a:lvl1pPr>
            <a:lvl2pPr marL="685800" indent="-228600" algn="l" defTabSz="914400" rtl="0" eaLnBrk="1" latinLnBrk="0" hangingPunct="1">
              <a:lnSpc>
                <a:spcPct val="120000"/>
              </a:lnSpc>
              <a:spcBef>
                <a:spcPts val="0"/>
              </a:spcBef>
              <a:spcAft>
                <a:spcPts val="1200"/>
              </a:spcAft>
              <a:buFont typeface="Arial" panose="020B0604020202020204" pitchFamily="34" charset="0"/>
              <a:buChar char="•"/>
              <a:defRPr lang="es-ES" sz="1800" kern="1200">
                <a:solidFill>
                  <a:schemeClr val="tx1"/>
                </a:solidFill>
                <a:latin typeface="+mn-lt"/>
                <a:ea typeface="+mn-ea"/>
                <a:cs typeface="+mn-cs"/>
              </a:defRPr>
            </a:lvl2pPr>
            <a:lvl3pPr marL="1143000" indent="-228600" algn="l" defTabSz="914400" rtl="0" eaLnBrk="1" latinLnBrk="0" hangingPunct="1">
              <a:lnSpc>
                <a:spcPct val="120000"/>
              </a:lnSpc>
              <a:spcBef>
                <a:spcPts val="0"/>
              </a:spcBef>
              <a:spcAft>
                <a:spcPts val="1200"/>
              </a:spcAft>
              <a:buFont typeface="Arial" panose="020B0604020202020204" pitchFamily="34" charset="0"/>
              <a:buChar char="•"/>
              <a:defRPr lang="es-ES" sz="1600" kern="1200">
                <a:solidFill>
                  <a:schemeClr val="tx1"/>
                </a:solidFill>
                <a:latin typeface="+mn-lt"/>
                <a:ea typeface="+mn-ea"/>
                <a:cs typeface="+mn-cs"/>
              </a:defRPr>
            </a:lvl3pPr>
            <a:lvl4pPr marL="1600200" indent="-228600" algn="l" defTabSz="914400" rtl="0" eaLnBrk="1" latinLnBrk="0" hangingPunct="1">
              <a:lnSpc>
                <a:spcPct val="120000"/>
              </a:lnSpc>
              <a:spcBef>
                <a:spcPts val="0"/>
              </a:spcBef>
              <a:spcAft>
                <a:spcPts val="1200"/>
              </a:spcAft>
              <a:buFont typeface="Arial" panose="020B0604020202020204" pitchFamily="34" charset="0"/>
              <a:buChar char="•"/>
              <a:defRPr lang="es-ES" sz="1400" kern="1200">
                <a:solidFill>
                  <a:schemeClr val="tx1"/>
                </a:solidFill>
                <a:latin typeface="+mn-lt"/>
                <a:ea typeface="+mn-ea"/>
                <a:cs typeface="+mn-cs"/>
              </a:defRPr>
            </a:lvl4pPr>
            <a:lvl5pPr marL="2057400" indent="-228600" algn="l" defTabSz="914400" rtl="0" eaLnBrk="1" latinLnBrk="0" hangingPunct="1">
              <a:lnSpc>
                <a:spcPct val="120000"/>
              </a:lnSpc>
              <a:spcBef>
                <a:spcPts val="0"/>
              </a:spcBef>
              <a:spcAft>
                <a:spcPts val="1200"/>
              </a:spcAft>
              <a:buFont typeface="Arial" panose="020B0604020202020204" pitchFamily="34" charset="0"/>
              <a:buChar char="•"/>
              <a:defRPr lang="es-E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pPr marL="914400" lvl="2" indent="0">
              <a:lnSpc>
                <a:spcPct val="107000"/>
              </a:lnSpc>
              <a:spcBef>
                <a:spcPts val="200"/>
              </a:spcBef>
              <a:buFont typeface="Arial" panose="020B0604020202020204" pitchFamily="34" charset="0"/>
              <a:buNone/>
            </a:pPr>
            <a:r>
              <a:rPr lang="es-MX" sz="1800" b="1">
                <a:latin typeface="Arial" panose="020B0604020202020204" pitchFamily="34" charset="0"/>
                <a:ea typeface="Times New Roman" panose="02020603050405020304" pitchFamily="18" charset="0"/>
                <a:cs typeface="Times New Roman" panose="02020603050405020304" pitchFamily="18" charset="0"/>
              </a:rPr>
              <a:t>2. Cargas de Hueco Grande (BH - Big Hole)</a:t>
            </a:r>
          </a:p>
          <a:p>
            <a:pPr marL="0" indent="0" algn="just">
              <a:buFont typeface="Arial" panose="020B0604020202020204" pitchFamily="34" charset="0"/>
              <a:buNone/>
            </a:pPr>
            <a:r>
              <a:rPr lang="es-MX" sz="1800">
                <a:latin typeface="Arial" panose="020B0604020202020204" pitchFamily="34" charset="0"/>
                <a:ea typeface="Calibri" panose="020F0502020204030204" pitchFamily="34" charset="0"/>
              </a:rPr>
              <a:t>Las cargas clasificadas como BH utilizan liners con formas parabólicas o hemisféricas. Estas geometrías están diseñadas para optimizar la densidad del disparo y aumentar el área de flujo. Generan un chorro más lento, pero con mayor masa, lo que da lugar a perforaciones de poca profundidad, pero con un diámetro mayor.</a:t>
            </a:r>
            <a:endParaRPr lang="es-MX" sz="4400" dirty="0"/>
          </a:p>
        </p:txBody>
      </p:sp>
    </p:spTree>
    <p:extLst>
      <p:ext uri="{BB962C8B-B14F-4D97-AF65-F5344CB8AC3E}">
        <p14:creationId xmlns:p14="http://schemas.microsoft.com/office/powerpoint/2010/main" val="1801991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78EDD0FE-CB9F-D325-2903-8DC746DE6164}"/>
              </a:ext>
            </a:extLst>
          </p:cNvPr>
          <p:cNvSpPr>
            <a:spLocks noGrp="1"/>
          </p:cNvSpPr>
          <p:nvPr>
            <p:ph type="ctrTitle"/>
          </p:nvPr>
        </p:nvSpPr>
        <p:spPr>
          <a:xfrm>
            <a:off x="734591" y="992528"/>
            <a:ext cx="10722817" cy="1188227"/>
          </a:xfrm>
        </p:spPr>
        <p:txBody>
          <a:bodyPr rtlCol="0"/>
          <a:lstStyle>
            <a:defPPr>
              <a:defRPr lang="es-ES"/>
            </a:defPPr>
          </a:lstStyle>
          <a:p>
            <a:pPr rtl="0"/>
            <a:r>
              <a:rPr lang="es-ES" dirty="0"/>
              <a:t>Tipo de pistolas</a:t>
            </a:r>
          </a:p>
        </p:txBody>
      </p:sp>
      <p:sp>
        <p:nvSpPr>
          <p:cNvPr id="10" name="Marcador de contenido 9">
            <a:extLst>
              <a:ext uri="{FF2B5EF4-FFF2-40B4-BE49-F238E27FC236}">
                <a16:creationId xmlns:a16="http://schemas.microsoft.com/office/drawing/2014/main" id="{C70E077E-50F0-48B5-6482-2D14598CB2DD}"/>
              </a:ext>
            </a:extLst>
          </p:cNvPr>
          <p:cNvSpPr>
            <a:spLocks noGrp="1"/>
          </p:cNvSpPr>
          <p:nvPr>
            <p:ph sz="quarter" idx="14"/>
          </p:nvPr>
        </p:nvSpPr>
        <p:spPr>
          <a:xfrm>
            <a:off x="743216" y="1586641"/>
            <a:ext cx="4544401" cy="4554667"/>
          </a:xfrm>
        </p:spPr>
        <p:txBody>
          <a:bodyPr rtlCol="0">
            <a:normAutofit/>
          </a:bodyPr>
          <a:lstStyle>
            <a:defPPr>
              <a:defRPr lang="es-ES"/>
            </a:defPPr>
          </a:lstStyle>
          <a:p>
            <a:pPr marL="0" indent="0" algn="just" rtl="0">
              <a:buNone/>
            </a:pPr>
            <a:r>
              <a:rPr lang="es-MX" sz="1500" dirty="0">
                <a:effectLst/>
                <a:latin typeface="Arial" panose="020B0604020202020204" pitchFamily="34" charset="0"/>
                <a:ea typeface="Calibri" panose="020F0502020204030204" pitchFamily="34" charset="0"/>
                <a:cs typeface="Arial" panose="020B0604020202020204" pitchFamily="34" charset="0"/>
              </a:rPr>
              <a:t>El sistema de disparo se compone de una serie de elementos explosivos: cargas, cordón detonante, estopín y </a:t>
            </a:r>
            <a:r>
              <a:rPr lang="es-MX" sz="1500" dirty="0" err="1">
                <a:effectLst/>
                <a:latin typeface="Arial" panose="020B0604020202020204" pitchFamily="34" charset="0"/>
                <a:ea typeface="Calibri" panose="020F0502020204030204" pitchFamily="34" charset="0"/>
                <a:cs typeface="Arial" panose="020B0604020202020204" pitchFamily="34" charset="0"/>
              </a:rPr>
              <a:t>portacargas</a:t>
            </a:r>
            <a:r>
              <a:rPr lang="es-MX" sz="1500" dirty="0">
                <a:effectLst/>
                <a:latin typeface="Arial" panose="020B0604020202020204" pitchFamily="34" charset="0"/>
                <a:ea typeface="Calibri" panose="020F0502020204030204" pitchFamily="34" charset="0"/>
                <a:cs typeface="Arial" panose="020B0604020202020204" pitchFamily="34" charset="0"/>
              </a:rPr>
              <a:t>. La clasificación de estas pistolas depende del método utilizado para introducirlas en el pozo.</a:t>
            </a:r>
          </a:p>
          <a:p>
            <a:pPr marL="0" indent="0" algn="just">
              <a:buNone/>
            </a:pPr>
            <a:endParaRPr lang="es-MX" sz="1500" b="1" dirty="0">
              <a:latin typeface="Arial" panose="020B0604020202020204" pitchFamily="34" charset="0"/>
              <a:cs typeface="Arial" panose="020B0604020202020204" pitchFamily="34" charset="0"/>
            </a:endParaRPr>
          </a:p>
          <a:p>
            <a:pPr marL="0" indent="0" algn="just">
              <a:buNone/>
            </a:pPr>
            <a:r>
              <a:rPr lang="es-MX" sz="1500" b="1" dirty="0">
                <a:latin typeface="Arial" panose="020B0604020202020204" pitchFamily="34" charset="0"/>
                <a:cs typeface="Arial" panose="020B0604020202020204" pitchFamily="34" charset="0"/>
              </a:rPr>
              <a:t>Pistols bajas con tubería</a:t>
            </a:r>
          </a:p>
          <a:p>
            <a:pPr marL="0" indent="0" algn="just">
              <a:buNone/>
            </a:pPr>
            <a:r>
              <a:rPr lang="es-MX" sz="1500" dirty="0">
                <a:effectLst/>
                <a:latin typeface="Arial" panose="020B0604020202020204" pitchFamily="34" charset="0"/>
                <a:ea typeface="Calibri" panose="020F0502020204030204" pitchFamily="34" charset="0"/>
                <a:cs typeface="Arial" panose="020B0604020202020204" pitchFamily="34" charset="0"/>
              </a:rPr>
              <a:t>En este sistema (DBT), la pistola es descendida hasta la zona objetivo mediante tubería de trabajo. A diferencia del método por cable, aquí solo se usan </a:t>
            </a:r>
            <a:r>
              <a:rPr lang="es-MX" sz="1500" dirty="0" err="1">
                <a:effectLst/>
                <a:latin typeface="Arial" panose="020B0604020202020204" pitchFamily="34" charset="0"/>
                <a:ea typeface="Calibri" panose="020F0502020204030204" pitchFamily="34" charset="0"/>
                <a:cs typeface="Arial" panose="020B0604020202020204" pitchFamily="34" charset="0"/>
              </a:rPr>
              <a:t>portacargas</a:t>
            </a:r>
            <a:r>
              <a:rPr lang="es-MX" sz="1500" dirty="0">
                <a:effectLst/>
                <a:latin typeface="Arial" panose="020B0604020202020204" pitchFamily="34" charset="0"/>
                <a:ea typeface="Calibri" panose="020F0502020204030204" pitchFamily="34" charset="0"/>
                <a:cs typeface="Arial" panose="020B0604020202020204" pitchFamily="34" charset="0"/>
              </a:rPr>
              <a:t> tubulares. Esta técnica permite realizar el disparo en una única corrida, lo cual es ideal para operaciones bajo balance. </a:t>
            </a:r>
          </a:p>
          <a:p>
            <a:pPr marL="0" indent="0" algn="just" rtl="0">
              <a:buNone/>
            </a:pPr>
            <a:endParaRPr lang="es-ES" noProof="1">
              <a:latin typeface="Arial" panose="020B0604020202020204" pitchFamily="34" charset="0"/>
              <a:cs typeface="Arial" panose="020B0604020202020204" pitchFamily="34" charset="0"/>
            </a:endParaRPr>
          </a:p>
        </p:txBody>
      </p:sp>
      <p:sp>
        <p:nvSpPr>
          <p:cNvPr id="5" name="Marcador de número de diapositiva 4">
            <a:extLst>
              <a:ext uri="{FF2B5EF4-FFF2-40B4-BE49-F238E27FC236}">
                <a16:creationId xmlns:a16="http://schemas.microsoft.com/office/drawing/2014/main" id="{D338FAA4-A6F5-934B-4912-1EDAEE5E8855}"/>
              </a:ext>
            </a:extLst>
          </p:cNvPr>
          <p:cNvSpPr>
            <a:spLocks noGrp="1"/>
          </p:cNvSpPr>
          <p:nvPr>
            <p:ph type="sldNum" sz="quarter" idx="4"/>
          </p:nvPr>
        </p:nvSpPr>
        <p:spPr>
          <a:xfrm>
            <a:off x="10919012" y="6356350"/>
            <a:ext cx="672354" cy="365125"/>
          </a:xfrm>
        </p:spPr>
        <p:txBody>
          <a:bodyPr rtlCol="0"/>
          <a:lstStyle>
            <a:defPPr>
              <a:defRPr lang="es-ES"/>
            </a:defPPr>
          </a:lstStyle>
          <a:p>
            <a:pPr rtl="0"/>
            <a:fld id="{C3DB2ADC-AF19-4574-8C10-79B5B04FCA27}" type="slidenum">
              <a:rPr lang="es-ES" smtClean="0"/>
              <a:pPr rtl="0"/>
              <a:t>9</a:t>
            </a:fld>
            <a:endParaRPr lang="es-ES" dirty="0"/>
          </a:p>
        </p:txBody>
      </p:sp>
      <p:sp>
        <p:nvSpPr>
          <p:cNvPr id="8" name="CuadroTexto 7">
            <a:extLst>
              <a:ext uri="{FF2B5EF4-FFF2-40B4-BE49-F238E27FC236}">
                <a16:creationId xmlns:a16="http://schemas.microsoft.com/office/drawing/2014/main" id="{13764BAF-5B67-4CB2-8E27-D0BAC334ED81}"/>
              </a:ext>
            </a:extLst>
          </p:cNvPr>
          <p:cNvSpPr txBox="1"/>
          <p:nvPr/>
        </p:nvSpPr>
        <p:spPr>
          <a:xfrm>
            <a:off x="6087376" y="992528"/>
            <a:ext cx="5361408" cy="3311163"/>
          </a:xfrm>
          <a:prstGeom prst="rect">
            <a:avLst/>
          </a:prstGeom>
          <a:noFill/>
        </p:spPr>
        <p:txBody>
          <a:bodyPr wrap="square" rtlCol="0">
            <a:spAutoFit/>
          </a:bodyPr>
          <a:lstStyle/>
          <a:p>
            <a:pPr marL="0" indent="0" algn="just">
              <a:buNone/>
            </a:pPr>
            <a:r>
              <a:rPr lang="es-MX" sz="1400" b="1" dirty="0">
                <a:effectLst/>
                <a:latin typeface="Arial" panose="020B0604020202020204" pitchFamily="34" charset="0"/>
                <a:ea typeface="Calibri" panose="020F0502020204030204" pitchFamily="34" charset="0"/>
                <a:cs typeface="Arial" panose="020B0604020202020204" pitchFamily="34" charset="0"/>
              </a:rPr>
              <a:t>Pistolas bajas con cable</a:t>
            </a:r>
          </a:p>
          <a:p>
            <a:pPr marL="0" indent="0" algn="just">
              <a:buNone/>
            </a:pPr>
            <a:r>
              <a:rPr lang="es-MX" sz="1400" dirty="0">
                <a:effectLst/>
                <a:latin typeface="Arial" panose="020B0604020202020204" pitchFamily="34" charset="0"/>
                <a:ea typeface="Calibri" panose="020F0502020204030204" pitchFamily="34" charset="0"/>
                <a:cs typeface="Arial" panose="020B0604020202020204" pitchFamily="34" charset="0"/>
              </a:rPr>
              <a:t>El método de disparo por cable (DBC) puede aplicarse tanto antes o después de instalar la tubería de producción. Una de sus principales ventajas es la posibilidad de usar pistolas de mayor diámetro antes de introducir el aparejo, lo que permite una mayor profundidad de disparo. </a:t>
            </a:r>
          </a:p>
          <a:p>
            <a:pPr marL="0" indent="0" algn="just">
              <a:lnSpc>
                <a:spcPct val="115000"/>
              </a:lnSpc>
              <a:spcAft>
                <a:spcPts val="800"/>
              </a:spcAft>
              <a:buNone/>
            </a:pPr>
            <a:r>
              <a:rPr lang="es-MX" sz="1400" dirty="0">
                <a:effectLst/>
                <a:latin typeface="Arial" panose="020B0604020202020204" pitchFamily="34" charset="0"/>
                <a:ea typeface="Calibri" panose="020F0502020204030204" pitchFamily="34" charset="0"/>
                <a:cs typeface="Arial" panose="020B0604020202020204" pitchFamily="34" charset="0"/>
              </a:rPr>
              <a:t>A su vez las pistolas bajadas con cable se clasifican según su recuperación.</a:t>
            </a:r>
            <a:endParaRPr lang="es-MX" sz="1400" dirty="0">
              <a:effectLst/>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800"/>
              </a:spcAft>
              <a:buFont typeface="+mj-lt"/>
              <a:buAutoNum type="alphaLcParenR"/>
            </a:pPr>
            <a:r>
              <a:rPr lang="es-MX" sz="1400" dirty="0">
                <a:effectLst/>
                <a:latin typeface="Arial" panose="020B0604020202020204" pitchFamily="34" charset="0"/>
                <a:ea typeface="Calibri" panose="020F0502020204030204" pitchFamily="34" charset="0"/>
                <a:cs typeface="Times New Roman" panose="02020603050405020304" pitchFamily="18" charset="0"/>
              </a:rPr>
              <a:t>Pistolas recuperables (no expuestas).</a:t>
            </a:r>
          </a:p>
          <a:p>
            <a:pPr marL="342900" lvl="0" indent="-342900" algn="just">
              <a:lnSpc>
                <a:spcPct val="115000"/>
              </a:lnSpc>
              <a:spcAft>
                <a:spcPts val="800"/>
              </a:spcAft>
              <a:buFont typeface="+mj-lt"/>
              <a:buAutoNum type="alphaLcParenR"/>
            </a:pPr>
            <a:r>
              <a:rPr lang="es-MX" sz="1400" dirty="0">
                <a:effectLst/>
                <a:latin typeface="Arial" panose="020B0604020202020204" pitchFamily="34" charset="0"/>
                <a:ea typeface="Calibri" panose="020F0502020204030204" pitchFamily="34" charset="0"/>
                <a:cs typeface="Arial" panose="020B0604020202020204" pitchFamily="34" charset="0"/>
              </a:rPr>
              <a:t>Pistolas </a:t>
            </a:r>
            <a:r>
              <a:rPr lang="es-MX" sz="1400" dirty="0" err="1">
                <a:effectLst/>
                <a:latin typeface="Arial" panose="020B0604020202020204" pitchFamily="34" charset="0"/>
                <a:ea typeface="Calibri" panose="020F0502020204030204" pitchFamily="34" charset="0"/>
                <a:cs typeface="Arial" panose="020B0604020202020204" pitchFamily="34" charset="0"/>
              </a:rPr>
              <a:t>semirecuperables</a:t>
            </a:r>
            <a:r>
              <a:rPr lang="es-MX" sz="1400" dirty="0">
                <a:effectLst/>
                <a:latin typeface="Arial" panose="020B0604020202020204" pitchFamily="34" charset="0"/>
                <a:ea typeface="Calibri" panose="020F0502020204030204" pitchFamily="34" charset="0"/>
                <a:cs typeface="Arial" panose="020B0604020202020204" pitchFamily="34" charset="0"/>
              </a:rPr>
              <a:t> (expuestas).</a:t>
            </a:r>
          </a:p>
          <a:p>
            <a:pPr marL="342900" indent="-342900" algn="just">
              <a:lnSpc>
                <a:spcPct val="115000"/>
              </a:lnSpc>
              <a:spcAft>
                <a:spcPts val="800"/>
              </a:spcAft>
              <a:buFont typeface="+mj-lt"/>
              <a:buAutoNum type="alphaLcParenR"/>
            </a:pPr>
            <a:r>
              <a:rPr lang="es-MX" sz="1400" dirty="0">
                <a:effectLst/>
                <a:latin typeface="Arial" panose="020B0604020202020204" pitchFamily="34" charset="0"/>
                <a:ea typeface="Calibri" panose="020F0502020204030204" pitchFamily="34" charset="0"/>
                <a:cs typeface="Arial" panose="020B0604020202020204" pitchFamily="34" charset="0"/>
              </a:rPr>
              <a:t>Pistolas desechables o no recuperables (expuestas).</a:t>
            </a:r>
            <a:endParaRPr lang="es-MX" sz="1400" dirty="0">
              <a:effectLst/>
              <a:latin typeface="Arial" panose="020B0604020202020204" pitchFamily="34" charset="0"/>
              <a:ea typeface="Calibri" panose="020F0502020204030204" pitchFamily="34" charset="0"/>
              <a:cs typeface="Times New Roman" panose="02020603050405020304" pitchFamily="18" charset="0"/>
            </a:endParaRPr>
          </a:p>
          <a:p>
            <a:pPr algn="just"/>
            <a:endParaRPr lang="es-MX" sz="1800" dirty="0">
              <a:effectLst/>
              <a:latin typeface="Arial" panose="020B0604020202020204" pitchFamily="34" charset="0"/>
              <a:ea typeface="Calibri" panose="020F0502020204030204" pitchFamily="34" charset="0"/>
              <a:cs typeface="Arial" panose="020B0604020202020204" pitchFamily="34" charset="0"/>
            </a:endParaRPr>
          </a:p>
        </p:txBody>
      </p:sp>
      <p:pic>
        <p:nvPicPr>
          <p:cNvPr id="11" name="Imagen 10">
            <a:extLst>
              <a:ext uri="{FF2B5EF4-FFF2-40B4-BE49-F238E27FC236}">
                <a16:creationId xmlns:a16="http://schemas.microsoft.com/office/drawing/2014/main" id="{849EE430-C937-4650-835A-4A64D8C017FF}"/>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405384" y="3911244"/>
            <a:ext cx="4725392" cy="2837553"/>
          </a:xfrm>
          <a:prstGeom prst="rect">
            <a:avLst/>
          </a:prstGeom>
          <a:noFill/>
          <a:ln>
            <a:noFill/>
          </a:ln>
        </p:spPr>
      </p:pic>
    </p:spTree>
    <p:extLst>
      <p:ext uri="{BB962C8B-B14F-4D97-AF65-F5344CB8AC3E}">
        <p14:creationId xmlns:p14="http://schemas.microsoft.com/office/powerpoint/2010/main" val="18031195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4D21D2-B9B4-4CB8-9EC1-966AFEDEB8BF}"/>
              </a:ext>
            </a:extLst>
          </p:cNvPr>
          <p:cNvSpPr>
            <a:spLocks noGrp="1"/>
          </p:cNvSpPr>
          <p:nvPr>
            <p:ph type="title"/>
          </p:nvPr>
        </p:nvSpPr>
        <p:spPr/>
        <p:txBody>
          <a:bodyPr/>
          <a:lstStyle/>
          <a:p>
            <a:r>
              <a:rPr lang="es-MX" dirty="0"/>
              <a:t>Daño a la formación </a:t>
            </a:r>
          </a:p>
        </p:txBody>
      </p:sp>
      <p:sp>
        <p:nvSpPr>
          <p:cNvPr id="3" name="Marcador de contenido 2">
            <a:extLst>
              <a:ext uri="{FF2B5EF4-FFF2-40B4-BE49-F238E27FC236}">
                <a16:creationId xmlns:a16="http://schemas.microsoft.com/office/drawing/2014/main" id="{73C3C2A0-1B1B-44FD-A8C2-2D8823F32E29}"/>
              </a:ext>
            </a:extLst>
          </p:cNvPr>
          <p:cNvSpPr>
            <a:spLocks noGrp="1"/>
          </p:cNvSpPr>
          <p:nvPr>
            <p:ph sz="quarter" idx="10"/>
          </p:nvPr>
        </p:nvSpPr>
        <p:spPr>
          <a:xfrm>
            <a:off x="734591" y="2685258"/>
            <a:ext cx="5045105" cy="2554006"/>
          </a:xfrm>
        </p:spPr>
        <p:txBody>
          <a:bodyPr>
            <a:normAutofit/>
          </a:bodyPr>
          <a:lstStyle/>
          <a:p>
            <a:pPr marL="0" indent="0" algn="just">
              <a:buNone/>
            </a:pPr>
            <a:r>
              <a:rPr lang="es-MX" sz="2400" dirty="0">
                <a:effectLst/>
                <a:latin typeface="Arial" panose="020B0604020202020204" pitchFamily="34" charset="0"/>
                <a:ea typeface="Calibri" panose="020F0502020204030204" pitchFamily="34" charset="0"/>
                <a:cs typeface="Arial" panose="020B0604020202020204" pitchFamily="34" charset="0"/>
              </a:rPr>
              <a:t>Uno de los efectos no deseados del disparo, es el daño adicional que genera una reducción en la permeabilidad de la roca. </a:t>
            </a:r>
          </a:p>
          <a:p>
            <a:pPr marL="0" indent="0" algn="just">
              <a:buNone/>
            </a:pPr>
            <a:r>
              <a:rPr lang="es-MX" dirty="0">
                <a:latin typeface="Arial" panose="020B0604020202020204" pitchFamily="34" charset="0"/>
                <a:cs typeface="Arial" panose="020B0604020202020204" pitchFamily="34" charset="0"/>
              </a:rPr>
              <a:t> </a:t>
            </a:r>
          </a:p>
        </p:txBody>
      </p:sp>
      <p:sp>
        <p:nvSpPr>
          <p:cNvPr id="5" name="Marcador de número de diapositiva 4">
            <a:extLst>
              <a:ext uri="{FF2B5EF4-FFF2-40B4-BE49-F238E27FC236}">
                <a16:creationId xmlns:a16="http://schemas.microsoft.com/office/drawing/2014/main" id="{86408F7F-EB83-4482-ABB3-C179E3CA245C}"/>
              </a:ext>
            </a:extLst>
          </p:cNvPr>
          <p:cNvSpPr>
            <a:spLocks noGrp="1"/>
          </p:cNvSpPr>
          <p:nvPr>
            <p:ph type="sldNum" sz="quarter" idx="4"/>
          </p:nvPr>
        </p:nvSpPr>
        <p:spPr/>
        <p:txBody>
          <a:bodyPr/>
          <a:lstStyle/>
          <a:p>
            <a:pPr rtl="0"/>
            <a:fld id="{C3DB2ADC-AF19-4574-8C10-79B5B04FCA27}" type="slidenum">
              <a:rPr lang="es-ES" smtClean="0"/>
              <a:pPr rtl="0"/>
              <a:t>10</a:t>
            </a:fld>
            <a:endParaRPr lang="es-ES" dirty="0"/>
          </a:p>
        </p:txBody>
      </p:sp>
      <p:pic>
        <p:nvPicPr>
          <p:cNvPr id="6" name="Marcador de contenido 5">
            <a:extLst>
              <a:ext uri="{FF2B5EF4-FFF2-40B4-BE49-F238E27FC236}">
                <a16:creationId xmlns:a16="http://schemas.microsoft.com/office/drawing/2014/main" id="{4C72FB91-4110-4CC1-84F8-210A634E5BBC}"/>
              </a:ext>
            </a:extLst>
          </p:cNvPr>
          <p:cNvPicPr>
            <a:picLocks noGrp="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6096000" y="877329"/>
            <a:ext cx="5638800" cy="5588751"/>
          </a:xfrm>
          <a:prstGeom prst="rect">
            <a:avLst/>
          </a:prstGeom>
          <a:noFill/>
          <a:ln>
            <a:noFill/>
          </a:ln>
        </p:spPr>
      </p:pic>
    </p:spTree>
    <p:extLst>
      <p:ext uri="{BB962C8B-B14F-4D97-AF65-F5344CB8AC3E}">
        <p14:creationId xmlns:p14="http://schemas.microsoft.com/office/powerpoint/2010/main" val="3746396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924AA76-5824-411A-8BC2-B65DF425ACBB}"/>
              </a:ext>
            </a:extLst>
          </p:cNvPr>
          <p:cNvSpPr>
            <a:spLocks noGrp="1"/>
          </p:cNvSpPr>
          <p:nvPr>
            <p:ph type="title"/>
          </p:nvPr>
        </p:nvSpPr>
        <p:spPr/>
        <p:txBody>
          <a:bodyPr/>
          <a:lstStyle/>
          <a:p>
            <a:r>
              <a:rPr lang="es-MX" dirty="0"/>
              <a:t>FACTORES GEOMETRICOS DEL DISPARO</a:t>
            </a:r>
          </a:p>
        </p:txBody>
      </p:sp>
      <p:sp>
        <p:nvSpPr>
          <p:cNvPr id="3" name="Marcador de contenido 2">
            <a:extLst>
              <a:ext uri="{FF2B5EF4-FFF2-40B4-BE49-F238E27FC236}">
                <a16:creationId xmlns:a16="http://schemas.microsoft.com/office/drawing/2014/main" id="{C007C60F-2995-4BCA-992E-76A77F5AF845}"/>
              </a:ext>
            </a:extLst>
          </p:cNvPr>
          <p:cNvSpPr>
            <a:spLocks noGrp="1"/>
          </p:cNvSpPr>
          <p:nvPr>
            <p:ph sz="quarter" idx="10"/>
          </p:nvPr>
        </p:nvSpPr>
        <p:spPr>
          <a:xfrm>
            <a:off x="734593" y="1816443"/>
            <a:ext cx="5045105" cy="4661995"/>
          </a:xfrm>
        </p:spPr>
        <p:txBody>
          <a:bodyPr>
            <a:normAutofit/>
          </a:bodyPr>
          <a:lstStyle/>
          <a:p>
            <a:pPr marL="0" indent="0" algn="just">
              <a:lnSpc>
                <a:spcPct val="115000"/>
              </a:lnSpc>
              <a:spcAft>
                <a:spcPts val="800"/>
              </a:spcAft>
              <a:buNone/>
            </a:pPr>
            <a:r>
              <a:rPr lang="es-MX" sz="1900" dirty="0">
                <a:effectLst/>
                <a:latin typeface="Arial" panose="020B0604020202020204" pitchFamily="34" charset="0"/>
                <a:ea typeface="Calibri" panose="020F0502020204030204" pitchFamily="34" charset="0"/>
                <a:cs typeface="Times New Roman" panose="02020603050405020304" pitchFamily="18" charset="0"/>
              </a:rPr>
              <a:t>Estos factores definen la eficiencia del flujo en un pozo disparado y son los siguientes:</a:t>
            </a:r>
            <a:endParaRPr lang="es-MX" sz="19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s-MX" sz="1900" dirty="0">
                <a:effectLst/>
                <a:latin typeface="Arial" panose="020B0604020202020204" pitchFamily="34" charset="0"/>
                <a:ea typeface="Calibri" panose="020F0502020204030204" pitchFamily="34" charset="0"/>
                <a:cs typeface="Times New Roman" panose="02020603050405020304" pitchFamily="18" charset="0"/>
              </a:rPr>
              <a:t>Penetración.</a:t>
            </a:r>
            <a:endParaRPr lang="es-MX" sz="19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s-MX" sz="1900" dirty="0">
                <a:effectLst/>
                <a:latin typeface="Arial" panose="020B0604020202020204" pitchFamily="34" charset="0"/>
                <a:ea typeface="Calibri" panose="020F0502020204030204" pitchFamily="34" charset="0"/>
                <a:cs typeface="Times New Roman" panose="02020603050405020304" pitchFamily="18" charset="0"/>
              </a:rPr>
              <a:t>Densidad de cargas por metro.</a:t>
            </a:r>
            <a:endParaRPr lang="es-MX" sz="19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s-MX" sz="1900" dirty="0">
                <a:effectLst/>
                <a:latin typeface="Arial" panose="020B0604020202020204" pitchFamily="34" charset="0"/>
                <a:ea typeface="Calibri" panose="020F0502020204030204" pitchFamily="34" charset="0"/>
                <a:cs typeface="Times New Roman" panose="02020603050405020304" pitchFamily="18" charset="0"/>
              </a:rPr>
              <a:t>Ángulo entre las perforaciones.</a:t>
            </a:r>
            <a:endParaRPr lang="es-MX" sz="19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800"/>
              </a:spcAft>
              <a:buFont typeface="Symbol" panose="05050102010706020507" pitchFamily="18" charset="2"/>
              <a:buChar char=""/>
            </a:pPr>
            <a:r>
              <a:rPr lang="es-MX" sz="1900" dirty="0">
                <a:effectLst/>
                <a:latin typeface="Arial" panose="020B0604020202020204" pitchFamily="34" charset="0"/>
                <a:ea typeface="Calibri" panose="020F0502020204030204" pitchFamily="34" charset="0"/>
                <a:cs typeface="Times New Roman" panose="02020603050405020304" pitchFamily="18" charset="0"/>
              </a:rPr>
              <a:t>Diámetro del agujero (del disparo).</a:t>
            </a:r>
            <a:endParaRPr lang="es-MX" sz="1900" dirty="0">
              <a:effectLst/>
              <a:latin typeface="Calibri" panose="020F0502020204030204" pitchFamily="34" charset="0"/>
              <a:ea typeface="Calibri" panose="020F0502020204030204" pitchFamily="34" charset="0"/>
              <a:cs typeface="Times New Roman" panose="02020603050405020304" pitchFamily="18" charset="0"/>
            </a:endParaRPr>
          </a:p>
          <a:p>
            <a:endParaRPr lang="es-MX" dirty="0"/>
          </a:p>
        </p:txBody>
      </p:sp>
      <p:sp>
        <p:nvSpPr>
          <p:cNvPr id="5" name="Marcador de número de diapositiva 4">
            <a:extLst>
              <a:ext uri="{FF2B5EF4-FFF2-40B4-BE49-F238E27FC236}">
                <a16:creationId xmlns:a16="http://schemas.microsoft.com/office/drawing/2014/main" id="{536342BC-557A-49C8-AC4B-F57C034108A5}"/>
              </a:ext>
            </a:extLst>
          </p:cNvPr>
          <p:cNvSpPr>
            <a:spLocks noGrp="1"/>
          </p:cNvSpPr>
          <p:nvPr>
            <p:ph type="sldNum" sz="quarter" idx="4"/>
          </p:nvPr>
        </p:nvSpPr>
        <p:spPr/>
        <p:txBody>
          <a:bodyPr/>
          <a:lstStyle/>
          <a:p>
            <a:pPr rtl="0"/>
            <a:fld id="{C3DB2ADC-AF19-4574-8C10-79B5B04FCA27}" type="slidenum">
              <a:rPr lang="es-ES" smtClean="0"/>
              <a:pPr rtl="0"/>
              <a:t>11</a:t>
            </a:fld>
            <a:endParaRPr lang="es-ES" dirty="0"/>
          </a:p>
        </p:txBody>
      </p:sp>
      <p:pic>
        <p:nvPicPr>
          <p:cNvPr id="6" name="Marcador de contenido 5">
            <a:extLst>
              <a:ext uri="{FF2B5EF4-FFF2-40B4-BE49-F238E27FC236}">
                <a16:creationId xmlns:a16="http://schemas.microsoft.com/office/drawing/2014/main" id="{18BA7D7A-03D5-42A0-94B2-2D6D8D9E4728}"/>
              </a:ext>
            </a:extLst>
          </p:cNvPr>
          <p:cNvPicPr>
            <a:picLocks noGrp="1"/>
          </p:cNvPicPr>
          <p:nvPr>
            <p:ph sz="quarter" idx="11"/>
          </p:nvPr>
        </p:nvPicPr>
        <p:blipFill>
          <a:blip r:embed="rId2"/>
          <a:stretch>
            <a:fillRect/>
          </a:stretch>
        </p:blipFill>
        <p:spPr>
          <a:xfrm>
            <a:off x="5968315" y="1519882"/>
            <a:ext cx="5766486" cy="4926810"/>
          </a:xfrm>
          <a:prstGeom prst="rect">
            <a:avLst/>
          </a:prstGeom>
        </p:spPr>
      </p:pic>
    </p:spTree>
    <p:extLst>
      <p:ext uri="{BB962C8B-B14F-4D97-AF65-F5344CB8AC3E}">
        <p14:creationId xmlns:p14="http://schemas.microsoft.com/office/powerpoint/2010/main" val="662239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2579778-3CAF-4A38-8075-E07AB621A791}"/>
              </a:ext>
            </a:extLst>
          </p:cNvPr>
          <p:cNvSpPr>
            <a:spLocks noGrp="1"/>
          </p:cNvSpPr>
          <p:nvPr>
            <p:ph type="ctrTitle"/>
          </p:nvPr>
        </p:nvSpPr>
        <p:spPr/>
        <p:txBody>
          <a:bodyPr/>
          <a:lstStyle/>
          <a:p>
            <a:r>
              <a:rPr lang="es-MX" dirty="0"/>
              <a:t>DENSIDAD DE LAS CARGAS </a:t>
            </a:r>
          </a:p>
        </p:txBody>
      </p:sp>
      <p:sp>
        <p:nvSpPr>
          <p:cNvPr id="3" name="Marcador de contenido 2">
            <a:extLst>
              <a:ext uri="{FF2B5EF4-FFF2-40B4-BE49-F238E27FC236}">
                <a16:creationId xmlns:a16="http://schemas.microsoft.com/office/drawing/2014/main" id="{87E39F30-2269-4912-9C0B-D9CCE1D97F66}"/>
              </a:ext>
            </a:extLst>
          </p:cNvPr>
          <p:cNvSpPr>
            <a:spLocks noGrp="1"/>
          </p:cNvSpPr>
          <p:nvPr>
            <p:ph sz="quarter" idx="14"/>
          </p:nvPr>
        </p:nvSpPr>
        <p:spPr>
          <a:xfrm>
            <a:off x="734591" y="1586641"/>
            <a:ext cx="4090757" cy="3903663"/>
          </a:xfrm>
        </p:spPr>
        <p:txBody>
          <a:bodyPr>
            <a:normAutofit/>
          </a:bodyPr>
          <a:lstStyle/>
          <a:p>
            <a:pPr marL="0" indent="0" algn="just">
              <a:buNone/>
            </a:pPr>
            <a:r>
              <a:rPr lang="es-MX" sz="1800" dirty="0">
                <a:effectLst/>
                <a:latin typeface="Arial" panose="020B0604020202020204" pitchFamily="34" charset="0"/>
                <a:ea typeface="Calibri" panose="020F0502020204030204" pitchFamily="34" charset="0"/>
              </a:rPr>
              <a:t>La densidad de cargas hace referencia a la cantidad de cargas explosivas distribuidas a lo largo de un cañón, medida por unidad de longitud.  Y está influenciada principalmente por el ritmo de producción deseado, así como por características del yacimiento como la permeabilidad de la formación y la longitud del intervalo que se va a disparar.</a:t>
            </a:r>
            <a:endParaRPr lang="es-MX" dirty="0"/>
          </a:p>
        </p:txBody>
      </p:sp>
      <p:sp>
        <p:nvSpPr>
          <p:cNvPr id="5" name="Marcador de número de diapositiva 4">
            <a:extLst>
              <a:ext uri="{FF2B5EF4-FFF2-40B4-BE49-F238E27FC236}">
                <a16:creationId xmlns:a16="http://schemas.microsoft.com/office/drawing/2014/main" id="{4BB69082-9B1D-4B1C-9D8E-5E1BD12149A2}"/>
              </a:ext>
            </a:extLst>
          </p:cNvPr>
          <p:cNvSpPr>
            <a:spLocks noGrp="1"/>
          </p:cNvSpPr>
          <p:nvPr>
            <p:ph type="sldNum" sz="quarter" idx="4"/>
          </p:nvPr>
        </p:nvSpPr>
        <p:spPr/>
        <p:txBody>
          <a:bodyPr/>
          <a:lstStyle/>
          <a:p>
            <a:pPr rtl="0"/>
            <a:fld id="{C3DB2ADC-AF19-4574-8C10-79B5B04FCA27}" type="slidenum">
              <a:rPr lang="es-ES" smtClean="0"/>
              <a:pPr rtl="0"/>
              <a:t>12</a:t>
            </a:fld>
            <a:endParaRPr lang="es-ES" dirty="0"/>
          </a:p>
        </p:txBody>
      </p:sp>
      <p:pic>
        <p:nvPicPr>
          <p:cNvPr id="6" name="Imagen 5">
            <a:extLst>
              <a:ext uri="{FF2B5EF4-FFF2-40B4-BE49-F238E27FC236}">
                <a16:creationId xmlns:a16="http://schemas.microsoft.com/office/drawing/2014/main" id="{D1587427-150D-44AA-A5B6-0C895BA7C17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825348" y="1445741"/>
            <a:ext cx="7086566" cy="4702647"/>
          </a:xfrm>
          <a:prstGeom prst="rect">
            <a:avLst/>
          </a:prstGeom>
          <a:noFill/>
          <a:ln>
            <a:noFill/>
          </a:ln>
        </p:spPr>
      </p:pic>
    </p:spTree>
    <p:extLst>
      <p:ext uri="{BB962C8B-B14F-4D97-AF65-F5344CB8AC3E}">
        <p14:creationId xmlns:p14="http://schemas.microsoft.com/office/powerpoint/2010/main" val="3577694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8E32776-CA8A-4D7B-899E-29A44F935554}"/>
              </a:ext>
            </a:extLst>
          </p:cNvPr>
          <p:cNvSpPr>
            <a:spLocks noGrp="1"/>
          </p:cNvSpPr>
          <p:nvPr>
            <p:ph type="ctrTitle"/>
          </p:nvPr>
        </p:nvSpPr>
        <p:spPr>
          <a:xfrm>
            <a:off x="710520" y="776873"/>
            <a:ext cx="5854182" cy="1286705"/>
          </a:xfrm>
        </p:spPr>
        <p:txBody>
          <a:bodyPr/>
          <a:lstStyle/>
          <a:p>
            <a:r>
              <a:rPr lang="es-MX" dirty="0"/>
              <a:t>PENETRACION Y DIAMETRO DEL AGUJERO. </a:t>
            </a:r>
          </a:p>
        </p:txBody>
      </p:sp>
      <p:sp>
        <p:nvSpPr>
          <p:cNvPr id="3" name="Subtítulo 2">
            <a:extLst>
              <a:ext uri="{FF2B5EF4-FFF2-40B4-BE49-F238E27FC236}">
                <a16:creationId xmlns:a16="http://schemas.microsoft.com/office/drawing/2014/main" id="{72FEB552-10D0-4969-8708-821A485EB205}"/>
              </a:ext>
            </a:extLst>
          </p:cNvPr>
          <p:cNvSpPr>
            <a:spLocks noGrp="1"/>
          </p:cNvSpPr>
          <p:nvPr>
            <p:ph type="subTitle" idx="1"/>
          </p:nvPr>
        </p:nvSpPr>
        <p:spPr>
          <a:xfrm>
            <a:off x="710520" y="2063578"/>
            <a:ext cx="5842218" cy="3027406"/>
          </a:xfrm>
        </p:spPr>
        <p:txBody>
          <a:bodyPr>
            <a:normAutofit/>
          </a:bodyPr>
          <a:lstStyle/>
          <a:p>
            <a:pPr algn="just"/>
            <a:r>
              <a:rPr lang="es-MX" sz="1800" dirty="0">
                <a:effectLst/>
                <a:latin typeface="Arial" panose="020B0604020202020204" pitchFamily="34" charset="0"/>
                <a:ea typeface="Calibri" panose="020F0502020204030204" pitchFamily="34" charset="0"/>
              </a:rPr>
              <a:t>La penetración en las operaciones de disparos depende del tipo de carga utilizada y del número de disparos por unidad de longitud configurado</a:t>
            </a:r>
            <a:r>
              <a:rPr lang="es-MX" sz="1800" dirty="0">
                <a:latin typeface="Arial" panose="020B0604020202020204" pitchFamily="34" charset="0"/>
                <a:ea typeface="Calibri" panose="020F0502020204030204" pitchFamily="34" charset="0"/>
                <a:cs typeface="Times New Roman" panose="02020603050405020304" pitchFamily="18" charset="0"/>
              </a:rPr>
              <a:t>.</a:t>
            </a:r>
            <a:r>
              <a:rPr lang="es-MX" sz="1800" dirty="0">
                <a:effectLst/>
                <a:latin typeface="Arial" panose="020B0604020202020204" pitchFamily="34" charset="0"/>
                <a:ea typeface="Calibri" panose="020F0502020204030204" pitchFamily="34" charset="0"/>
                <a:cs typeface="Times New Roman" panose="02020603050405020304" pitchFamily="18" charset="0"/>
              </a:rPr>
              <a:t> También influyen l</a:t>
            </a:r>
            <a:r>
              <a:rPr lang="es-MX" sz="1800" dirty="0">
                <a:latin typeface="Arial" panose="020B0604020202020204" pitchFamily="34" charset="0"/>
                <a:ea typeface="Calibri" panose="020F0502020204030204" pitchFamily="34" charset="0"/>
                <a:cs typeface="Times New Roman" panose="02020603050405020304" pitchFamily="18" charset="0"/>
              </a:rPr>
              <a:t>as </a:t>
            </a:r>
            <a:r>
              <a:rPr lang="es-MX" sz="1800" dirty="0">
                <a:effectLst/>
                <a:latin typeface="Arial" panose="020B0604020202020204" pitchFamily="34" charset="0"/>
                <a:ea typeface="Calibri" panose="020F0502020204030204" pitchFamily="34" charset="0"/>
                <a:cs typeface="Times New Roman" panose="02020603050405020304" pitchFamily="18" charset="0"/>
              </a:rPr>
              <a:t>propiedades mecánicas de la formación.</a:t>
            </a:r>
          </a:p>
          <a:p>
            <a:pPr algn="just"/>
            <a:r>
              <a:rPr lang="es-MX" sz="1800" dirty="0">
                <a:latin typeface="Arial" panose="020B0604020202020204" pitchFamily="34" charset="0"/>
                <a:ea typeface="Calibri" panose="020F0502020204030204" pitchFamily="34" charset="0"/>
                <a:cs typeface="Times New Roman" panose="02020603050405020304" pitchFamily="18" charset="0"/>
              </a:rPr>
              <a:t>L</a:t>
            </a:r>
            <a:r>
              <a:rPr lang="es-MX" sz="1800" dirty="0">
                <a:effectLst/>
                <a:latin typeface="Arial" panose="020B0604020202020204" pitchFamily="34" charset="0"/>
                <a:ea typeface="Calibri" panose="020F0502020204030204" pitchFamily="34" charset="0"/>
                <a:cs typeface="Times New Roman" panose="02020603050405020304" pitchFamily="18" charset="0"/>
              </a:rPr>
              <a:t>a penetración de los disparos disminuye a medida que aumenta la resistencia compresiva de la roca, estableciendo una correlación directa entre ambos factores. </a:t>
            </a:r>
            <a:r>
              <a:rPr lang="es-MX" sz="1800" dirty="0">
                <a:effectLst/>
                <a:latin typeface="Arial" panose="020B0604020202020204" pitchFamily="34" charset="0"/>
                <a:ea typeface="Calibri" panose="020F0502020204030204" pitchFamily="34" charset="0"/>
              </a:rPr>
              <a:t>Thompson (1962).</a:t>
            </a:r>
          </a:p>
          <a:p>
            <a:endParaRPr lang="es-MX" dirty="0"/>
          </a:p>
        </p:txBody>
      </p:sp>
      <mc:AlternateContent xmlns:mc="http://schemas.openxmlformats.org/markup-compatibility/2006">
        <mc:Choice xmlns:a14="http://schemas.microsoft.com/office/drawing/2010/main" Requires="a14">
          <p:sp>
            <p:nvSpPr>
              <p:cNvPr id="8" name="CuadroTexto 7">
                <a:extLst>
                  <a:ext uri="{FF2B5EF4-FFF2-40B4-BE49-F238E27FC236}">
                    <a16:creationId xmlns:a16="http://schemas.microsoft.com/office/drawing/2014/main" id="{BC45A3B4-B407-4C09-82E4-C6318C36D893}"/>
                  </a:ext>
                </a:extLst>
              </p:cNvPr>
              <p:cNvSpPr txBox="1"/>
              <p:nvPr/>
            </p:nvSpPr>
            <p:spPr>
              <a:xfrm>
                <a:off x="6564702" y="1285103"/>
                <a:ext cx="5359568" cy="3923831"/>
              </a:xfrm>
              <a:prstGeom prst="rect">
                <a:avLst/>
              </a:prstGeom>
              <a:noFill/>
            </p:spPr>
            <p:txBody>
              <a:bodyPr wrap="square">
                <a:spAutoFit/>
              </a:bodyPr>
              <a:lstStyle/>
              <a:p>
                <a:pPr algn="just">
                  <a:lnSpc>
                    <a:spcPct val="115000"/>
                  </a:lnSpc>
                  <a:spcAft>
                    <a:spcPts val="800"/>
                  </a:spcAft>
                </a:pPr>
                <a14:m>
                  <m:oMathPara xmlns:m="http://schemas.openxmlformats.org/officeDocument/2006/math">
                    <m:oMathParaPr>
                      <m:jc m:val="centerGroup"/>
                    </m:oMathParaPr>
                    <m:oMath xmlns:m="http://schemas.openxmlformats.org/officeDocument/2006/math">
                      <m:r>
                        <a:rPr lang="es-MX" sz="1800" i="1" smtClean="0">
                          <a:effectLst/>
                          <a:latin typeface="Cambria Math" panose="02040503050406030204" pitchFamily="18" charset="0"/>
                          <a:ea typeface="Calibri" panose="020F0502020204030204" pitchFamily="34" charset="0"/>
                          <a:cs typeface="Arial" panose="020B0604020202020204" pitchFamily="34" charset="0"/>
                        </a:rPr>
                        <m:t>𝐿𝑛</m:t>
                      </m:r>
                      <m:sSub>
                        <m:sSubPr>
                          <m:ctrlPr>
                            <a:rPr lang="es-MX" sz="1800" i="1">
                              <a:effectLst/>
                              <a:latin typeface="Cambria Math" panose="02040503050406030204" pitchFamily="18" charset="0"/>
                              <a:ea typeface="Calibri" panose="020F0502020204030204" pitchFamily="34" charset="0"/>
                              <a:cs typeface="Arial" panose="020B0604020202020204" pitchFamily="34" charset="0"/>
                            </a:rPr>
                          </m:ctrlPr>
                        </m:sSubPr>
                        <m:e>
                          <m:r>
                            <a:rPr lang="es-MX" sz="1800" b="0" i="1" smtClean="0">
                              <a:effectLst/>
                              <a:latin typeface="Cambria Math" panose="02040503050406030204" pitchFamily="18" charset="0"/>
                              <a:ea typeface="Calibri" panose="020F0502020204030204" pitchFamily="34" charset="0"/>
                              <a:cs typeface="Arial" panose="020B0604020202020204" pitchFamily="34" charset="0"/>
                            </a:rPr>
                            <m:t>𝑙</m:t>
                          </m:r>
                        </m:e>
                        <m:sub>
                          <m:r>
                            <a:rPr lang="es-MX" sz="1800" i="1">
                              <a:effectLst/>
                              <a:latin typeface="Cambria Math" panose="02040503050406030204" pitchFamily="18" charset="0"/>
                              <a:ea typeface="Calibri" panose="020F0502020204030204" pitchFamily="34" charset="0"/>
                              <a:cs typeface="Arial" panose="020B0604020202020204" pitchFamily="34" charset="0"/>
                            </a:rPr>
                            <m:t>𝑝𝑓</m:t>
                          </m:r>
                        </m:sub>
                      </m:sSub>
                      <m:r>
                        <a:rPr lang="es-MX" sz="1800" i="1">
                          <a:effectLst/>
                          <a:latin typeface="Cambria Math" panose="02040503050406030204" pitchFamily="18" charset="0"/>
                          <a:ea typeface="Calibri" panose="020F0502020204030204" pitchFamily="34" charset="0"/>
                          <a:cs typeface="Arial" panose="020B0604020202020204" pitchFamily="34" charset="0"/>
                        </a:rPr>
                        <m:t> =</m:t>
                      </m:r>
                      <m:r>
                        <a:rPr lang="es-MX" sz="1800" i="1">
                          <a:effectLst/>
                          <a:latin typeface="Cambria Math" panose="02040503050406030204" pitchFamily="18" charset="0"/>
                          <a:ea typeface="Calibri" panose="020F0502020204030204" pitchFamily="34" charset="0"/>
                          <a:cs typeface="Arial" panose="020B0604020202020204" pitchFamily="34" charset="0"/>
                        </a:rPr>
                        <m:t>𝐿𝑛</m:t>
                      </m:r>
                      <m:sSub>
                        <m:sSub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800" b="0" i="1" smtClean="0">
                              <a:effectLst/>
                              <a:latin typeface="Cambria Math" panose="02040503050406030204" pitchFamily="18" charset="0"/>
                              <a:ea typeface="Times New Roman" panose="02020603050405020304" pitchFamily="18" charset="0"/>
                              <a:cs typeface="Arial" panose="020B0604020202020204" pitchFamily="34" charset="0"/>
                            </a:rPr>
                            <m:t>𝑙</m:t>
                          </m:r>
                        </m:e>
                        <m:sub>
                          <m:r>
                            <a:rPr lang="es-MX" sz="1800" i="1">
                              <a:effectLst/>
                              <a:latin typeface="Cambria Math" panose="02040503050406030204" pitchFamily="18" charset="0"/>
                              <a:ea typeface="Times New Roman" panose="02020603050405020304" pitchFamily="18" charset="0"/>
                              <a:cs typeface="Arial" panose="020B0604020202020204" pitchFamily="34" charset="0"/>
                            </a:rPr>
                            <m:t>𝑝𝑠</m:t>
                          </m:r>
                        </m:sub>
                      </m:sSub>
                      <m:r>
                        <a:rPr lang="es-MX" sz="1800" i="1">
                          <a:effectLst/>
                          <a:latin typeface="Cambria Math" panose="02040503050406030204" pitchFamily="18" charset="0"/>
                          <a:ea typeface="Calibri" panose="020F0502020204030204" pitchFamily="34" charset="0"/>
                          <a:cs typeface="Arial" panose="020B0604020202020204" pitchFamily="34" charset="0"/>
                        </a:rPr>
                        <m:t> +0,086(</m:t>
                      </m:r>
                      <m:sSub>
                        <m:sSub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800" i="1">
                              <a:effectLst/>
                              <a:latin typeface="Cambria Math" panose="02040503050406030204" pitchFamily="18" charset="0"/>
                              <a:ea typeface="Times New Roman" panose="02020603050405020304" pitchFamily="18" charset="0"/>
                              <a:cs typeface="Arial" panose="020B0604020202020204" pitchFamily="34" charset="0"/>
                            </a:rPr>
                            <m:t>𝐶</m:t>
                          </m:r>
                        </m:e>
                        <m:sub>
                          <m:r>
                            <a:rPr lang="es-MX" sz="1800" i="1">
                              <a:effectLst/>
                              <a:latin typeface="Cambria Math" panose="02040503050406030204" pitchFamily="18" charset="0"/>
                              <a:ea typeface="Times New Roman" panose="02020603050405020304" pitchFamily="18" charset="0"/>
                              <a:cs typeface="Arial" panose="020B0604020202020204" pitchFamily="34" charset="0"/>
                            </a:rPr>
                            <m:t>𝑠</m:t>
                          </m:r>
                        </m:sub>
                      </m:sSub>
                      <m:r>
                        <a:rPr lang="es-MX" sz="1800" i="1">
                          <a:effectLst/>
                          <a:latin typeface="Cambria Math" panose="02040503050406030204" pitchFamily="18" charset="0"/>
                          <a:ea typeface="Calibri" panose="020F0502020204030204" pitchFamily="34" charset="0"/>
                          <a:cs typeface="Arial" panose="020B0604020202020204" pitchFamily="34" charset="0"/>
                        </a:rPr>
                        <m:t>−</m:t>
                      </m:r>
                      <m:sSub>
                        <m:sSub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800" i="1">
                              <a:effectLst/>
                              <a:latin typeface="Cambria Math" panose="02040503050406030204" pitchFamily="18" charset="0"/>
                              <a:ea typeface="Times New Roman" panose="02020603050405020304" pitchFamily="18" charset="0"/>
                              <a:cs typeface="Arial" panose="020B0604020202020204" pitchFamily="34" charset="0"/>
                            </a:rPr>
                            <m:t>𝐶</m:t>
                          </m:r>
                        </m:e>
                        <m:sub>
                          <m:r>
                            <a:rPr lang="es-MX" sz="1800" i="1">
                              <a:effectLst/>
                              <a:latin typeface="Cambria Math" panose="02040503050406030204" pitchFamily="18" charset="0"/>
                              <a:ea typeface="Times New Roman" panose="02020603050405020304" pitchFamily="18" charset="0"/>
                              <a:cs typeface="Arial" panose="020B0604020202020204" pitchFamily="34" charset="0"/>
                            </a:rPr>
                            <m:t>𝑓</m:t>
                          </m:r>
                        </m:sub>
                      </m:sSub>
                      <m:r>
                        <a:rPr lang="es-MX" sz="1800" i="1">
                          <a:effectLst/>
                          <a:latin typeface="Cambria Math" panose="02040503050406030204" pitchFamily="18" charset="0"/>
                          <a:ea typeface="Calibri" panose="020F0502020204030204" pitchFamily="34" charset="0"/>
                          <a:cs typeface="Arial" panose="020B0604020202020204" pitchFamily="34" charset="0"/>
                        </a:rPr>
                        <m:t>)</m:t>
                      </m:r>
                      <m:sSup>
                        <m:sSup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sSupPr>
                        <m:e>
                          <m:r>
                            <a:rPr lang="es-MX" sz="1800" i="1">
                              <a:effectLst/>
                              <a:latin typeface="Cambria Math" panose="02040503050406030204" pitchFamily="18" charset="0"/>
                              <a:ea typeface="Times New Roman" panose="02020603050405020304" pitchFamily="18" charset="0"/>
                              <a:cs typeface="Arial" panose="020B0604020202020204" pitchFamily="34" charset="0"/>
                            </a:rPr>
                            <m:t>𝑥</m:t>
                          </m:r>
                          <m:r>
                            <a:rPr lang="es-MX" sz="1800" i="1">
                              <a:effectLst/>
                              <a:latin typeface="Cambria Math" panose="02040503050406030204" pitchFamily="18" charset="0"/>
                              <a:ea typeface="Times New Roman" panose="02020603050405020304" pitchFamily="18" charset="0"/>
                              <a:cs typeface="Arial" panose="020B0604020202020204" pitchFamily="34" charset="0"/>
                            </a:rPr>
                            <m:t>10</m:t>
                          </m:r>
                        </m:e>
                        <m:sup>
                          <m:r>
                            <a:rPr lang="es-MX" sz="1800" i="1">
                              <a:effectLst/>
                              <a:latin typeface="Cambria Math" panose="02040503050406030204" pitchFamily="18" charset="0"/>
                              <a:ea typeface="Times New Roman" panose="02020603050405020304" pitchFamily="18" charset="0"/>
                              <a:cs typeface="Arial" panose="020B0604020202020204" pitchFamily="34" charset="0"/>
                            </a:rPr>
                            <m:t>−3</m:t>
                          </m:r>
                        </m:sup>
                      </m:sSup>
                    </m:oMath>
                  </m:oMathPara>
                </a14:m>
                <a:endParaRPr lang="es-MX" sz="1800" dirty="0">
                  <a:effectLst/>
                  <a:latin typeface="Arial" panose="020B0604020202020204" pitchFamily="34" charset="0"/>
                  <a:ea typeface="Times New Roman" panose="02020603050405020304" pitchFamily="18" charset="0"/>
                  <a:cs typeface="Times New Roman" panose="02020603050405020304" pitchFamily="18" charset="0"/>
                </a:endParaRPr>
              </a:p>
              <a:p>
                <a:pPr algn="just">
                  <a:lnSpc>
                    <a:spcPct val="115000"/>
                  </a:lnSpc>
                  <a:spcAft>
                    <a:spcPts val="800"/>
                  </a:spcAft>
                </a:pPr>
                <a:endParaRPr lang="es-MX" dirty="0">
                  <a:latin typeface="Arial" panose="020B0604020202020204" pitchFamily="34" charset="0"/>
                  <a:ea typeface="Times New Roman" panose="02020603050405020304" pitchFamily="18" charset="0"/>
                  <a:cs typeface="Times New Roman" panose="02020603050405020304" pitchFamily="18" charset="0"/>
                </a:endParaRPr>
              </a:p>
              <a:p>
                <a:pPr algn="just">
                  <a:lnSpc>
                    <a:spcPct val="115000"/>
                  </a:lnSpc>
                  <a:spcAft>
                    <a:spcPts val="800"/>
                  </a:spcAft>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Donde </a:t>
                </a:r>
                <a14:m>
                  <m:oMath xmlns:m="http://schemas.openxmlformats.org/officeDocument/2006/math">
                    <m:sSub>
                      <m:sSub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800" i="1">
                            <a:effectLst/>
                            <a:latin typeface="Cambria Math" panose="02040503050406030204" pitchFamily="18" charset="0"/>
                            <a:ea typeface="Times New Roman" panose="02020603050405020304" pitchFamily="18" charset="0"/>
                            <a:cs typeface="Arial" panose="020B0604020202020204" pitchFamily="34" charset="0"/>
                          </a:rPr>
                          <m:t>𝐶</m:t>
                        </m:r>
                      </m:e>
                      <m:sub>
                        <m:r>
                          <a:rPr lang="es-MX" sz="1800" i="1">
                            <a:effectLst/>
                            <a:latin typeface="Cambria Math" panose="02040503050406030204" pitchFamily="18" charset="0"/>
                            <a:ea typeface="Times New Roman" panose="02020603050405020304" pitchFamily="18" charset="0"/>
                            <a:cs typeface="Arial" panose="020B0604020202020204" pitchFamily="34" charset="0"/>
                          </a:rPr>
                          <m:t>𝑓𝑖</m:t>
                        </m:r>
                      </m:sub>
                    </m:sSub>
                  </m:oMath>
                </a14:m>
                <a:r>
                  <a:rPr lang="es-MX" sz="1800" dirty="0">
                    <a:effectLst/>
                    <a:latin typeface="Arial" panose="020B0604020202020204" pitchFamily="34" charset="0"/>
                    <a:ea typeface="Times New Roman" panose="02020603050405020304" pitchFamily="18" charset="0"/>
                    <a:cs typeface="Times New Roman" panose="02020603050405020304" pitchFamily="18" charset="0"/>
                  </a:rPr>
                  <a:t>: Es la resistencia compresiva de la roca de formación. </a:t>
                </a:r>
                <a:endParaRPr lang="es-MX" sz="16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s-MX" sz="1800" dirty="0" err="1">
                    <a:effectLst/>
                    <a:latin typeface="Arial" panose="020B0604020202020204" pitchFamily="34" charset="0"/>
                    <a:ea typeface="Calibri" panose="020F0502020204030204" pitchFamily="34" charset="0"/>
                    <a:cs typeface="Times New Roman" panose="02020603050405020304" pitchFamily="18" charset="0"/>
                  </a:rPr>
                  <a:t>lnperf</a:t>
                </a:r>
                <a:r>
                  <a:rPr lang="es-MX" sz="1800" dirty="0">
                    <a:effectLst/>
                    <a:latin typeface="Arial" panose="020B0604020202020204" pitchFamily="34" charset="0"/>
                    <a:ea typeface="Calibri" panose="020F0502020204030204" pitchFamily="34" charset="0"/>
                    <a:cs typeface="Times New Roman" panose="02020603050405020304" pitchFamily="18" charset="0"/>
                  </a:rPr>
                  <a:t>=Logaritmo natural de la longitud de perforación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pg</a:t>
                </a:r>
                <a:r>
                  <a:rPr lang="es-MX" sz="1800" dirty="0">
                    <a:effectLst/>
                    <a:latin typeface="Arial" panose="020B0604020202020204" pitchFamily="34" charset="0"/>
                    <a:ea typeface="Calibri" panose="020F0502020204030204" pitchFamily="34" charset="0"/>
                    <a:cs typeface="Times New Roman" panose="02020603050405020304" pitchFamily="18" charset="0"/>
                  </a:rPr>
                  <a:t>)</a:t>
                </a:r>
              </a:p>
              <a:p>
                <a:pPr algn="just">
                  <a:lnSpc>
                    <a:spcPct val="115000"/>
                  </a:lnSpc>
                  <a:spcAft>
                    <a:spcPts val="800"/>
                  </a:spcAft>
                </a:pPr>
                <a:r>
                  <a:rPr lang="es-MX" sz="1800" dirty="0" err="1">
                    <a:effectLst/>
                    <a:latin typeface="Arial" panose="020B0604020202020204" pitchFamily="34" charset="0"/>
                    <a:ea typeface="Calibri" panose="020F0502020204030204" pitchFamily="34" charset="0"/>
                    <a:cs typeface="Times New Roman" panose="02020603050405020304" pitchFamily="18" charset="0"/>
                  </a:rPr>
                  <a:t>lnps</a:t>
                </a:r>
                <a:r>
                  <a:rPr lang="es-MX" sz="1800" dirty="0">
                    <a:effectLst/>
                    <a:latin typeface="Arial" panose="020B0604020202020204" pitchFamily="34" charset="0"/>
                    <a:ea typeface="Calibri" panose="020F0502020204030204" pitchFamily="34" charset="0"/>
                    <a:cs typeface="Times New Roman" panose="02020603050405020304" pitchFamily="18" charset="0"/>
                  </a:rPr>
                  <a:t>=Logaritmo natural de la penetración estimada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pg</a:t>
                </a:r>
                <a:r>
                  <a:rPr lang="es-MX" sz="1800" dirty="0">
                    <a:effectLst/>
                    <a:latin typeface="Arial" panose="020B0604020202020204" pitchFamily="34" charset="0"/>
                    <a:ea typeface="Calibri" panose="020F0502020204030204" pitchFamily="34" charset="0"/>
                    <a:cs typeface="Times New Roman" panose="02020603050405020304" pitchFamily="18" charset="0"/>
                  </a:rPr>
                  <a:t>)</a:t>
                </a:r>
              </a:p>
              <a:p>
                <a:pPr algn="just">
                  <a:lnSpc>
                    <a:spcPct val="115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Cs=Resistencia compresiva del blanco (psi)</a:t>
                </a:r>
              </a:p>
              <a:p>
                <a:pPr algn="just">
                  <a:lnSpc>
                    <a:spcPct val="115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Cf=Resistencia compresiva de la formación (psi)</a:t>
                </a:r>
              </a:p>
            </p:txBody>
          </p:sp>
        </mc:Choice>
        <mc:Fallback>
          <p:sp>
            <p:nvSpPr>
              <p:cNvPr id="8" name="CuadroTexto 7">
                <a:extLst>
                  <a:ext uri="{FF2B5EF4-FFF2-40B4-BE49-F238E27FC236}">
                    <a16:creationId xmlns:a16="http://schemas.microsoft.com/office/drawing/2014/main" id="{BC45A3B4-B407-4C09-82E4-C6318C36D893}"/>
                  </a:ext>
                </a:extLst>
              </p:cNvPr>
              <p:cNvSpPr txBox="1">
                <a:spLocks noRot="1" noChangeAspect="1" noMove="1" noResize="1" noEditPoints="1" noAdjustHandles="1" noChangeArrowheads="1" noChangeShapeType="1" noTextEdit="1"/>
              </p:cNvSpPr>
              <p:nvPr/>
            </p:nvSpPr>
            <p:spPr>
              <a:xfrm>
                <a:off x="6564702" y="1285103"/>
                <a:ext cx="5359568" cy="3923831"/>
              </a:xfrm>
              <a:prstGeom prst="rect">
                <a:avLst/>
              </a:prstGeom>
              <a:blipFill>
                <a:blip r:embed="rId2"/>
                <a:stretch>
                  <a:fillRect l="-1024" r="-910" b="-1711"/>
                </a:stretch>
              </a:blipFill>
            </p:spPr>
            <p:txBody>
              <a:bodyPr/>
              <a:lstStyle/>
              <a:p>
                <a:r>
                  <a:rPr lang="es-MX">
                    <a:noFill/>
                  </a:rPr>
                  <a:t> </a:t>
                </a:r>
              </a:p>
            </p:txBody>
          </p:sp>
        </mc:Fallback>
      </mc:AlternateContent>
    </p:spTree>
    <p:extLst>
      <p:ext uri="{BB962C8B-B14F-4D97-AF65-F5344CB8AC3E}">
        <p14:creationId xmlns:p14="http://schemas.microsoft.com/office/powerpoint/2010/main" val="3644346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A31AAAD-A244-422F-8F4E-EF1027CC3B1F}"/>
              </a:ext>
            </a:extLst>
          </p:cNvPr>
          <p:cNvSpPr>
            <a:spLocks noGrp="1"/>
          </p:cNvSpPr>
          <p:nvPr>
            <p:ph sz="quarter" idx="10"/>
          </p:nvPr>
        </p:nvSpPr>
        <p:spPr>
          <a:xfrm>
            <a:off x="791238" y="1551677"/>
            <a:ext cx="5045105" cy="4233713"/>
          </a:xfrm>
        </p:spPr>
        <p:txBody>
          <a:bodyPr/>
          <a:lstStyle/>
          <a:p>
            <a:pPr algn="just"/>
            <a:r>
              <a:rPr lang="es-MX" sz="1800" dirty="0">
                <a:effectLst/>
                <a:latin typeface="Arial" panose="020B0604020202020204" pitchFamily="34" charset="0"/>
                <a:ea typeface="Calibri" panose="020F0502020204030204" pitchFamily="34" charset="0"/>
              </a:rPr>
              <a:t>El diámetro del agujero está relacionado con la abertura generada por el disparo tanto en el revestimiento como en el cemento y la formación. Así, la longitud corresponde a la profundidad alcanzada por la perforación, mientras que el diámetro es la medida transversal observable en las distintas secciones afectadas. </a:t>
            </a:r>
            <a:endParaRPr lang="es-MX" dirty="0"/>
          </a:p>
        </p:txBody>
      </p:sp>
      <p:sp>
        <p:nvSpPr>
          <p:cNvPr id="5" name="Marcador de número de diapositiva 4">
            <a:extLst>
              <a:ext uri="{FF2B5EF4-FFF2-40B4-BE49-F238E27FC236}">
                <a16:creationId xmlns:a16="http://schemas.microsoft.com/office/drawing/2014/main" id="{3284BED3-9A05-4553-9D3B-4CA145AA05D3}"/>
              </a:ext>
            </a:extLst>
          </p:cNvPr>
          <p:cNvSpPr>
            <a:spLocks noGrp="1"/>
          </p:cNvSpPr>
          <p:nvPr>
            <p:ph type="sldNum" sz="quarter" idx="4"/>
          </p:nvPr>
        </p:nvSpPr>
        <p:spPr/>
        <p:txBody>
          <a:bodyPr/>
          <a:lstStyle/>
          <a:p>
            <a:pPr rtl="0"/>
            <a:fld id="{C3DB2ADC-AF19-4574-8C10-79B5B04FCA27}" type="slidenum">
              <a:rPr lang="es-ES" smtClean="0"/>
              <a:pPr rtl="0"/>
              <a:t>14</a:t>
            </a:fld>
            <a:endParaRPr lang="es-ES" dirty="0"/>
          </a:p>
        </p:txBody>
      </p:sp>
      <p:pic>
        <p:nvPicPr>
          <p:cNvPr id="6" name="Marcador de contenido 5">
            <a:extLst>
              <a:ext uri="{FF2B5EF4-FFF2-40B4-BE49-F238E27FC236}">
                <a16:creationId xmlns:a16="http://schemas.microsoft.com/office/drawing/2014/main" id="{7347C9C5-12BB-4AD6-91D2-6067A640A4D6}"/>
              </a:ext>
            </a:extLst>
          </p:cNvPr>
          <p:cNvPicPr>
            <a:picLocks noGrp="1"/>
          </p:cNvPicPr>
          <p:nvPr>
            <p:ph sz="quarter" idx="11"/>
          </p:nvPr>
        </p:nvPicPr>
        <p:blipFill>
          <a:blip r:embed="rId2">
            <a:extLst>
              <a:ext uri="{28A0092B-C50C-407E-A947-70E740481C1C}">
                <a14:useLocalDpi xmlns:a14="http://schemas.microsoft.com/office/drawing/2010/main" val="0"/>
              </a:ext>
            </a:extLst>
          </a:blip>
          <a:srcRect/>
          <a:stretch>
            <a:fillRect/>
          </a:stretch>
        </p:blipFill>
        <p:spPr bwMode="auto">
          <a:xfrm>
            <a:off x="6096000" y="1573898"/>
            <a:ext cx="5304762" cy="2847619"/>
          </a:xfrm>
          <a:prstGeom prst="rect">
            <a:avLst/>
          </a:prstGeom>
          <a:noFill/>
          <a:ln>
            <a:noFill/>
          </a:ln>
        </p:spPr>
      </p:pic>
    </p:spTree>
    <p:extLst>
      <p:ext uri="{BB962C8B-B14F-4D97-AF65-F5344CB8AC3E}">
        <p14:creationId xmlns:p14="http://schemas.microsoft.com/office/powerpoint/2010/main" val="34804120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E8E498-C669-4A83-9D08-9111B945068F}"/>
              </a:ext>
            </a:extLst>
          </p:cNvPr>
          <p:cNvSpPr>
            <a:spLocks noGrp="1"/>
          </p:cNvSpPr>
          <p:nvPr>
            <p:ph type="ctrTitle"/>
          </p:nvPr>
        </p:nvSpPr>
        <p:spPr>
          <a:xfrm>
            <a:off x="710520" y="776873"/>
            <a:ext cx="5854182" cy="854219"/>
          </a:xfrm>
        </p:spPr>
        <p:txBody>
          <a:bodyPr/>
          <a:lstStyle/>
          <a:p>
            <a:r>
              <a:rPr lang="es-MX" dirty="0"/>
              <a:t>Fase ángulo</a:t>
            </a:r>
          </a:p>
        </p:txBody>
      </p:sp>
      <p:sp>
        <p:nvSpPr>
          <p:cNvPr id="3" name="Subtítulo 2">
            <a:extLst>
              <a:ext uri="{FF2B5EF4-FFF2-40B4-BE49-F238E27FC236}">
                <a16:creationId xmlns:a16="http://schemas.microsoft.com/office/drawing/2014/main" id="{5FD4D7C4-504D-49B1-8F95-6D24BC05482B}"/>
              </a:ext>
            </a:extLst>
          </p:cNvPr>
          <p:cNvSpPr>
            <a:spLocks noGrp="1"/>
          </p:cNvSpPr>
          <p:nvPr>
            <p:ph type="subTitle" idx="1"/>
          </p:nvPr>
        </p:nvSpPr>
        <p:spPr>
          <a:xfrm>
            <a:off x="710520" y="1753500"/>
            <a:ext cx="5842218" cy="1880552"/>
          </a:xfrm>
        </p:spPr>
        <p:txBody>
          <a:bodyPr>
            <a:normAutofit fontScale="92500" lnSpcReduction="10000"/>
          </a:bodyPr>
          <a:lstStyle/>
          <a:p>
            <a:pPr algn="just"/>
            <a:r>
              <a:rPr lang="es-MX" sz="1800" dirty="0">
                <a:effectLst/>
                <a:latin typeface="Arial" panose="020B0604020202020204" pitchFamily="34" charset="0"/>
                <a:ea typeface="Calibri" panose="020F0502020204030204" pitchFamily="34" charset="0"/>
              </a:rPr>
              <a:t>La fase angular se refiere a la magnitud de ángulo existente entre carga y carga. Los ángulos pueden ser de 0°, 30°, 45°, 60°, 90° y 180°. Este es un factor de gran importancia para la relación de productividad ya que dependiendo del ángulo de fase se ve afectada entre en un 10% y 12%.  </a:t>
            </a:r>
            <a:endParaRPr lang="es-MX" dirty="0"/>
          </a:p>
        </p:txBody>
      </p:sp>
      <p:pic>
        <p:nvPicPr>
          <p:cNvPr id="5" name="Imagen 4">
            <a:extLst>
              <a:ext uri="{FF2B5EF4-FFF2-40B4-BE49-F238E27FC236}">
                <a16:creationId xmlns:a16="http://schemas.microsoft.com/office/drawing/2014/main" id="{3A8EDCE0-4179-41CD-BABC-9C8DFECC6C5F}"/>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37323" y="301731"/>
            <a:ext cx="3607435" cy="2392045"/>
          </a:xfrm>
          <a:prstGeom prst="rect">
            <a:avLst/>
          </a:prstGeom>
          <a:noFill/>
          <a:ln>
            <a:noFill/>
          </a:ln>
        </p:spPr>
      </p:pic>
      <p:pic>
        <p:nvPicPr>
          <p:cNvPr id="7" name="Imagen 6">
            <a:extLst>
              <a:ext uri="{FF2B5EF4-FFF2-40B4-BE49-F238E27FC236}">
                <a16:creationId xmlns:a16="http://schemas.microsoft.com/office/drawing/2014/main" id="{15ADC7ED-41D4-4542-A303-3AA16DEF957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7315200" y="2734998"/>
            <a:ext cx="3587115" cy="2040890"/>
          </a:xfrm>
          <a:prstGeom prst="rect">
            <a:avLst/>
          </a:prstGeom>
          <a:noFill/>
          <a:ln>
            <a:noFill/>
          </a:ln>
        </p:spPr>
      </p:pic>
      <p:pic>
        <p:nvPicPr>
          <p:cNvPr id="8" name="Imagen 7">
            <a:extLst>
              <a:ext uri="{FF2B5EF4-FFF2-40B4-BE49-F238E27FC236}">
                <a16:creationId xmlns:a16="http://schemas.microsoft.com/office/drawing/2014/main" id="{BA91D452-70CE-4A34-8F96-6B909666EB4F}"/>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7337323" y="4801767"/>
            <a:ext cx="3529965" cy="1870710"/>
          </a:xfrm>
          <a:prstGeom prst="rect">
            <a:avLst/>
          </a:prstGeom>
          <a:noFill/>
          <a:ln>
            <a:noFill/>
          </a:ln>
        </p:spPr>
      </p:pic>
    </p:spTree>
    <p:extLst>
      <p:ext uri="{BB962C8B-B14F-4D97-AF65-F5344CB8AC3E}">
        <p14:creationId xmlns:p14="http://schemas.microsoft.com/office/powerpoint/2010/main" val="25145780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926708-0A28-4EF6-BB43-C12AA351BA58}"/>
              </a:ext>
            </a:extLst>
          </p:cNvPr>
          <p:cNvSpPr>
            <a:spLocks noGrp="1"/>
          </p:cNvSpPr>
          <p:nvPr>
            <p:ph type="title"/>
          </p:nvPr>
        </p:nvSpPr>
        <p:spPr/>
        <p:txBody>
          <a:bodyPr/>
          <a:lstStyle/>
          <a:p>
            <a:r>
              <a:rPr lang="es-MX" dirty="0"/>
              <a:t>Tipo de terminación </a:t>
            </a:r>
          </a:p>
        </p:txBody>
      </p:sp>
      <p:sp>
        <p:nvSpPr>
          <p:cNvPr id="3" name="Marcador de contenido 2">
            <a:extLst>
              <a:ext uri="{FF2B5EF4-FFF2-40B4-BE49-F238E27FC236}">
                <a16:creationId xmlns:a16="http://schemas.microsoft.com/office/drawing/2014/main" id="{0164136D-18EB-45F9-A41D-9B713647750A}"/>
              </a:ext>
            </a:extLst>
          </p:cNvPr>
          <p:cNvSpPr>
            <a:spLocks noGrp="1"/>
          </p:cNvSpPr>
          <p:nvPr>
            <p:ph sz="quarter" idx="10"/>
          </p:nvPr>
        </p:nvSpPr>
        <p:spPr>
          <a:xfrm>
            <a:off x="734591" y="1571110"/>
            <a:ext cx="5045105" cy="4233713"/>
          </a:xfrm>
        </p:spPr>
        <p:txBody>
          <a:bodyPr/>
          <a:lstStyle/>
          <a:p>
            <a:pPr algn="just"/>
            <a:r>
              <a:rPr lang="es-MX" sz="1800" dirty="0">
                <a:effectLst/>
                <a:latin typeface="Arial" panose="020B0604020202020204" pitchFamily="34" charset="0"/>
                <a:ea typeface="Times New Roman" panose="02020603050405020304" pitchFamily="18" charset="0"/>
              </a:rPr>
              <a:t>Como bien menciona PEMEX (2008) en su Guía de Diseño de Disparos, es fundamental conocer el método de terminación del pozo, ya que este influye directamente en la selección del sistema de disparos. </a:t>
            </a:r>
            <a:endParaRPr lang="es-MX" dirty="0"/>
          </a:p>
        </p:txBody>
      </p:sp>
      <p:sp>
        <p:nvSpPr>
          <p:cNvPr id="4" name="Marcador de contenido 3">
            <a:extLst>
              <a:ext uri="{FF2B5EF4-FFF2-40B4-BE49-F238E27FC236}">
                <a16:creationId xmlns:a16="http://schemas.microsoft.com/office/drawing/2014/main" id="{77E51BF8-9E08-4BC6-8566-2B074CBE82CF}"/>
              </a:ext>
            </a:extLst>
          </p:cNvPr>
          <p:cNvSpPr>
            <a:spLocks noGrp="1"/>
          </p:cNvSpPr>
          <p:nvPr>
            <p:ph sz="quarter" idx="11"/>
          </p:nvPr>
        </p:nvSpPr>
        <p:spPr>
          <a:xfrm>
            <a:off x="6320713" y="885481"/>
            <a:ext cx="5322496" cy="5688314"/>
          </a:xfrm>
        </p:spPr>
        <p:txBody>
          <a:bodyPr>
            <a:normAutofit fontScale="85000" lnSpcReduction="10000"/>
          </a:bodyPr>
          <a:lstStyle/>
          <a:p>
            <a:pPr marL="342900" lvl="0" indent="-342900" algn="just">
              <a:lnSpc>
                <a:spcPct val="115000"/>
              </a:lnSpc>
              <a:buFont typeface="Symbol" panose="05050102010706020507" pitchFamily="18" charset="2"/>
              <a:buChar char=""/>
            </a:pPr>
            <a:r>
              <a:rPr lang="es-MX" sz="1800" b="1" dirty="0">
                <a:effectLst/>
                <a:latin typeface="Arial" panose="020B0604020202020204" pitchFamily="34" charset="0"/>
                <a:ea typeface="Calibri" panose="020F0502020204030204" pitchFamily="34" charset="0"/>
                <a:cs typeface="Times New Roman" panose="02020603050405020304" pitchFamily="18" charset="0"/>
              </a:rPr>
              <a:t>Natural </a:t>
            </a:r>
          </a:p>
          <a:p>
            <a:pPr marL="457200" algn="just">
              <a:lnSpc>
                <a:spcPct val="115000"/>
              </a:lnSpc>
            </a:pPr>
            <a:r>
              <a:rPr lang="es-MX" sz="1800" dirty="0">
                <a:effectLst/>
                <a:latin typeface="Arial" panose="020B0604020202020204" pitchFamily="34" charset="0"/>
                <a:ea typeface="Calibri" panose="020F0502020204030204" pitchFamily="34" charset="0"/>
                <a:cs typeface="Times New Roman" panose="02020603050405020304" pitchFamily="18" charset="0"/>
              </a:rPr>
              <a:t>1.Diámetro de la perforación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pPr>
            <a:r>
              <a:rPr lang="es-MX" sz="1800" dirty="0">
                <a:effectLst/>
                <a:latin typeface="Arial" panose="020B0604020202020204" pitchFamily="34" charset="0"/>
                <a:ea typeface="Calibri" panose="020F0502020204030204" pitchFamily="34" charset="0"/>
                <a:cs typeface="Times New Roman" panose="02020603050405020304" pitchFamily="18" charset="0"/>
              </a:rPr>
              <a:t>2.Densidad de cargas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pPr>
            <a:r>
              <a:rPr lang="es-MX" sz="1800" dirty="0">
                <a:effectLst/>
                <a:latin typeface="Arial" panose="020B0604020202020204" pitchFamily="34" charset="0"/>
                <a:ea typeface="Calibri" panose="020F0502020204030204" pitchFamily="34" charset="0"/>
                <a:cs typeface="Times New Roman" panose="02020603050405020304" pitchFamily="18" charset="0"/>
              </a:rPr>
              <a:t>3.Fase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4.Penetración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buFont typeface="Symbol" panose="05050102010706020507" pitchFamily="18" charset="2"/>
              <a:buChar char=""/>
            </a:pPr>
            <a:r>
              <a:rPr lang="es-MX" sz="1800" b="1" dirty="0">
                <a:effectLst/>
                <a:latin typeface="Arial" panose="020B0604020202020204" pitchFamily="34" charset="0"/>
                <a:ea typeface="Calibri" panose="020F0502020204030204" pitchFamily="34" charset="0"/>
                <a:cs typeface="Times New Roman" panose="02020603050405020304" pitchFamily="18" charset="0"/>
              </a:rPr>
              <a:t>Control de arena </a:t>
            </a:r>
          </a:p>
          <a:p>
            <a:pPr marL="457200" algn="just">
              <a:lnSpc>
                <a:spcPct val="115000"/>
              </a:lnSpc>
            </a:pPr>
            <a:r>
              <a:rPr lang="es-MX" sz="1800" dirty="0">
                <a:effectLst/>
                <a:latin typeface="Arial" panose="020B0604020202020204" pitchFamily="34" charset="0"/>
                <a:ea typeface="Calibri" panose="020F0502020204030204" pitchFamily="34" charset="0"/>
                <a:cs typeface="Times New Roman" panose="02020603050405020304" pitchFamily="18" charset="0"/>
              </a:rPr>
              <a:t>1.Diámetro de la perforación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pPr>
            <a:r>
              <a:rPr lang="es-MX" sz="1800" dirty="0">
                <a:effectLst/>
                <a:latin typeface="Arial" panose="020B0604020202020204" pitchFamily="34" charset="0"/>
                <a:ea typeface="Calibri" panose="020F0502020204030204" pitchFamily="34" charset="0"/>
                <a:cs typeface="Times New Roman" panose="02020603050405020304" pitchFamily="18" charset="0"/>
              </a:rPr>
              <a:t>2.Densidad de cargas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3.Fase </a:t>
            </a:r>
          </a:p>
          <a:p>
            <a:pPr marL="457200" algn="just">
              <a:lnSpc>
                <a:spcPct val="115000"/>
              </a:lnSpc>
              <a:spcAft>
                <a:spcPts val="800"/>
              </a:spcAft>
            </a:pPr>
            <a:r>
              <a:rPr lang="es-MX" sz="1800" dirty="0">
                <a:effectLst/>
                <a:latin typeface="Arial" panose="020B0604020202020204" pitchFamily="34" charset="0"/>
                <a:ea typeface="Calibri" panose="020F0502020204030204" pitchFamily="34" charset="0"/>
              </a:rPr>
              <a:t>4.Penetración.</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800"/>
              </a:spcAft>
              <a:buFont typeface="Symbol" panose="05050102010706020507" pitchFamily="18" charset="2"/>
              <a:buChar char=""/>
            </a:pPr>
            <a:r>
              <a:rPr lang="es-MX" sz="1800" b="1" dirty="0">
                <a:effectLst/>
                <a:latin typeface="Arial" panose="020B0604020202020204" pitchFamily="34" charset="0"/>
                <a:ea typeface="Calibri" panose="020F0502020204030204" pitchFamily="34" charset="0"/>
                <a:cs typeface="Times New Roman" panose="02020603050405020304" pitchFamily="18" charset="0"/>
              </a:rPr>
              <a:t>Estimulación</a:t>
            </a:r>
            <a:r>
              <a:rPr lang="es-MX" sz="1800" dirty="0">
                <a:effectLst/>
                <a:latin typeface="Arial" panose="020B0604020202020204" pitchFamily="34" charset="0"/>
                <a:ea typeface="Calibri" panose="020F0502020204030204" pitchFamily="34" charset="0"/>
                <a:cs typeface="Times New Roman" panose="02020603050405020304" pitchFamily="18" charset="0"/>
              </a:rPr>
              <a:t> </a:t>
            </a:r>
            <a:r>
              <a:rPr lang="es-MX" sz="1800" dirty="0">
                <a:effectLst/>
                <a:latin typeface="Arial" panose="020B0604020202020204" pitchFamily="34" charset="0"/>
                <a:ea typeface="Times New Roman" panose="02020603050405020304" pitchFamily="18" charset="0"/>
                <a:cs typeface="Times New Roman" panose="02020603050405020304" pitchFamily="18" charset="0"/>
              </a:rPr>
              <a:t> </a:t>
            </a:r>
          </a:p>
          <a:p>
            <a:pPr marL="457200" algn="just">
              <a:lnSpc>
                <a:spcPct val="115000"/>
              </a:lnSpc>
            </a:pPr>
            <a:r>
              <a:rPr lang="es-MX" sz="1800" dirty="0">
                <a:effectLst/>
                <a:latin typeface="Arial" panose="020B0604020202020204" pitchFamily="34" charset="0"/>
                <a:ea typeface="Calibri" panose="020F0502020204030204" pitchFamily="34" charset="0"/>
                <a:cs typeface="Times New Roman" panose="02020603050405020304" pitchFamily="18" charset="0"/>
              </a:rPr>
              <a:t>1.Fase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pPr>
            <a:r>
              <a:rPr lang="es-MX" sz="1800" dirty="0">
                <a:effectLst/>
                <a:latin typeface="Arial" panose="020B0604020202020204" pitchFamily="34" charset="0"/>
                <a:ea typeface="Calibri" panose="020F0502020204030204" pitchFamily="34" charset="0"/>
                <a:cs typeface="Times New Roman" panose="02020603050405020304" pitchFamily="18" charset="0"/>
              </a:rPr>
              <a:t>2.Densidad de cargas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pPr>
            <a:r>
              <a:rPr lang="es-MX" sz="1800" dirty="0">
                <a:effectLst/>
                <a:latin typeface="Arial" panose="020B0604020202020204" pitchFamily="34" charset="0"/>
                <a:ea typeface="Calibri" panose="020F0502020204030204" pitchFamily="34" charset="0"/>
                <a:cs typeface="Times New Roman" panose="02020603050405020304" pitchFamily="18" charset="0"/>
              </a:rPr>
              <a:t>3.Diámetro del agujero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4.Penetración</a:t>
            </a:r>
            <a:r>
              <a:rPr lang="es-MX" sz="1800" dirty="0">
                <a:effectLst/>
                <a:latin typeface="Arial" panose="020B0604020202020204" pitchFamily="34" charset="0"/>
                <a:ea typeface="Times New Roman" panose="02020603050405020304" pitchFamily="18" charset="0"/>
                <a:cs typeface="Times New Roman" panose="02020603050405020304" pitchFamily="18" charset="0"/>
              </a:rPr>
              <a:t>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Marcador de número de diapositiva 4">
            <a:extLst>
              <a:ext uri="{FF2B5EF4-FFF2-40B4-BE49-F238E27FC236}">
                <a16:creationId xmlns:a16="http://schemas.microsoft.com/office/drawing/2014/main" id="{B16F94E7-0805-4D5D-AAD8-023EB737D350}"/>
              </a:ext>
            </a:extLst>
          </p:cNvPr>
          <p:cNvSpPr>
            <a:spLocks noGrp="1"/>
          </p:cNvSpPr>
          <p:nvPr>
            <p:ph type="sldNum" sz="quarter" idx="4"/>
          </p:nvPr>
        </p:nvSpPr>
        <p:spPr/>
        <p:txBody>
          <a:bodyPr/>
          <a:lstStyle/>
          <a:p>
            <a:pPr rtl="0"/>
            <a:fld id="{C3DB2ADC-AF19-4574-8C10-79B5B04FCA27}" type="slidenum">
              <a:rPr lang="es-ES" smtClean="0"/>
              <a:pPr rtl="0"/>
              <a:t>16</a:t>
            </a:fld>
            <a:endParaRPr lang="es-ES" dirty="0"/>
          </a:p>
        </p:txBody>
      </p:sp>
      <p:cxnSp>
        <p:nvCxnSpPr>
          <p:cNvPr id="8" name="Conector recto 7">
            <a:extLst>
              <a:ext uri="{FF2B5EF4-FFF2-40B4-BE49-F238E27FC236}">
                <a16:creationId xmlns:a16="http://schemas.microsoft.com/office/drawing/2014/main" id="{0917FDB6-3BBB-4960-B41D-660087A116E2}"/>
              </a:ext>
            </a:extLst>
          </p:cNvPr>
          <p:cNvCxnSpPr/>
          <p:nvPr/>
        </p:nvCxnSpPr>
        <p:spPr>
          <a:xfrm>
            <a:off x="6096000" y="885481"/>
            <a:ext cx="0" cy="568831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51962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271F32-92BE-410A-9CF8-3B8989CE707D}"/>
              </a:ext>
            </a:extLst>
          </p:cNvPr>
          <p:cNvSpPr>
            <a:spLocks noGrp="1"/>
          </p:cNvSpPr>
          <p:nvPr>
            <p:ph type="title"/>
          </p:nvPr>
        </p:nvSpPr>
        <p:spPr/>
        <p:txBody>
          <a:bodyPr/>
          <a:lstStyle/>
          <a:p>
            <a:r>
              <a:rPr lang="es-MX" dirty="0"/>
              <a:t>DESARROLLO DEL PROYECTO</a:t>
            </a:r>
          </a:p>
        </p:txBody>
      </p:sp>
    </p:spTree>
    <p:extLst>
      <p:ext uri="{BB962C8B-B14F-4D97-AF65-F5344CB8AC3E}">
        <p14:creationId xmlns:p14="http://schemas.microsoft.com/office/powerpoint/2010/main" val="16578507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C60829-E297-4051-8BFB-E388BA4F96A0}"/>
              </a:ext>
            </a:extLst>
          </p:cNvPr>
          <p:cNvSpPr>
            <a:spLocks noGrp="1"/>
          </p:cNvSpPr>
          <p:nvPr>
            <p:ph type="title"/>
          </p:nvPr>
        </p:nvSpPr>
        <p:spPr/>
        <p:txBody>
          <a:bodyPr/>
          <a:lstStyle/>
          <a:p>
            <a:r>
              <a:rPr lang="es-MX" dirty="0"/>
              <a:t>MATRIZ DE ESCENARIOS</a:t>
            </a:r>
          </a:p>
        </p:txBody>
      </p:sp>
      <p:sp>
        <p:nvSpPr>
          <p:cNvPr id="5" name="Marcador de número de diapositiva 4">
            <a:extLst>
              <a:ext uri="{FF2B5EF4-FFF2-40B4-BE49-F238E27FC236}">
                <a16:creationId xmlns:a16="http://schemas.microsoft.com/office/drawing/2014/main" id="{B1D0E56E-3138-49BA-AC1A-DBF3BCF5C82A}"/>
              </a:ext>
            </a:extLst>
          </p:cNvPr>
          <p:cNvSpPr>
            <a:spLocks noGrp="1"/>
          </p:cNvSpPr>
          <p:nvPr>
            <p:ph type="sldNum" sz="quarter" idx="4"/>
          </p:nvPr>
        </p:nvSpPr>
        <p:spPr/>
        <p:txBody>
          <a:bodyPr/>
          <a:lstStyle/>
          <a:p>
            <a:pPr rtl="0"/>
            <a:fld id="{C3DB2ADC-AF19-4574-8C10-79B5B04FCA27}" type="slidenum">
              <a:rPr lang="es-ES" smtClean="0"/>
              <a:pPr rtl="0"/>
              <a:t>18</a:t>
            </a:fld>
            <a:endParaRPr lang="es-ES" dirty="0"/>
          </a:p>
        </p:txBody>
      </p:sp>
      <p:grpSp>
        <p:nvGrpSpPr>
          <p:cNvPr id="6" name="Grupo 5">
            <a:extLst>
              <a:ext uri="{FF2B5EF4-FFF2-40B4-BE49-F238E27FC236}">
                <a16:creationId xmlns:a16="http://schemas.microsoft.com/office/drawing/2014/main" id="{06EBB608-88E6-413E-88DE-678B5B0F2F07}"/>
              </a:ext>
            </a:extLst>
          </p:cNvPr>
          <p:cNvGrpSpPr/>
          <p:nvPr/>
        </p:nvGrpSpPr>
        <p:grpSpPr>
          <a:xfrm>
            <a:off x="734591" y="1915297"/>
            <a:ext cx="10722818" cy="2777480"/>
            <a:chOff x="0" y="0"/>
            <a:chExt cx="6903720" cy="1595755"/>
          </a:xfrm>
        </p:grpSpPr>
        <p:pic>
          <p:nvPicPr>
            <p:cNvPr id="7" name="Imagen 6">
              <a:extLst>
                <a:ext uri="{FF2B5EF4-FFF2-40B4-BE49-F238E27FC236}">
                  <a16:creationId xmlns:a16="http://schemas.microsoft.com/office/drawing/2014/main" id="{13522F84-540D-43C3-86BB-1A687754F57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6903720" cy="1595755"/>
            </a:xfrm>
            <a:prstGeom prst="rect">
              <a:avLst/>
            </a:prstGeom>
            <a:noFill/>
            <a:ln>
              <a:noFill/>
            </a:ln>
          </p:spPr>
        </p:pic>
        <p:grpSp>
          <p:nvGrpSpPr>
            <p:cNvPr id="8" name="Grupo 7">
              <a:extLst>
                <a:ext uri="{FF2B5EF4-FFF2-40B4-BE49-F238E27FC236}">
                  <a16:creationId xmlns:a16="http://schemas.microsoft.com/office/drawing/2014/main" id="{3A895B58-7B1A-47D4-9C04-EC5FDA68446A}"/>
                </a:ext>
              </a:extLst>
            </p:cNvPr>
            <p:cNvGrpSpPr/>
            <p:nvPr/>
          </p:nvGrpSpPr>
          <p:grpSpPr>
            <a:xfrm>
              <a:off x="500332" y="305519"/>
              <a:ext cx="5926347" cy="1196724"/>
              <a:chOff x="0" y="0"/>
              <a:chExt cx="5926347" cy="1196724"/>
            </a:xfrm>
          </p:grpSpPr>
          <p:cxnSp>
            <p:nvCxnSpPr>
              <p:cNvPr id="9" name="Conector recto de flecha 8">
                <a:extLst>
                  <a:ext uri="{FF2B5EF4-FFF2-40B4-BE49-F238E27FC236}">
                    <a16:creationId xmlns:a16="http://schemas.microsoft.com/office/drawing/2014/main" id="{13897436-D179-49B3-AF32-5F0A71246428}"/>
                  </a:ext>
                </a:extLst>
              </p:cNvPr>
              <p:cNvCxnSpPr/>
              <p:nvPr/>
            </p:nvCxnSpPr>
            <p:spPr>
              <a:xfrm>
                <a:off x="0" y="395378"/>
                <a:ext cx="560717"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Conector recto de flecha 9">
                <a:extLst>
                  <a:ext uri="{FF2B5EF4-FFF2-40B4-BE49-F238E27FC236}">
                    <a16:creationId xmlns:a16="http://schemas.microsoft.com/office/drawing/2014/main" id="{D1D4C96D-6C62-4928-A741-CAC935620542}"/>
                  </a:ext>
                </a:extLst>
              </p:cNvPr>
              <p:cNvCxnSpPr/>
              <p:nvPr/>
            </p:nvCxnSpPr>
            <p:spPr>
              <a:xfrm flipV="1">
                <a:off x="940279" y="227881"/>
                <a:ext cx="250166" cy="16246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Conector recto de flecha 10">
                <a:extLst>
                  <a:ext uri="{FF2B5EF4-FFF2-40B4-BE49-F238E27FC236}">
                    <a16:creationId xmlns:a16="http://schemas.microsoft.com/office/drawing/2014/main" id="{6D5C5B62-0895-4B53-A188-F272F98A234C}"/>
                  </a:ext>
                </a:extLst>
              </p:cNvPr>
              <p:cNvCxnSpPr/>
              <p:nvPr/>
            </p:nvCxnSpPr>
            <p:spPr>
              <a:xfrm>
                <a:off x="1751162" y="198408"/>
                <a:ext cx="310551" cy="41245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Conector recto de flecha 11">
                <a:extLst>
                  <a:ext uri="{FF2B5EF4-FFF2-40B4-BE49-F238E27FC236}">
                    <a16:creationId xmlns:a16="http://schemas.microsoft.com/office/drawing/2014/main" id="{B01460EA-59FE-4972-8823-2CA59C255C28}"/>
                  </a:ext>
                </a:extLst>
              </p:cNvPr>
              <p:cNvCxnSpPr/>
              <p:nvPr/>
            </p:nvCxnSpPr>
            <p:spPr>
              <a:xfrm flipV="1">
                <a:off x="2544792" y="548856"/>
                <a:ext cx="379563" cy="4571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Conector recto de flecha 12">
                <a:extLst>
                  <a:ext uri="{FF2B5EF4-FFF2-40B4-BE49-F238E27FC236}">
                    <a16:creationId xmlns:a16="http://schemas.microsoft.com/office/drawing/2014/main" id="{E945BC73-A851-4FDB-83C3-E54FBDCE0A6F}"/>
                  </a:ext>
                </a:extLst>
              </p:cNvPr>
              <p:cNvCxnSpPr/>
              <p:nvPr/>
            </p:nvCxnSpPr>
            <p:spPr>
              <a:xfrm flipV="1">
                <a:off x="3217653" y="12221"/>
                <a:ext cx="534837" cy="602567"/>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Conector recto de flecha 13">
                <a:extLst>
                  <a:ext uri="{FF2B5EF4-FFF2-40B4-BE49-F238E27FC236}">
                    <a16:creationId xmlns:a16="http://schemas.microsoft.com/office/drawing/2014/main" id="{9C99D2AC-B054-4C4B-B026-3491E715FCD0}"/>
                  </a:ext>
                </a:extLst>
              </p:cNvPr>
              <p:cNvCxnSpPr/>
              <p:nvPr/>
            </p:nvCxnSpPr>
            <p:spPr>
              <a:xfrm>
                <a:off x="4399472" y="0"/>
                <a:ext cx="499780" cy="119672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Conector recto de flecha 14">
                <a:extLst>
                  <a:ext uri="{FF2B5EF4-FFF2-40B4-BE49-F238E27FC236}">
                    <a16:creationId xmlns:a16="http://schemas.microsoft.com/office/drawing/2014/main" id="{65367C29-A05D-4F91-91A2-C2BA773A9258}"/>
                  </a:ext>
                </a:extLst>
              </p:cNvPr>
              <p:cNvCxnSpPr/>
              <p:nvPr/>
            </p:nvCxnSpPr>
            <p:spPr>
              <a:xfrm flipV="1">
                <a:off x="5193102" y="12221"/>
                <a:ext cx="733245" cy="1152345"/>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7075593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E7FFD4E-549B-49D9-941B-ABF63BA611C1}"/>
              </a:ext>
            </a:extLst>
          </p:cNvPr>
          <p:cNvSpPr>
            <a:spLocks noGrp="1"/>
          </p:cNvSpPr>
          <p:nvPr>
            <p:ph sz="quarter" idx="10"/>
          </p:nvPr>
        </p:nvSpPr>
        <p:spPr>
          <a:xfrm>
            <a:off x="734593" y="815547"/>
            <a:ext cx="11041396" cy="5540803"/>
          </a:xfrm>
        </p:spPr>
        <p:txBody>
          <a:bodyPr>
            <a:normAutofit lnSpcReduction="10000"/>
          </a:bodyPr>
          <a:lstStyle/>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El diseño de disparos es  un proceso que depende de muchas variables  por lo que al  momento de cuantificar los escenarios es un numero inviable de presentar, más porque no existe un método universal y menos si lo que nos interesa en estos casos es el impacto del diseño de los disparos en la productividad, la elección del escenario correcto dependerá  en este caso del pozo y sus cualidades petrofísicas como temperatura del pozo como el tiempo que tardaría bajar  el explosivo para considerar cual de los explosivos es el correcto buscando el menor costo, factores como la formación , el tipo de carga  y el tipo de terminación de igual manera reflejaran alteraciones en el diseño. La fase y la densidad se determina después de calcular la longitud de perforación. Todos estos factores afectan al Daño generado por el factor skin lo que principalmente afecta la productividad.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Por todos estos factores es que se decidió desarrollar el programa en Python a diferencia de otros su facilidad de uso, su sintaxis clara y su amplia disponibilidad de bibliotecas especializadas para el cálculo técnico y la creación de interfaces gráficas lo hace la elección más adecuada. A diferencia de lenguajes como Java o C++, Python permite un desarrollo ágil y un prototipado rápido, lo cual resulta esencial en un proyecto con recursos limitados y un cronograma ajustado. Además, su ecosistema científico y de ingeniería con librerías como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NumPy</a:t>
            </a:r>
            <a:r>
              <a:rPr lang="es-MX" sz="1800" dirty="0">
                <a:effectLst/>
                <a:latin typeface="Arial" panose="020B0604020202020204" pitchFamily="34" charset="0"/>
                <a:ea typeface="Calibri" panose="020F0502020204030204" pitchFamily="34" charset="0"/>
                <a:cs typeface="Times New Roman" panose="02020603050405020304" pitchFamily="18" charset="0"/>
              </a:rPr>
              <a:t>, Pandas,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Matplotlib</a:t>
            </a:r>
            <a:r>
              <a:rPr lang="es-MX" sz="1800" dirty="0">
                <a:effectLst/>
                <a:latin typeface="Arial" panose="020B0604020202020204" pitchFamily="34" charset="0"/>
                <a:ea typeface="Calibri" panose="020F0502020204030204" pitchFamily="34" charset="0"/>
                <a:cs typeface="Times New Roman" panose="02020603050405020304" pitchFamily="18" charset="0"/>
              </a:rPr>
              <a:t> y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Tkinter</a:t>
            </a:r>
            <a:r>
              <a:rPr lang="es-MX" sz="1800" dirty="0">
                <a:effectLst/>
                <a:latin typeface="Arial" panose="020B0604020202020204" pitchFamily="34" charset="0"/>
                <a:ea typeface="Calibri" panose="020F0502020204030204" pitchFamily="34" charset="0"/>
                <a:cs typeface="Times New Roman" panose="02020603050405020304" pitchFamily="18" charset="0"/>
              </a:rPr>
              <a:t>, lo convierte en una herramienta ideal para representar gráficamente resultados técnicos y simular escenarios en contextos de ingeniería petrolera. Adicional al desarrollar el programa de código abierto permitiría su futura mejora o integración por parte de otros profesionales o estudiantes.</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MX" dirty="0"/>
          </a:p>
        </p:txBody>
      </p:sp>
      <p:sp>
        <p:nvSpPr>
          <p:cNvPr id="5" name="Marcador de número de diapositiva 4">
            <a:extLst>
              <a:ext uri="{FF2B5EF4-FFF2-40B4-BE49-F238E27FC236}">
                <a16:creationId xmlns:a16="http://schemas.microsoft.com/office/drawing/2014/main" id="{F3EB94CA-FCF4-4B4A-BA80-77982407A0DC}"/>
              </a:ext>
            </a:extLst>
          </p:cNvPr>
          <p:cNvSpPr>
            <a:spLocks noGrp="1"/>
          </p:cNvSpPr>
          <p:nvPr>
            <p:ph type="sldNum" sz="quarter" idx="4"/>
          </p:nvPr>
        </p:nvSpPr>
        <p:spPr/>
        <p:txBody>
          <a:bodyPr/>
          <a:lstStyle/>
          <a:p>
            <a:pPr rtl="0"/>
            <a:fld id="{C3DB2ADC-AF19-4574-8C10-79B5B04FCA27}" type="slidenum">
              <a:rPr lang="es-ES" smtClean="0"/>
              <a:pPr rtl="0"/>
              <a:t>19</a:t>
            </a:fld>
            <a:endParaRPr lang="es-ES" dirty="0"/>
          </a:p>
        </p:txBody>
      </p:sp>
    </p:spTree>
    <p:extLst>
      <p:ext uri="{BB962C8B-B14F-4D97-AF65-F5344CB8AC3E}">
        <p14:creationId xmlns:p14="http://schemas.microsoft.com/office/powerpoint/2010/main" val="21659101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B13A98-189A-4A6A-BFFB-AB3A12CBFB37}"/>
              </a:ext>
            </a:extLst>
          </p:cNvPr>
          <p:cNvSpPr>
            <a:spLocks noGrp="1"/>
          </p:cNvSpPr>
          <p:nvPr>
            <p:ph type="title"/>
          </p:nvPr>
        </p:nvSpPr>
        <p:spPr>
          <a:xfrm>
            <a:off x="705934" y="649759"/>
            <a:ext cx="3503757" cy="5316415"/>
          </a:xfrm>
        </p:spPr>
        <p:txBody>
          <a:bodyPr/>
          <a:lstStyle/>
          <a:p>
            <a:r>
              <a:rPr lang="es-MX" dirty="0"/>
              <a:t>METODOLOGIA DEL DISEÑO DE DISPAROS</a:t>
            </a:r>
          </a:p>
        </p:txBody>
      </p:sp>
      <p:sp>
        <p:nvSpPr>
          <p:cNvPr id="3" name="Marcador de contenido 2">
            <a:extLst>
              <a:ext uri="{FF2B5EF4-FFF2-40B4-BE49-F238E27FC236}">
                <a16:creationId xmlns:a16="http://schemas.microsoft.com/office/drawing/2014/main" id="{901E21FC-66EE-4DA5-B493-5EEAF056F745}"/>
              </a:ext>
            </a:extLst>
          </p:cNvPr>
          <p:cNvSpPr>
            <a:spLocks noGrp="1"/>
          </p:cNvSpPr>
          <p:nvPr>
            <p:ph sz="quarter" idx="10"/>
          </p:nvPr>
        </p:nvSpPr>
        <p:spPr>
          <a:xfrm>
            <a:off x="5582734" y="1435385"/>
            <a:ext cx="5903332" cy="3987230"/>
          </a:xfrm>
        </p:spPr>
        <p:txBody>
          <a:bodyPr/>
          <a:lstStyle/>
          <a:p>
            <a:pPr algn="just"/>
            <a:r>
              <a:rPr lang="es-MX" sz="1800" dirty="0">
                <a:effectLst/>
                <a:latin typeface="Arial" panose="020B0604020202020204" pitchFamily="34" charset="0"/>
                <a:ea typeface="Calibri" panose="020F0502020204030204" pitchFamily="34" charset="0"/>
                <a:cs typeface="Times New Roman" panose="02020603050405020304" pitchFamily="18" charset="0"/>
              </a:rPr>
              <a:t>Hablando de diseño de disparos como ya hemos dicho no hay una metodología establecida por algún autor que nos indique los pasos a seguir, los cálculos y las elecciones seleccionar el método adecuado de disparo en un pozo, es por eso que nos basamos en las metodologías utilizada por Sebastián Celis (2020) y Pemex (2008) para determinar una serie de pasos para el diseño de disparos con el que después nos guiaríamos para desarrollar el software que se elaboro.</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MX" dirty="0"/>
          </a:p>
        </p:txBody>
      </p:sp>
      <p:sp>
        <p:nvSpPr>
          <p:cNvPr id="4" name="Marcador de número de diapositiva 3">
            <a:extLst>
              <a:ext uri="{FF2B5EF4-FFF2-40B4-BE49-F238E27FC236}">
                <a16:creationId xmlns:a16="http://schemas.microsoft.com/office/drawing/2014/main" id="{7EE01768-ECB4-4514-B682-76B11547E62C}"/>
              </a:ext>
            </a:extLst>
          </p:cNvPr>
          <p:cNvSpPr>
            <a:spLocks noGrp="1"/>
          </p:cNvSpPr>
          <p:nvPr>
            <p:ph type="sldNum" sz="quarter" idx="4"/>
          </p:nvPr>
        </p:nvSpPr>
        <p:spPr/>
        <p:txBody>
          <a:bodyPr/>
          <a:lstStyle/>
          <a:p>
            <a:pPr rtl="0"/>
            <a:fld id="{C3DB2ADC-AF19-4574-8C10-79B5B04FCA27}" type="slidenum">
              <a:rPr lang="es-ES" smtClean="0"/>
              <a:pPr rtl="0"/>
              <a:t>20</a:t>
            </a:fld>
            <a:endParaRPr lang="es-ES" dirty="0"/>
          </a:p>
        </p:txBody>
      </p:sp>
    </p:spTree>
    <p:extLst>
      <p:ext uri="{BB962C8B-B14F-4D97-AF65-F5344CB8AC3E}">
        <p14:creationId xmlns:p14="http://schemas.microsoft.com/office/powerpoint/2010/main" val="34878512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3050CB6-7D45-4872-93CC-9D27F3458F6C}"/>
              </a:ext>
            </a:extLst>
          </p:cNvPr>
          <p:cNvSpPr>
            <a:spLocks noGrp="1"/>
          </p:cNvSpPr>
          <p:nvPr>
            <p:ph sz="quarter" idx="11"/>
          </p:nvPr>
        </p:nvSpPr>
        <p:spPr>
          <a:xfrm>
            <a:off x="737157" y="934909"/>
            <a:ext cx="9222389" cy="3525880"/>
          </a:xfrm>
        </p:spPr>
        <p:txBody>
          <a:bodyPr>
            <a:normAutofit fontScale="85000" lnSpcReduction="10000"/>
          </a:bodyPr>
          <a:lstStyle/>
          <a:p>
            <a:pPr marL="0" indent="0" algn="just">
              <a:buNone/>
            </a:pPr>
            <a:r>
              <a:rPr lang="es-MX" sz="1800" dirty="0">
                <a:latin typeface="Arial" panose="020B0604020202020204" pitchFamily="34" charset="0"/>
                <a:ea typeface="Calibri" panose="020F0502020204030204" pitchFamily="34" charset="0"/>
                <a:cs typeface="Times New Roman" panose="02020603050405020304" pitchFamily="18" charset="0"/>
              </a:rPr>
              <a:t>L</a:t>
            </a:r>
            <a:r>
              <a:rPr lang="es-MX" sz="1800" dirty="0">
                <a:effectLst/>
                <a:latin typeface="Arial" panose="020B0604020202020204" pitchFamily="34" charset="0"/>
                <a:ea typeface="Calibri" panose="020F0502020204030204" pitchFamily="34" charset="0"/>
                <a:cs typeface="Times New Roman" panose="02020603050405020304" pitchFamily="18" charset="0"/>
              </a:rPr>
              <a:t>a correcta selección del sistema de disparos es relevante ya que impactara en la productividad del pozo. Como primer caso es la planeación del diseño del disparo. </a:t>
            </a:r>
          </a:p>
          <a:p>
            <a:pPr algn="just">
              <a:lnSpc>
                <a:spcPct val="115000"/>
              </a:lnSpc>
              <a:spcAft>
                <a:spcPts val="800"/>
              </a:spcAft>
            </a:pPr>
            <a:r>
              <a:rPr lang="es-MX" sz="1600" dirty="0">
                <a:latin typeface="Arial" panose="020B0604020202020204" pitchFamily="34" charset="0"/>
                <a:ea typeface="Calibri" panose="020F0502020204030204" pitchFamily="34" charset="0"/>
                <a:cs typeface="Times New Roman" panose="02020603050405020304" pitchFamily="18" charset="0"/>
              </a:rPr>
              <a:t>El segundo paso es recabar la información sobre l</a:t>
            </a:r>
            <a:r>
              <a:rPr lang="es-MX" sz="1800" dirty="0">
                <a:effectLst/>
                <a:latin typeface="Arial" panose="020B0604020202020204" pitchFamily="34" charset="0"/>
                <a:ea typeface="Times New Roman" panose="02020603050405020304" pitchFamily="18" charset="0"/>
                <a:cs typeface="Times New Roman" panose="02020603050405020304" pitchFamily="18" charset="0"/>
              </a:rPr>
              <a:t>as condiciones esperadas del pozo durante el disparo.</a:t>
            </a:r>
            <a:endParaRPr lang="es-MX" sz="1600" dirty="0">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buFont typeface="Calibri" panose="020F0502020204030204" pitchFamily="34" charset="0"/>
              <a:buChar char="-"/>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Datos de la formación: (Intervalo a disparar, Litología, permeabilidad, porosidad, densidad, </a:t>
            </a:r>
            <a:r>
              <a:rPr lang="es-MX" sz="1800" dirty="0" err="1">
                <a:effectLst/>
                <a:latin typeface="Arial" panose="020B0604020202020204" pitchFamily="34" charset="0"/>
                <a:ea typeface="Times New Roman" panose="02020603050405020304" pitchFamily="18" charset="0"/>
                <a:cs typeface="Times New Roman" panose="02020603050405020304" pitchFamily="18" charset="0"/>
              </a:rPr>
              <a:t>etc</a:t>
            </a:r>
            <a:r>
              <a:rPr lang="es-MX" sz="1800" dirty="0">
                <a:effectLst/>
                <a:latin typeface="Arial" panose="020B0604020202020204" pitchFamily="34" charset="0"/>
                <a:ea typeface="Times New Roman" panose="02020603050405020304" pitchFamily="18" charset="0"/>
                <a:cs typeface="Times New Roman" panose="02020603050405020304" pitchFamily="18" charset="0"/>
              </a:rPr>
              <a:t>)</a:t>
            </a:r>
            <a:endParaRPr lang="es-MX"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buFont typeface="Calibri" panose="020F0502020204030204" pitchFamily="34" charset="0"/>
              <a:buChar char="-"/>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Fluidos esperados y presiones (Aceite o gas, presión de formación, resistencia compresiva)</a:t>
            </a:r>
            <a:endParaRPr lang="es-MX"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buFont typeface="Calibri" panose="020F0502020204030204" pitchFamily="34" charset="0"/>
              <a:buChar char="-"/>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Condiciones del pozo (diámetro de pozo, profundidad, temperatura de fondo, tiempo de trabajo)</a:t>
            </a:r>
            <a:endParaRPr lang="es-MX"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buFont typeface="Calibri" panose="020F0502020204030204" pitchFamily="34" charset="0"/>
              <a:buChar char="-"/>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Estado mecánico (Datos TR, Cementación, Datos del aparejo)</a:t>
            </a:r>
            <a:endParaRPr lang="es-MX"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lvl="0" indent="-342900" algn="just">
              <a:lnSpc>
                <a:spcPct val="115000"/>
              </a:lnSpc>
              <a:spcAft>
                <a:spcPts val="800"/>
              </a:spcAft>
              <a:buFont typeface="Calibri" panose="020F0502020204030204" pitchFamily="34" charset="0"/>
              <a:buChar char="-"/>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Método de terminación (Natural, Control de arena, Estimulación o Fracturamiento)</a:t>
            </a:r>
          </a:p>
          <a:p>
            <a:pPr algn="just">
              <a:lnSpc>
                <a:spcPct val="115000"/>
              </a:lnSpc>
              <a:spcAft>
                <a:spcPts val="800"/>
              </a:spcAft>
            </a:pPr>
            <a:r>
              <a:rPr lang="es-MX" sz="1800" dirty="0">
                <a:effectLst/>
                <a:latin typeface="Arial" panose="020B0604020202020204" pitchFamily="34" charset="0"/>
                <a:ea typeface="Calibri" panose="020F0502020204030204" pitchFamily="34" charset="0"/>
              </a:rPr>
              <a:t>Como tercer paso </a:t>
            </a:r>
            <a:r>
              <a:rPr lang="es-MX" sz="1600" dirty="0">
                <a:latin typeface="Arial" panose="020B0604020202020204" pitchFamily="34" charset="0"/>
                <a:ea typeface="Calibri" panose="020F0502020204030204" pitchFamily="34" charset="0"/>
              </a:rPr>
              <a:t>realizar la </a:t>
            </a:r>
            <a:r>
              <a:rPr lang="es-MX" sz="1800" dirty="0">
                <a:effectLst/>
                <a:latin typeface="Arial" panose="020B0604020202020204" pitchFamily="34" charset="0"/>
                <a:ea typeface="Calibri" panose="020F0502020204030204" pitchFamily="34" charset="0"/>
              </a:rPr>
              <a:t>elección del sistema optimo basado en la información recabada. </a:t>
            </a:r>
            <a:endParaRPr lang="es-MX" sz="180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lgn="just">
              <a:buNone/>
            </a:pPr>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pPr marL="0" indent="0" algn="just">
              <a:buNone/>
            </a:pPr>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 name="Marcador de número de diapositiva 4">
            <a:extLst>
              <a:ext uri="{FF2B5EF4-FFF2-40B4-BE49-F238E27FC236}">
                <a16:creationId xmlns:a16="http://schemas.microsoft.com/office/drawing/2014/main" id="{AEDB60AB-2BF0-46C9-B588-CC5D786A9806}"/>
              </a:ext>
            </a:extLst>
          </p:cNvPr>
          <p:cNvSpPr>
            <a:spLocks noGrp="1"/>
          </p:cNvSpPr>
          <p:nvPr>
            <p:ph type="sldNum" sz="quarter" idx="4"/>
          </p:nvPr>
        </p:nvSpPr>
        <p:spPr/>
        <p:txBody>
          <a:bodyPr/>
          <a:lstStyle/>
          <a:p>
            <a:pPr rtl="0"/>
            <a:fld id="{C3DB2ADC-AF19-4574-8C10-79B5B04FCA27}" type="slidenum">
              <a:rPr lang="es-ES" smtClean="0"/>
              <a:pPr rtl="0"/>
              <a:t>21</a:t>
            </a:fld>
            <a:endParaRPr lang="es-ES" dirty="0"/>
          </a:p>
        </p:txBody>
      </p:sp>
      <p:graphicFrame>
        <p:nvGraphicFramePr>
          <p:cNvPr id="6" name="Diagrama 5">
            <a:extLst>
              <a:ext uri="{FF2B5EF4-FFF2-40B4-BE49-F238E27FC236}">
                <a16:creationId xmlns:a16="http://schemas.microsoft.com/office/drawing/2014/main" id="{6F020551-6E46-4B12-BE86-40D41CA5C758}"/>
              </a:ext>
            </a:extLst>
          </p:cNvPr>
          <p:cNvGraphicFramePr/>
          <p:nvPr>
            <p:extLst>
              <p:ext uri="{D42A27DB-BD31-4B8C-83A1-F6EECF244321}">
                <p14:modId xmlns:p14="http://schemas.microsoft.com/office/powerpoint/2010/main" val="4031321267"/>
              </p:ext>
            </p:extLst>
          </p:nvPr>
        </p:nvGraphicFramePr>
        <p:xfrm>
          <a:off x="2232454" y="4250724"/>
          <a:ext cx="7433276" cy="21056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42573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CAE1AE7-6389-4358-AC11-AA6122C73C05}"/>
              </a:ext>
            </a:extLst>
          </p:cNvPr>
          <p:cNvSpPr>
            <a:spLocks noGrp="1"/>
          </p:cNvSpPr>
          <p:nvPr>
            <p:ph type="title"/>
          </p:nvPr>
        </p:nvSpPr>
        <p:spPr>
          <a:xfrm>
            <a:off x="725965" y="964642"/>
            <a:ext cx="11034713" cy="1196853"/>
          </a:xfrm>
        </p:spPr>
        <p:txBody>
          <a:bodyPr/>
          <a:lstStyle/>
          <a:p>
            <a:r>
              <a:rPr lang="es-MX" sz="2400" b="1" dirty="0">
                <a:latin typeface="Arial" panose="020B0604020202020204" pitchFamily="34" charset="0"/>
                <a:cs typeface="Arial" panose="020B0604020202020204" pitchFamily="34" charset="0"/>
              </a:rPr>
              <a:t>1</a:t>
            </a:r>
            <a:r>
              <a:rPr lang="es-MX" dirty="0"/>
              <a:t>. </a:t>
            </a:r>
            <a:r>
              <a:rPr lang="es-MX" sz="2400" b="1" dirty="0">
                <a:latin typeface="Arial" panose="020B0604020202020204" pitchFamily="34" charset="0"/>
                <a:cs typeface="Arial" panose="020B0604020202020204" pitchFamily="34" charset="0"/>
              </a:rPr>
              <a:t>DETERMINAR TIPO DE FORMACION </a:t>
            </a:r>
            <a:endParaRPr lang="es-MX" b="1"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4" name="Marcador de contenido 3">
                <a:extLst>
                  <a:ext uri="{FF2B5EF4-FFF2-40B4-BE49-F238E27FC236}">
                    <a16:creationId xmlns:a16="http://schemas.microsoft.com/office/drawing/2014/main" id="{C0F1D995-2318-4512-9B4A-D6E4BE255AC5}"/>
                  </a:ext>
                </a:extLst>
              </p:cNvPr>
              <p:cNvSpPr>
                <a:spLocks noGrp="1"/>
              </p:cNvSpPr>
              <p:nvPr>
                <p:ph sz="quarter" idx="11"/>
              </p:nvPr>
            </p:nvSpPr>
            <p:spPr>
              <a:xfrm>
                <a:off x="725964" y="1575425"/>
                <a:ext cx="6230889" cy="4936586"/>
              </a:xfrm>
            </p:spPr>
            <p:txBody>
              <a:bodyPr>
                <a:normAutofit fontScale="77500" lnSpcReduction="20000"/>
              </a:bodyPr>
              <a:lstStyle/>
              <a:p>
                <a:pPr marL="0" indent="0" algn="jus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Como primer paso determinaremos que tipo de formación es, enfocándonos si es “Consolidada o No consolidada”, este dato lo podemos obtener de un registro sónico o de un registro de densidad.</a:t>
                </a:r>
              </a:p>
              <a:p>
                <a:pPr marL="0" indent="0" algn="just">
                  <a:buNone/>
                </a:pPr>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pPr marL="0" indent="0" algn="just">
                  <a:lnSpc>
                    <a:spcPct val="115000"/>
                  </a:lnSpc>
                  <a:spcAft>
                    <a:spcPts val="800"/>
                  </a:spcAft>
                  <a:buNone/>
                </a:pPr>
                <a:r>
                  <a:rPr lang="es-MX" sz="2800" b="1" dirty="0">
                    <a:latin typeface="Arial" panose="020B0604020202020204" pitchFamily="34" charset="0"/>
                    <a:cs typeface="Arial" panose="020B0604020202020204" pitchFamily="34" charset="0"/>
                  </a:rPr>
                  <a:t>2. DETERMINAR LA PERMEABILIDAD</a:t>
                </a:r>
                <a:endParaRPr lang="es-MX" sz="1900" b="1" dirty="0">
                  <a:effectLst/>
                  <a:latin typeface="Arial" panose="020B0604020202020204" pitchFamily="34" charset="0"/>
                  <a:ea typeface="Calibri" panose="020F0502020204030204" pitchFamily="34" charset="0"/>
                  <a:cs typeface="Arial" panose="020B0604020202020204" pitchFamily="34" charset="0"/>
                </a:endParaRPr>
              </a:p>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El siguiente paso es el determinar la permeabilidad, este dato lo podemos obtener de un análisis de núcleos, entre otros, en caso de no contar con este la podemos hacer uso de la ecuación 1 y calcular la permeabilidad, teniendo los datos de Saturación de agua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Swf</a:t>
                </a:r>
                <a:r>
                  <a:rPr lang="es-MX" sz="1800" dirty="0">
                    <a:effectLst/>
                    <a:latin typeface="Arial" panose="020B0604020202020204" pitchFamily="34" charset="0"/>
                    <a:ea typeface="Calibri" panose="020F0502020204030204" pitchFamily="34" charset="0"/>
                    <a:cs typeface="Times New Roman" panose="02020603050405020304" pitchFamily="18" charset="0"/>
                  </a:rPr>
                  <a:t>) y la porosidad de la roca (</a:t>
                </a:r>
                <a:r>
                  <a:rPr lang="es-MX" sz="1800" dirty="0">
                    <a:effectLst/>
                    <a:latin typeface="Arial" panose="020B0604020202020204" pitchFamily="34" charset="0"/>
                    <a:ea typeface="Calibri" panose="020F0502020204030204" pitchFamily="34" charset="0"/>
                    <a:cs typeface="Arial" panose="020B0604020202020204" pitchFamily="34" charset="0"/>
                  </a:rPr>
                  <a:t>Φ</a:t>
                </a:r>
                <a:r>
                  <a:rPr lang="es-MX" sz="1800" dirty="0">
                    <a:effectLst/>
                    <a:latin typeface="Arial" panose="020B0604020202020204" pitchFamily="34" charset="0"/>
                    <a:ea typeface="Calibri" panose="020F0502020204030204" pitchFamily="34" charset="0"/>
                    <a:cs typeface="Times New Roman" panose="02020603050405020304" pitchFamily="18" charset="0"/>
                  </a:rPr>
                  <a:t>).</a:t>
                </a:r>
              </a:p>
              <a:p>
                <a:pPr indent="0" algn="just">
                  <a:lnSpc>
                    <a:spcPct val="115000"/>
                  </a:lnSpc>
                  <a:spcAft>
                    <a:spcPts val="800"/>
                  </a:spcAft>
                  <a:buNone/>
                </a:pPr>
                <a14:m>
                  <m:oMathPara xmlns:m="http://schemas.openxmlformats.org/officeDocument/2006/math">
                    <m:oMathParaPr>
                      <m:jc m:val="centerGroup"/>
                    </m:oMathParaPr>
                    <m:oMath xmlns:m="http://schemas.openxmlformats.org/officeDocument/2006/math">
                      <m:eqArr>
                        <m:eqArr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eqArrPr>
                        <m:e>
                          <m:r>
                            <a:rPr lang="es-MX" sz="1800" i="1">
                              <a:effectLst/>
                              <a:latin typeface="Cambria Math" panose="02040503050406030204" pitchFamily="18" charset="0"/>
                              <a:ea typeface="Times New Roman" panose="02020603050405020304" pitchFamily="18" charset="0"/>
                              <a:cs typeface="Arial" panose="020B0604020202020204" pitchFamily="34" charset="0"/>
                            </a:rPr>
                            <m:t>𝑘</m:t>
                          </m:r>
                          <m:r>
                            <a:rPr lang="es-MX" sz="1800" i="1">
                              <a:effectLst/>
                              <a:latin typeface="Cambria Math" panose="02040503050406030204" pitchFamily="18" charset="0"/>
                              <a:ea typeface="Times New Roman" panose="02020603050405020304" pitchFamily="18" charset="0"/>
                              <a:cs typeface="Arial" panose="020B0604020202020204" pitchFamily="34" charset="0"/>
                            </a:rPr>
                            <m:t>=0,136</m:t>
                          </m:r>
                          <m:d>
                            <m:d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dPr>
                            <m:e>
                              <m:f>
                                <m:f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fPr>
                                <m:num>
                                  <m:r>
                                    <a:rPr lang="es-MX" sz="1800" i="1">
                                      <a:effectLst/>
                                      <a:latin typeface="Cambria Math" panose="02040503050406030204" pitchFamily="18" charset="0"/>
                                      <a:ea typeface="Times New Roman" panose="02020603050405020304" pitchFamily="18" charset="0"/>
                                      <a:cs typeface="Arial" panose="020B0604020202020204" pitchFamily="34" charset="0"/>
                                    </a:rPr>
                                    <m:t>∅</m:t>
                                  </m:r>
                                </m:num>
                                <m:den>
                                  <m:sSub>
                                    <m:sSub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800" i="1">
                                          <a:effectLst/>
                                          <a:latin typeface="Cambria Math" panose="02040503050406030204" pitchFamily="18" charset="0"/>
                                          <a:ea typeface="Times New Roman" panose="02020603050405020304" pitchFamily="18" charset="0"/>
                                          <a:cs typeface="Arial" panose="020B0604020202020204" pitchFamily="34" charset="0"/>
                                        </a:rPr>
                                        <m:t>𝑠</m:t>
                                      </m:r>
                                    </m:e>
                                    <m:sub>
                                      <m:r>
                                        <a:rPr lang="es-MX" sz="1800" i="1">
                                          <a:effectLst/>
                                          <a:latin typeface="Cambria Math" panose="02040503050406030204" pitchFamily="18" charset="0"/>
                                          <a:ea typeface="Times New Roman" panose="02020603050405020304" pitchFamily="18" charset="0"/>
                                          <a:cs typeface="Arial" panose="020B0604020202020204" pitchFamily="34" charset="0"/>
                                        </a:rPr>
                                        <m:t>𝑤𝑓</m:t>
                                      </m:r>
                                    </m:sub>
                                  </m:sSub>
                                  <m:r>
                                    <a:rPr lang="es-MX" sz="1800" i="1">
                                      <a:effectLst/>
                                      <a:latin typeface="Cambria Math" panose="02040503050406030204" pitchFamily="18" charset="0"/>
                                      <a:ea typeface="Times New Roman" panose="02020603050405020304" pitchFamily="18" charset="0"/>
                                      <a:cs typeface="Arial" panose="020B0604020202020204" pitchFamily="34" charset="0"/>
                                    </a:rPr>
                                    <m:t>2</m:t>
                                  </m:r>
                                </m:den>
                              </m:f>
                            </m:e>
                          </m:d>
                          <m:r>
                            <a:rPr lang="es-MX" sz="1800" i="1">
                              <a:effectLst/>
                              <a:latin typeface="Cambria Math" panose="02040503050406030204" pitchFamily="18" charset="0"/>
                              <a:ea typeface="Times New Roman" panose="02020603050405020304" pitchFamily="18" charset="0"/>
                              <a:cs typeface="Arial" panose="020B0604020202020204" pitchFamily="34" charset="0"/>
                            </a:rPr>
                            <m:t> </m:t>
                          </m:r>
                        </m:e>
                      </m:eqArr>
                    </m:oMath>
                  </m:oMathPara>
                </a14:m>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Donde: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K= Permeabilidad </a:t>
                </a:r>
                <a:r>
                  <a:rPr lang="es-MX" sz="1800" dirty="0" err="1">
                    <a:effectLst/>
                    <a:latin typeface="Arial" panose="020B0604020202020204" pitchFamily="34" charset="0"/>
                    <a:ea typeface="Times New Roman" panose="02020603050405020304" pitchFamily="18" charset="0"/>
                    <a:cs typeface="Times New Roman" panose="02020603050405020304" pitchFamily="18" charset="0"/>
                  </a:rPr>
                  <a:t>md</a:t>
                </a:r>
                <a:r>
                  <a:rPr lang="es-MX" sz="1800" dirty="0">
                    <a:effectLst/>
                    <a:latin typeface="Arial" panose="020B0604020202020204" pitchFamily="34" charset="0"/>
                    <a:ea typeface="Times New Roman" panose="02020603050405020304" pitchFamily="18" charset="0"/>
                    <a:cs typeface="Times New Roman" panose="02020603050405020304" pitchFamily="18" charset="0"/>
                  </a:rPr>
                  <a:t>.</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pPr>
                <a14:m>
                  <m:oMath xmlns:m="http://schemas.openxmlformats.org/officeDocument/2006/math">
                    <m:r>
                      <a:rPr lang="es-MX" sz="1800" i="1">
                        <a:effectLst/>
                        <a:latin typeface="Cambria Math" panose="02040503050406030204" pitchFamily="18" charset="0"/>
                        <a:ea typeface="Times New Roman" panose="02020603050405020304" pitchFamily="18" charset="0"/>
                        <a:cs typeface="Arial" panose="020B0604020202020204" pitchFamily="34" charset="0"/>
                      </a:rPr>
                      <m:t>∅</m:t>
                    </m:r>
                  </m:oMath>
                </a14:m>
                <a:r>
                  <a:rPr lang="es-MX" sz="1800" dirty="0">
                    <a:effectLst/>
                    <a:latin typeface="Arial" panose="020B0604020202020204" pitchFamily="34" charset="0"/>
                    <a:ea typeface="Times New Roman" panose="02020603050405020304" pitchFamily="18" charset="0"/>
                    <a:cs typeface="Times New Roman" panose="02020603050405020304" pitchFamily="18" charset="0"/>
                  </a:rPr>
                  <a:t>= Porosidad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457200" algn="just">
                  <a:lnSpc>
                    <a:spcPct val="115000"/>
                  </a:lnSpc>
                </a:pPr>
                <a14:m>
                  <m:oMath xmlns:m="http://schemas.openxmlformats.org/officeDocument/2006/math">
                    <m:sSub>
                      <m:sSub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800" i="1">
                            <a:effectLst/>
                            <a:latin typeface="Cambria Math" panose="02040503050406030204" pitchFamily="18" charset="0"/>
                            <a:ea typeface="Times New Roman" panose="02020603050405020304" pitchFamily="18" charset="0"/>
                            <a:cs typeface="Arial" panose="020B0604020202020204" pitchFamily="34" charset="0"/>
                          </a:rPr>
                          <m:t>𝑠</m:t>
                        </m:r>
                      </m:e>
                      <m:sub>
                        <m:r>
                          <a:rPr lang="es-MX" sz="1800" i="1">
                            <a:effectLst/>
                            <a:latin typeface="Cambria Math" panose="02040503050406030204" pitchFamily="18" charset="0"/>
                            <a:ea typeface="Times New Roman" panose="02020603050405020304" pitchFamily="18" charset="0"/>
                            <a:cs typeface="Arial" panose="020B0604020202020204" pitchFamily="34" charset="0"/>
                          </a:rPr>
                          <m:t>𝑤𝑓</m:t>
                        </m:r>
                      </m:sub>
                    </m:sSub>
                  </m:oMath>
                </a14:m>
                <a:r>
                  <a:rPr lang="es-MX" sz="1800" dirty="0">
                    <a:effectLst/>
                    <a:latin typeface="Arial" panose="020B0604020202020204" pitchFamily="34" charset="0"/>
                    <a:ea typeface="Times New Roman" panose="02020603050405020304" pitchFamily="18" charset="0"/>
                    <a:cs typeface="Times New Roman" panose="02020603050405020304" pitchFamily="18" charset="0"/>
                  </a:rPr>
                  <a:t>]= Saturación del frente del agua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indent="0" algn="just">
                  <a:lnSpc>
                    <a:spcPct val="115000"/>
                  </a:lnSpc>
                  <a:spcAft>
                    <a:spcPts val="800"/>
                  </a:spcAft>
                  <a:buNone/>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MX" sz="1800" dirty="0">
                  <a:latin typeface="Arial" panose="020B0604020202020204" pitchFamily="34" charset="0"/>
                  <a:ea typeface="Calibri" panose="020F0502020204030204" pitchFamily="34" charset="0"/>
                  <a:cs typeface="Times New Roman" panose="02020603050405020304" pitchFamily="18" charset="0"/>
                </a:endParaRPr>
              </a:p>
              <a:p>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endParaRPr lang="es-MX" dirty="0"/>
              </a:p>
            </p:txBody>
          </p:sp>
        </mc:Choice>
        <mc:Fallback>
          <p:sp>
            <p:nvSpPr>
              <p:cNvPr id="4" name="Marcador de contenido 3">
                <a:extLst>
                  <a:ext uri="{FF2B5EF4-FFF2-40B4-BE49-F238E27FC236}">
                    <a16:creationId xmlns:a16="http://schemas.microsoft.com/office/drawing/2014/main" id="{C0F1D995-2318-4512-9B4A-D6E4BE255AC5}"/>
                  </a:ext>
                </a:extLst>
              </p:cNvPr>
              <p:cNvSpPr>
                <a:spLocks noGrp="1" noRot="1" noChangeAspect="1" noMove="1" noResize="1" noEditPoints="1" noAdjustHandles="1" noChangeArrowheads="1" noChangeShapeType="1" noTextEdit="1"/>
              </p:cNvSpPr>
              <p:nvPr>
                <p:ph sz="quarter" idx="11"/>
              </p:nvPr>
            </p:nvSpPr>
            <p:spPr>
              <a:xfrm>
                <a:off x="725964" y="1575425"/>
                <a:ext cx="6230889" cy="4936586"/>
              </a:xfrm>
              <a:blipFill>
                <a:blip r:embed="rId2"/>
                <a:stretch>
                  <a:fillRect l="-1272" t="-123" r="-294"/>
                </a:stretch>
              </a:blipFill>
            </p:spPr>
            <p:txBody>
              <a:bodyPr/>
              <a:lstStyle/>
              <a:p>
                <a:r>
                  <a:rPr lang="es-MX">
                    <a:noFill/>
                  </a:rPr>
                  <a:t> </a:t>
                </a:r>
              </a:p>
            </p:txBody>
          </p:sp>
        </mc:Fallback>
      </mc:AlternateContent>
      <p:sp>
        <p:nvSpPr>
          <p:cNvPr id="5" name="Marcador de número de diapositiva 4">
            <a:extLst>
              <a:ext uri="{FF2B5EF4-FFF2-40B4-BE49-F238E27FC236}">
                <a16:creationId xmlns:a16="http://schemas.microsoft.com/office/drawing/2014/main" id="{ADF3B88E-666D-40FA-972A-D5342B578B26}"/>
              </a:ext>
            </a:extLst>
          </p:cNvPr>
          <p:cNvSpPr>
            <a:spLocks noGrp="1"/>
          </p:cNvSpPr>
          <p:nvPr>
            <p:ph type="sldNum" sz="quarter" idx="4"/>
          </p:nvPr>
        </p:nvSpPr>
        <p:spPr/>
        <p:txBody>
          <a:bodyPr/>
          <a:lstStyle/>
          <a:p>
            <a:pPr rtl="0"/>
            <a:fld id="{C3DB2ADC-AF19-4574-8C10-79B5B04FCA27}" type="slidenum">
              <a:rPr lang="es-ES" smtClean="0"/>
              <a:pPr rtl="0"/>
              <a:t>22</a:t>
            </a:fld>
            <a:endParaRPr lang="es-ES" dirty="0"/>
          </a:p>
        </p:txBody>
      </p:sp>
      <p:pic>
        <p:nvPicPr>
          <p:cNvPr id="6" name="Imagen 5">
            <a:extLst>
              <a:ext uri="{FF2B5EF4-FFF2-40B4-BE49-F238E27FC236}">
                <a16:creationId xmlns:a16="http://schemas.microsoft.com/office/drawing/2014/main" id="{BF17C9A3-D8AE-4D06-ACC7-8A5C7CB25870}"/>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956853" y="976999"/>
            <a:ext cx="4952105" cy="4063088"/>
          </a:xfrm>
          <a:prstGeom prst="rect">
            <a:avLst/>
          </a:prstGeom>
          <a:noFill/>
          <a:ln>
            <a:noFill/>
          </a:ln>
        </p:spPr>
      </p:pic>
    </p:spTree>
    <p:extLst>
      <p:ext uri="{BB962C8B-B14F-4D97-AF65-F5344CB8AC3E}">
        <p14:creationId xmlns:p14="http://schemas.microsoft.com/office/powerpoint/2010/main" val="3981139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FEE4414-CE3D-4604-8433-01C46D39619D}"/>
              </a:ext>
            </a:extLst>
          </p:cNvPr>
          <p:cNvSpPr>
            <a:spLocks noGrp="1"/>
          </p:cNvSpPr>
          <p:nvPr>
            <p:ph sz="quarter" idx="10"/>
          </p:nvPr>
        </p:nvSpPr>
        <p:spPr>
          <a:xfrm>
            <a:off x="734592" y="1631351"/>
            <a:ext cx="5045105" cy="4233713"/>
          </a:xfrm>
        </p:spPr>
        <p:txBody>
          <a:bodyPr/>
          <a:lstStyle/>
          <a:p>
            <a:pPr algn="just"/>
            <a:r>
              <a:rPr lang="es-MX" sz="1800" b="1" dirty="0">
                <a:effectLst/>
                <a:latin typeface="Arial" panose="020B0604020202020204" pitchFamily="34" charset="0"/>
                <a:ea typeface="Calibri" panose="020F0502020204030204" pitchFamily="34" charset="0"/>
                <a:cs typeface="Arial" panose="020B0604020202020204" pitchFamily="34" charset="0"/>
              </a:rPr>
              <a:t>Los disparos bajo balance </a:t>
            </a:r>
            <a:r>
              <a:rPr lang="es-MX" sz="1800" dirty="0">
                <a:effectLst/>
                <a:latin typeface="Arial" panose="020B0604020202020204" pitchFamily="34" charset="0"/>
                <a:ea typeface="Calibri" panose="020F0502020204030204" pitchFamily="34" charset="0"/>
                <a:cs typeface="Arial" panose="020B0604020202020204" pitchFamily="34" charset="0"/>
              </a:rPr>
              <a:t>se realizan cuando la presión en el pozo es menor que la presión de la formación, lo que provoca un flujo inmediato del fluido del yacimiento hacia el pozo después de la detonación. </a:t>
            </a:r>
          </a:p>
          <a:p>
            <a:pPr algn="just"/>
            <a:r>
              <a:rPr lang="es-MX" sz="1800" dirty="0">
                <a:effectLst/>
                <a:latin typeface="Arial" panose="020B0604020202020204" pitchFamily="34" charset="0"/>
                <a:ea typeface="Calibri" panose="020F0502020204030204" pitchFamily="34" charset="0"/>
                <a:cs typeface="Arial" panose="020B0604020202020204" pitchFamily="34" charset="0"/>
              </a:rPr>
              <a:t>Por el contrario, </a:t>
            </a:r>
            <a:r>
              <a:rPr lang="es-MX" sz="1800" b="1" dirty="0">
                <a:effectLst/>
                <a:latin typeface="Arial" panose="020B0604020202020204" pitchFamily="34" charset="0"/>
                <a:ea typeface="Calibri" panose="020F0502020204030204" pitchFamily="34" charset="0"/>
                <a:cs typeface="Arial" panose="020B0604020202020204" pitchFamily="34" charset="0"/>
              </a:rPr>
              <a:t>los disparos sobre balance </a:t>
            </a:r>
            <a:r>
              <a:rPr lang="es-MX" sz="1800" dirty="0">
                <a:effectLst/>
                <a:latin typeface="Arial" panose="020B0604020202020204" pitchFamily="34" charset="0"/>
                <a:ea typeface="Calibri" panose="020F0502020204030204" pitchFamily="34" charset="0"/>
                <a:cs typeface="Arial" panose="020B0604020202020204" pitchFamily="34" charset="0"/>
              </a:rPr>
              <a:t>se llevan a cabo con una presión en el pozo mayor que la presión de la formación, lo que evita el flujo inmediato desde la formación</a:t>
            </a:r>
            <a:endParaRPr lang="es-MX" dirty="0">
              <a:latin typeface="Arial" panose="020B0604020202020204" pitchFamily="34" charset="0"/>
              <a:cs typeface="Arial" panose="020B0604020202020204" pitchFamily="34" charset="0"/>
            </a:endParaRPr>
          </a:p>
          <a:p>
            <a:pPr algn="just"/>
            <a:endParaRPr lang="es-MX"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4" name="Marcador de contenido 3">
                <a:extLst>
                  <a:ext uri="{FF2B5EF4-FFF2-40B4-BE49-F238E27FC236}">
                    <a16:creationId xmlns:a16="http://schemas.microsoft.com/office/drawing/2014/main" id="{0C5DF032-E772-4A26-AAF5-A69E00E36788}"/>
                  </a:ext>
                </a:extLst>
              </p:cNvPr>
              <p:cNvSpPr>
                <a:spLocks noGrp="1"/>
              </p:cNvSpPr>
              <p:nvPr>
                <p:ph sz="quarter" idx="11"/>
              </p:nvPr>
            </p:nvSpPr>
            <p:spPr/>
            <p:txBody>
              <a:bodyPr>
                <a:noAutofit/>
              </a:bodyPr>
              <a:lstStyle/>
              <a:p>
                <a:pPr marL="0" indent="0" algn="just">
                  <a:lnSpc>
                    <a:spcPct val="115000"/>
                  </a:lnSpc>
                  <a:spcAft>
                    <a:spcPts val="800"/>
                  </a:spcAft>
                  <a:buNone/>
                </a:pPr>
                <a14:m>
                  <m:oMathPara xmlns:m="http://schemas.openxmlformats.org/officeDocument/2006/math">
                    <m:oMathParaPr>
                      <m:jc m:val="centerGroup"/>
                    </m:oMathParaPr>
                    <m:oMath xmlns:m="http://schemas.openxmlformats.org/officeDocument/2006/math">
                      <m:r>
                        <a:rPr lang="es-MX" i="1" smtClean="0">
                          <a:effectLst/>
                          <a:latin typeface="Cambria Math" panose="02040503050406030204" pitchFamily="18" charset="0"/>
                          <a:ea typeface="Times New Roman" panose="02020603050405020304" pitchFamily="18" charset="0"/>
                          <a:cs typeface="Arial" panose="020B0604020202020204" pitchFamily="34" charset="0"/>
                        </a:rPr>
                        <m:t>𝑈𝑚</m:t>
                      </m:r>
                      <m:r>
                        <a:rPr lang="es-MX" i="1" smtClean="0">
                          <a:effectLst/>
                          <a:latin typeface="Cambria Math" panose="02040503050406030204" pitchFamily="18" charset="0"/>
                          <a:ea typeface="Times New Roman" panose="02020603050405020304" pitchFamily="18" charset="0"/>
                          <a:cs typeface="Arial" panose="020B0604020202020204" pitchFamily="34" charset="0"/>
                        </a:rPr>
                        <m:t>=</m:t>
                      </m:r>
                      <m:f>
                        <m:fPr>
                          <m:ctrlPr>
                            <a:rPr lang="es-MX" i="1">
                              <a:effectLst/>
                              <a:latin typeface="Cambria Math" panose="02040503050406030204" pitchFamily="18" charset="0"/>
                              <a:ea typeface="Times New Roman" panose="02020603050405020304" pitchFamily="18" charset="0"/>
                              <a:cs typeface="Arial" panose="020B0604020202020204" pitchFamily="34" charset="0"/>
                            </a:rPr>
                          </m:ctrlPr>
                        </m:fPr>
                        <m:num>
                          <m:r>
                            <a:rPr lang="es-MX" i="1">
                              <a:effectLst/>
                              <a:latin typeface="Cambria Math" panose="02040503050406030204" pitchFamily="18" charset="0"/>
                              <a:ea typeface="Times New Roman" panose="02020603050405020304" pitchFamily="18" charset="0"/>
                              <a:cs typeface="Arial" panose="020B0604020202020204" pitchFamily="34" charset="0"/>
                            </a:rPr>
                            <m:t>3500</m:t>
                          </m:r>
                        </m:num>
                        <m:den>
                          <m:sSup>
                            <m:sSupPr>
                              <m:ctrlPr>
                                <a:rPr lang="es-MX" i="1">
                                  <a:effectLst/>
                                  <a:latin typeface="Cambria Math" panose="02040503050406030204" pitchFamily="18" charset="0"/>
                                  <a:ea typeface="Times New Roman" panose="02020603050405020304" pitchFamily="18" charset="0"/>
                                  <a:cs typeface="Arial" panose="020B0604020202020204" pitchFamily="34" charset="0"/>
                                </a:rPr>
                              </m:ctrlPr>
                            </m:sSupPr>
                            <m:e>
                              <m:r>
                                <a:rPr lang="es-MX" i="1">
                                  <a:effectLst/>
                                  <a:latin typeface="Cambria Math" panose="02040503050406030204" pitchFamily="18" charset="0"/>
                                  <a:ea typeface="Times New Roman" panose="02020603050405020304" pitchFamily="18" charset="0"/>
                                  <a:cs typeface="Arial" panose="020B0604020202020204" pitchFamily="34" charset="0"/>
                                </a:rPr>
                                <m:t>𝑘</m:t>
                              </m:r>
                            </m:e>
                            <m:sup>
                              <m:r>
                                <a:rPr lang="es-MX" i="1">
                                  <a:effectLst/>
                                  <a:latin typeface="Cambria Math" panose="02040503050406030204" pitchFamily="18" charset="0"/>
                                  <a:ea typeface="Times New Roman" panose="02020603050405020304" pitchFamily="18" charset="0"/>
                                  <a:cs typeface="Arial" panose="020B0604020202020204" pitchFamily="34" charset="0"/>
                                </a:rPr>
                                <m:t>0.37</m:t>
                              </m:r>
                            </m:sup>
                          </m:sSup>
                        </m:den>
                      </m:f>
                    </m:oMath>
                  </m:oMathPara>
                </a14:m>
                <a:endParaRPr lang="es-MX"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ctr">
                  <a:spcAft>
                    <a:spcPts val="1000"/>
                  </a:spcAft>
                  <a:buNone/>
                </a:pPr>
                <a:r>
                  <a:rPr lang="es-MX"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Ecuación 2: mínimo desbalance para aceite</a:t>
                </a:r>
              </a:p>
              <a:p>
                <a:pPr marL="0" indent="0" algn="ctr">
                  <a:lnSpc>
                    <a:spcPct val="115000"/>
                  </a:lnSpc>
                  <a:spcAft>
                    <a:spcPts val="800"/>
                  </a:spcAft>
                  <a:buNone/>
                </a:pPr>
                <a14:m>
                  <m:oMathPara xmlns:m="http://schemas.openxmlformats.org/officeDocument/2006/math">
                    <m:oMathParaPr>
                      <m:jc m:val="centerGroup"/>
                    </m:oMathParaPr>
                    <m:oMath xmlns:m="http://schemas.openxmlformats.org/officeDocument/2006/math">
                      <m:eqArr>
                        <m:eqArrPr>
                          <m:ctrlPr>
                            <a:rPr lang="es-MX" i="1" smtClean="0">
                              <a:effectLst/>
                              <a:latin typeface="Cambria Math" panose="02040503050406030204" pitchFamily="18" charset="0"/>
                              <a:ea typeface="Times New Roman" panose="02020603050405020304" pitchFamily="18" charset="0"/>
                              <a:cs typeface="Arial" panose="020B0604020202020204" pitchFamily="34" charset="0"/>
                            </a:rPr>
                          </m:ctrlPr>
                        </m:eqArrPr>
                        <m:e>
                          <m:sSub>
                            <m:sSubPr>
                              <m:ctrlPr>
                                <a:rPr lang="es-MX" i="1">
                                  <a:effectLst/>
                                  <a:latin typeface="Cambria Math" panose="02040503050406030204" pitchFamily="18" charset="0"/>
                                  <a:ea typeface="Calibri" panose="020F0502020204030204" pitchFamily="34" charset="0"/>
                                  <a:cs typeface="Times New Roman" panose="02020603050405020304" pitchFamily="18" charset="0"/>
                                </a:rPr>
                              </m:ctrlPr>
                            </m:sSubPr>
                            <m:e>
                              <m:r>
                                <a:rPr lang="es-MX" i="1">
                                  <a:effectLst/>
                                  <a:latin typeface="Cambria Math" panose="02040503050406030204" pitchFamily="18" charset="0"/>
                                  <a:ea typeface="Calibri" panose="020F0502020204030204" pitchFamily="34" charset="0"/>
                                  <a:cs typeface="Times New Roman" panose="02020603050405020304" pitchFamily="18" charset="0"/>
                                </a:rPr>
                                <m:t>𝑈</m:t>
                              </m:r>
                            </m:e>
                            <m:sub>
                              <m:r>
                                <a:rPr lang="es-MX" i="1">
                                  <a:effectLst/>
                                  <a:latin typeface="Cambria Math" panose="02040503050406030204" pitchFamily="18" charset="0"/>
                                  <a:ea typeface="Calibri" panose="020F0502020204030204" pitchFamily="34" charset="0"/>
                                  <a:cs typeface="Times New Roman" panose="02020603050405020304" pitchFamily="18" charset="0"/>
                                </a:rPr>
                                <m:t>𝑚</m:t>
                              </m:r>
                            </m:sub>
                          </m:sSub>
                          <m:r>
                            <a:rPr lang="es-MX"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MX" i="1">
                                  <a:effectLst/>
                                  <a:latin typeface="Cambria Math" panose="02040503050406030204" pitchFamily="18" charset="0"/>
                                  <a:ea typeface="Calibri" panose="020F0502020204030204" pitchFamily="34" charset="0"/>
                                  <a:cs typeface="Times New Roman" panose="02020603050405020304" pitchFamily="18" charset="0"/>
                                </a:rPr>
                              </m:ctrlPr>
                            </m:fPr>
                            <m:num>
                              <m:r>
                                <a:rPr lang="es-MX" i="1">
                                  <a:effectLst/>
                                  <a:latin typeface="Cambria Math" panose="02040503050406030204" pitchFamily="18" charset="0"/>
                                  <a:ea typeface="Calibri" panose="020F0502020204030204" pitchFamily="34" charset="0"/>
                                  <a:cs typeface="Times New Roman" panose="02020603050405020304" pitchFamily="18" charset="0"/>
                                </a:rPr>
                                <m:t>2500</m:t>
                              </m:r>
                            </m:num>
                            <m:den>
                              <m:sSup>
                                <m:sSupPr>
                                  <m:ctrlPr>
                                    <a:rPr lang="es-MX" i="1">
                                      <a:effectLst/>
                                      <a:latin typeface="Cambria Math" panose="02040503050406030204" pitchFamily="18" charset="0"/>
                                      <a:ea typeface="Calibri" panose="020F0502020204030204" pitchFamily="34" charset="0"/>
                                      <a:cs typeface="Times New Roman" panose="02020603050405020304" pitchFamily="18" charset="0"/>
                                    </a:rPr>
                                  </m:ctrlPr>
                                </m:sSupPr>
                                <m:e>
                                  <m:r>
                                    <a:rPr lang="es-MX" i="1">
                                      <a:effectLst/>
                                      <a:latin typeface="Cambria Math" panose="02040503050406030204" pitchFamily="18" charset="0"/>
                                      <a:ea typeface="Calibri" panose="020F0502020204030204" pitchFamily="34" charset="0"/>
                                      <a:cs typeface="Times New Roman" panose="02020603050405020304" pitchFamily="18" charset="0"/>
                                    </a:rPr>
                                    <m:t>𝑘</m:t>
                                  </m:r>
                                </m:e>
                                <m:sup>
                                  <m:r>
                                    <a:rPr lang="es-MX" i="1">
                                      <a:effectLst/>
                                      <a:latin typeface="Cambria Math" panose="02040503050406030204" pitchFamily="18" charset="0"/>
                                      <a:ea typeface="Calibri" panose="020F0502020204030204" pitchFamily="34" charset="0"/>
                                      <a:cs typeface="Times New Roman" panose="02020603050405020304" pitchFamily="18" charset="0"/>
                                    </a:rPr>
                                    <m:t>0.17</m:t>
                                  </m:r>
                                </m:sup>
                              </m:sSup>
                            </m:den>
                          </m:f>
                          <m:r>
                            <a:rPr lang="es-MX" i="1">
                              <a:effectLst/>
                              <a:latin typeface="Cambria Math" panose="02040503050406030204" pitchFamily="18" charset="0"/>
                              <a:ea typeface="Calibri" panose="020F0502020204030204" pitchFamily="34" charset="0"/>
                              <a:cs typeface="Times New Roman" panose="02020603050405020304" pitchFamily="18" charset="0"/>
                            </a:rPr>
                            <m:t> </m:t>
                          </m:r>
                        </m:e>
                      </m:eqArr>
                    </m:oMath>
                  </m:oMathPara>
                </a14:m>
                <a:endParaRPr lang="es-MX"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ctr">
                  <a:spcAft>
                    <a:spcPts val="1000"/>
                  </a:spcAft>
                  <a:buNone/>
                </a:pPr>
                <a:r>
                  <a:rPr lang="es-MX"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Ecuación 3: Mínimo desbalance para gas</a:t>
                </a:r>
              </a:p>
              <a:p>
                <a:pPr marL="457200" algn="ctr">
                  <a:lnSpc>
                    <a:spcPct val="115000"/>
                  </a:lnSpc>
                </a:pPr>
                <a:r>
                  <a:rPr lang="es-MX" dirty="0">
                    <a:effectLst/>
                    <a:latin typeface="Arial" panose="020B0604020202020204" pitchFamily="34" charset="0"/>
                    <a:ea typeface="Times New Roman" panose="02020603050405020304" pitchFamily="18" charset="0"/>
                    <a:cs typeface="Times New Roman" panose="02020603050405020304" pitchFamily="18" charset="0"/>
                  </a:rPr>
                  <a:t> </a:t>
                </a:r>
                <a:endParaRPr lang="es-MX"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pPr>
                <a:r>
                  <a:rPr lang="es-MX" dirty="0">
                    <a:effectLst/>
                    <a:latin typeface="Arial" panose="020B0604020202020204" pitchFamily="34" charset="0"/>
                    <a:ea typeface="Times New Roman" panose="02020603050405020304" pitchFamily="18" charset="0"/>
                    <a:cs typeface="Times New Roman" panose="02020603050405020304" pitchFamily="18" charset="0"/>
                  </a:rPr>
                  <a:t>Donde:</a:t>
                </a:r>
                <a:endParaRPr lang="es-MX"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pPr>
                <a14:m>
                  <m:oMath xmlns:m="http://schemas.openxmlformats.org/officeDocument/2006/math">
                    <m:sSub>
                      <m:sSubPr>
                        <m:ctrlPr>
                          <a:rPr lang="es-MX"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i="1">
                            <a:effectLst/>
                            <a:latin typeface="Cambria Math" panose="02040503050406030204" pitchFamily="18" charset="0"/>
                            <a:ea typeface="Times New Roman" panose="02020603050405020304" pitchFamily="18" charset="0"/>
                            <a:cs typeface="Arial" panose="020B0604020202020204" pitchFamily="34" charset="0"/>
                          </a:rPr>
                          <m:t>𝑈</m:t>
                        </m:r>
                      </m:e>
                      <m:sub>
                        <m:r>
                          <a:rPr lang="es-MX" i="1">
                            <a:effectLst/>
                            <a:latin typeface="Cambria Math" panose="02040503050406030204" pitchFamily="18" charset="0"/>
                            <a:ea typeface="Times New Roman" panose="02020603050405020304" pitchFamily="18" charset="0"/>
                            <a:cs typeface="Arial" panose="020B0604020202020204" pitchFamily="34" charset="0"/>
                          </a:rPr>
                          <m:t>𝑚</m:t>
                        </m:r>
                      </m:sub>
                    </m:sSub>
                    <m:r>
                      <a:rPr lang="es-MX" i="1">
                        <a:effectLst/>
                        <a:latin typeface="Cambria Math" panose="02040503050406030204" pitchFamily="18" charset="0"/>
                        <a:ea typeface="Times New Roman" panose="02020603050405020304" pitchFamily="18" charset="0"/>
                        <a:cs typeface="Arial" panose="020B0604020202020204" pitchFamily="34" charset="0"/>
                      </a:rPr>
                      <m:t>=</m:t>
                    </m:r>
                    <m:r>
                      <a:rPr lang="es-MX" i="1">
                        <a:effectLst/>
                        <a:latin typeface="Cambria Math" panose="02040503050406030204" pitchFamily="18" charset="0"/>
                        <a:ea typeface="Times New Roman" panose="02020603050405020304" pitchFamily="18" charset="0"/>
                        <a:cs typeface="Arial" panose="020B0604020202020204" pitchFamily="34" charset="0"/>
                      </a:rPr>
                      <m:t>𝑚𝑖𝑛𝑖𝑚𝑜</m:t>
                    </m:r>
                    <m:r>
                      <a:rPr lang="es-MX" i="1">
                        <a:effectLst/>
                        <a:latin typeface="Cambria Math" panose="02040503050406030204" pitchFamily="18" charset="0"/>
                        <a:ea typeface="Times New Roman" panose="02020603050405020304" pitchFamily="18" charset="0"/>
                        <a:cs typeface="Arial" panose="020B0604020202020204" pitchFamily="34" charset="0"/>
                      </a:rPr>
                      <m:t> </m:t>
                    </m:r>
                    <m:r>
                      <a:rPr lang="es-MX" i="1">
                        <a:effectLst/>
                        <a:latin typeface="Cambria Math" panose="02040503050406030204" pitchFamily="18" charset="0"/>
                        <a:ea typeface="Times New Roman" panose="02020603050405020304" pitchFamily="18" charset="0"/>
                        <a:cs typeface="Arial" panose="020B0604020202020204" pitchFamily="34" charset="0"/>
                      </a:rPr>
                      <m:t>𝑑𝑒𝑠𝑣𝑎𝑙𝑎𝑛𝑐𝑒</m:t>
                    </m:r>
                  </m:oMath>
                </a14:m>
                <a:endParaRPr lang="es-MX"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800"/>
                  </a:spcAft>
                </a:pPr>
                <a:r>
                  <a:rPr lang="es-MX" dirty="0">
                    <a:effectLst/>
                    <a:latin typeface="Arial" panose="020B0604020202020204" pitchFamily="34" charset="0"/>
                    <a:ea typeface="Times New Roman" panose="02020603050405020304" pitchFamily="18" charset="0"/>
                    <a:cs typeface="Times New Roman" panose="02020603050405020304" pitchFamily="18" charset="0"/>
                  </a:rPr>
                  <a:t>K = permeabilidad. </a:t>
                </a:r>
                <a:endParaRPr lang="es-MX"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buNone/>
                </a:pPr>
                <a:endParaRPr lang="es-MX" dirty="0">
                  <a:latin typeface="Arial" panose="020B0604020202020204" pitchFamily="34" charset="0"/>
                  <a:cs typeface="Arial" panose="020B0604020202020204" pitchFamily="34" charset="0"/>
                </a:endParaRPr>
              </a:p>
            </p:txBody>
          </p:sp>
        </mc:Choice>
        <mc:Fallback>
          <p:sp>
            <p:nvSpPr>
              <p:cNvPr id="4" name="Marcador de contenido 3">
                <a:extLst>
                  <a:ext uri="{FF2B5EF4-FFF2-40B4-BE49-F238E27FC236}">
                    <a16:creationId xmlns:a16="http://schemas.microsoft.com/office/drawing/2014/main" id="{0C5DF032-E772-4A26-AAF5-A69E00E36788}"/>
                  </a:ext>
                </a:extLst>
              </p:cNvPr>
              <p:cNvSpPr>
                <a:spLocks noGrp="1" noRot="1" noChangeAspect="1" noMove="1" noResize="1" noEditPoints="1" noAdjustHandles="1" noChangeArrowheads="1" noChangeShapeType="1" noTextEdit="1"/>
              </p:cNvSpPr>
              <p:nvPr>
                <p:ph sz="quarter" idx="11"/>
              </p:nvPr>
            </p:nvSpPr>
            <p:spPr>
              <a:blipFill>
                <a:blip r:embed="rId2"/>
                <a:stretch>
                  <a:fillRect/>
                </a:stretch>
              </a:blipFill>
            </p:spPr>
            <p:txBody>
              <a:bodyPr/>
              <a:lstStyle/>
              <a:p>
                <a:r>
                  <a:rPr lang="es-MX">
                    <a:noFill/>
                  </a:rPr>
                  <a:t> </a:t>
                </a:r>
              </a:p>
            </p:txBody>
          </p:sp>
        </mc:Fallback>
      </mc:AlternateContent>
      <p:sp>
        <p:nvSpPr>
          <p:cNvPr id="5" name="Marcador de número de diapositiva 4">
            <a:extLst>
              <a:ext uri="{FF2B5EF4-FFF2-40B4-BE49-F238E27FC236}">
                <a16:creationId xmlns:a16="http://schemas.microsoft.com/office/drawing/2014/main" id="{EBA893A9-A331-47BC-97BC-08827DDE3C20}"/>
              </a:ext>
            </a:extLst>
          </p:cNvPr>
          <p:cNvSpPr>
            <a:spLocks noGrp="1"/>
          </p:cNvSpPr>
          <p:nvPr>
            <p:ph type="sldNum" sz="quarter" idx="4"/>
          </p:nvPr>
        </p:nvSpPr>
        <p:spPr/>
        <p:txBody>
          <a:bodyPr/>
          <a:lstStyle/>
          <a:p>
            <a:pPr rtl="0"/>
            <a:fld id="{C3DB2ADC-AF19-4574-8C10-79B5B04FCA27}" type="slidenum">
              <a:rPr lang="es-ES" smtClean="0"/>
              <a:pPr rtl="0"/>
              <a:t>23</a:t>
            </a:fld>
            <a:endParaRPr lang="es-ES" dirty="0"/>
          </a:p>
        </p:txBody>
      </p:sp>
      <p:sp>
        <p:nvSpPr>
          <p:cNvPr id="6" name="CuadroTexto 5">
            <a:extLst>
              <a:ext uri="{FF2B5EF4-FFF2-40B4-BE49-F238E27FC236}">
                <a16:creationId xmlns:a16="http://schemas.microsoft.com/office/drawing/2014/main" id="{CCCCDEB9-71C1-4AF5-B8F3-F9F2EBD6B706}"/>
              </a:ext>
            </a:extLst>
          </p:cNvPr>
          <p:cNvSpPr txBox="1"/>
          <p:nvPr/>
        </p:nvSpPr>
        <p:spPr>
          <a:xfrm>
            <a:off x="889686" y="1099751"/>
            <a:ext cx="9477633" cy="369332"/>
          </a:xfrm>
          <a:prstGeom prst="rect">
            <a:avLst/>
          </a:prstGeom>
          <a:noFill/>
        </p:spPr>
        <p:txBody>
          <a:bodyPr wrap="square" rtlCol="0">
            <a:spAutoFit/>
          </a:bodyPr>
          <a:lstStyle/>
          <a:p>
            <a:r>
              <a:rPr lang="es-MX" b="1" dirty="0">
                <a:latin typeface="Arial" panose="020B0604020202020204" pitchFamily="34" charset="0"/>
                <a:cs typeface="Arial" panose="020B0604020202020204" pitchFamily="34" charset="0"/>
              </a:rPr>
              <a:t>DISPARO SOBRE BALANCE O BAJO BALANCE</a:t>
            </a:r>
          </a:p>
        </p:txBody>
      </p:sp>
      <p:sp>
        <p:nvSpPr>
          <p:cNvPr id="7" name="CuadroTexto 6">
            <a:extLst>
              <a:ext uri="{FF2B5EF4-FFF2-40B4-BE49-F238E27FC236}">
                <a16:creationId xmlns:a16="http://schemas.microsoft.com/office/drawing/2014/main" id="{EF29F543-4083-4424-83CE-4642E6A4D8E6}"/>
              </a:ext>
            </a:extLst>
          </p:cNvPr>
          <p:cNvSpPr txBox="1"/>
          <p:nvPr/>
        </p:nvSpPr>
        <p:spPr>
          <a:xfrm>
            <a:off x="6710447" y="1099751"/>
            <a:ext cx="4880919" cy="923330"/>
          </a:xfrm>
          <a:prstGeom prst="rect">
            <a:avLst/>
          </a:prstGeom>
          <a:noFill/>
        </p:spPr>
        <p:txBody>
          <a:bodyPr wrap="square" rtlCol="0">
            <a:spAutoFit/>
          </a:bodyPr>
          <a:lstStyle/>
          <a:p>
            <a:pPr algn="just"/>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3.-</a:t>
            </a:r>
            <a:r>
              <a:rPr lang="es-MX" b="1" dirty="0">
                <a:effectLst/>
                <a:latin typeface="Arial" panose="020B0604020202020204" pitchFamily="34" charset="0"/>
                <a:ea typeface="Times New Roman" panose="02020603050405020304" pitchFamily="18" charset="0"/>
                <a:cs typeface="Times New Roman" panose="02020603050405020304" pitchFamily="18" charset="0"/>
              </a:rPr>
              <a:t> DETERMINAR EL MÍNIMO DESBALANCE PARA SUPERAR EL FACTOR DE DAÑO </a:t>
            </a:r>
            <a:endParaRPr lang="es-MX" dirty="0"/>
          </a:p>
        </p:txBody>
      </p:sp>
    </p:spTree>
    <p:extLst>
      <p:ext uri="{BB962C8B-B14F-4D97-AF65-F5344CB8AC3E}">
        <p14:creationId xmlns:p14="http://schemas.microsoft.com/office/powerpoint/2010/main" val="2613171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5E2B9D7-023F-4C41-BA45-56FC0800D2DB}"/>
              </a:ext>
            </a:extLst>
          </p:cNvPr>
          <p:cNvSpPr>
            <a:spLocks noGrp="1"/>
          </p:cNvSpPr>
          <p:nvPr>
            <p:ph type="title"/>
          </p:nvPr>
        </p:nvSpPr>
        <p:spPr/>
        <p:txBody>
          <a:bodyPr/>
          <a:lstStyle/>
          <a:p>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4.- Cálculo del máximo desbalance. (UM)</a:t>
            </a:r>
            <a:br>
              <a:rPr lang="es-MX" sz="1800" b="1" dirty="0">
                <a:effectLst/>
                <a:latin typeface="Arial" panose="020B0604020202020204" pitchFamily="34" charset="0"/>
                <a:ea typeface="Times New Roman" panose="02020603050405020304" pitchFamily="18" charset="0"/>
                <a:cs typeface="Times New Roman" panose="02020603050405020304" pitchFamily="18" charset="0"/>
              </a:rPr>
            </a:b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 </a:t>
            </a:r>
            <a:endParaRPr lang="es-MX"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3176D02B-8F88-46FB-A62D-DB62A740CA21}"/>
                  </a:ext>
                </a:extLst>
              </p:cNvPr>
              <p:cNvSpPr>
                <a:spLocks noGrp="1"/>
              </p:cNvSpPr>
              <p:nvPr>
                <p:ph sz="quarter" idx="11"/>
              </p:nvPr>
            </p:nvSpPr>
            <p:spPr>
              <a:xfrm>
                <a:off x="700086" y="1556951"/>
                <a:ext cx="5157017" cy="4600670"/>
              </a:xfrm>
            </p:spPr>
            <p:txBody>
              <a:bodyPr>
                <a:normAutofit/>
              </a:bodyPr>
              <a:lstStyle/>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El siguiente paso es el calculo del máximo desbalance.</a:t>
                </a:r>
                <a:endParaRPr lang="es-MX" sz="1800" i="1" dirty="0">
                  <a:effectLst/>
                  <a:latin typeface="Cambria Math" panose="02040503050406030204" pitchFamily="18" charset="0"/>
                  <a:ea typeface="Times New Roman" panose="02020603050405020304" pitchFamily="18" charset="0"/>
                  <a:cs typeface="Arial" panose="020B0604020202020204" pitchFamily="34" charset="0"/>
                </a:endParaRPr>
              </a:p>
              <a:p>
                <a:pPr marL="0" indent="0" algn="just">
                  <a:lnSpc>
                    <a:spcPct val="115000"/>
                  </a:lnSpc>
                  <a:spcAft>
                    <a:spcPts val="800"/>
                  </a:spcAft>
                  <a:buNone/>
                </a:pPr>
                <a14:m>
                  <m:oMathPara xmlns:m="http://schemas.openxmlformats.org/officeDocument/2006/math">
                    <m:oMathParaPr>
                      <m:jc m:val="centerGroup"/>
                    </m:oMathParaPr>
                    <m:oMath xmlns:m="http://schemas.openxmlformats.org/officeDocument/2006/math">
                      <m:r>
                        <a:rPr lang="es-MX" sz="1800" i="1">
                          <a:effectLst/>
                          <a:latin typeface="Cambria Math" panose="02040503050406030204" pitchFamily="18" charset="0"/>
                          <a:ea typeface="Times New Roman" panose="02020603050405020304" pitchFamily="18" charset="0"/>
                          <a:cs typeface="Arial" panose="020B0604020202020204" pitchFamily="34" charset="0"/>
                        </a:rPr>
                        <m:t>𝑈𝑀</m:t>
                      </m:r>
                      <m:r>
                        <a:rPr lang="es-MX" sz="1800" i="1">
                          <a:effectLst/>
                          <a:latin typeface="Cambria Math" panose="02040503050406030204" pitchFamily="18" charset="0"/>
                          <a:ea typeface="Times New Roman" panose="02020603050405020304" pitchFamily="18" charset="0"/>
                          <a:cs typeface="Arial" panose="020B0604020202020204" pitchFamily="34" charset="0"/>
                        </a:rPr>
                        <m:t>=</m:t>
                      </m:r>
                      <m:d>
                        <m:d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dPr>
                        <m:e>
                          <m:r>
                            <a:rPr lang="es-MX" sz="1800" i="1">
                              <a:effectLst/>
                              <a:latin typeface="Cambria Math" panose="02040503050406030204" pitchFamily="18" charset="0"/>
                              <a:ea typeface="Times New Roman" panose="02020603050405020304" pitchFamily="18" charset="0"/>
                              <a:cs typeface="Arial" panose="020B0604020202020204" pitchFamily="34" charset="0"/>
                            </a:rPr>
                            <m:t>𝑃𝑟𝑒𝑠𝑖𝑜𝑛</m:t>
                          </m:r>
                          <m:r>
                            <a:rPr lang="es-MX" sz="1800" i="1">
                              <a:effectLst/>
                              <a:latin typeface="Cambria Math" panose="02040503050406030204" pitchFamily="18" charset="0"/>
                              <a:ea typeface="Times New Roman" panose="02020603050405020304" pitchFamily="18" charset="0"/>
                              <a:cs typeface="Arial" panose="020B0604020202020204" pitchFamily="34" charset="0"/>
                            </a:rPr>
                            <m:t> </m:t>
                          </m:r>
                          <m:r>
                            <a:rPr lang="es-MX" sz="1800" i="1">
                              <a:effectLst/>
                              <a:latin typeface="Cambria Math" panose="02040503050406030204" pitchFamily="18" charset="0"/>
                              <a:ea typeface="Times New Roman" panose="02020603050405020304" pitchFamily="18" charset="0"/>
                              <a:cs typeface="Arial" panose="020B0604020202020204" pitchFamily="34" charset="0"/>
                            </a:rPr>
                            <m:t>𝑑𝑒</m:t>
                          </m:r>
                          <m:r>
                            <a:rPr lang="es-MX" sz="1800" i="1">
                              <a:effectLst/>
                              <a:latin typeface="Cambria Math" panose="02040503050406030204" pitchFamily="18" charset="0"/>
                              <a:ea typeface="Times New Roman" panose="02020603050405020304" pitchFamily="18" charset="0"/>
                              <a:cs typeface="Arial" panose="020B0604020202020204" pitchFamily="34" charset="0"/>
                            </a:rPr>
                            <m:t> </m:t>
                          </m:r>
                          <m:r>
                            <a:rPr lang="es-MX" sz="1800" i="1">
                              <a:effectLst/>
                              <a:latin typeface="Cambria Math" panose="02040503050406030204" pitchFamily="18" charset="0"/>
                              <a:ea typeface="Times New Roman" panose="02020603050405020304" pitchFamily="18" charset="0"/>
                              <a:cs typeface="Arial" panose="020B0604020202020204" pitchFamily="34" charset="0"/>
                            </a:rPr>
                            <m:t>𝐶𝑜𝑙𝑎𝑝𝑠𝑜</m:t>
                          </m:r>
                          <m:r>
                            <a:rPr lang="es-MX" sz="1800" i="1">
                              <a:effectLst/>
                              <a:latin typeface="Cambria Math" panose="02040503050406030204" pitchFamily="18" charset="0"/>
                              <a:ea typeface="Times New Roman" panose="02020603050405020304" pitchFamily="18" charset="0"/>
                              <a:cs typeface="Arial" panose="020B0604020202020204" pitchFamily="34" charset="0"/>
                            </a:rPr>
                            <m:t> </m:t>
                          </m:r>
                          <m:r>
                            <a:rPr lang="es-MX" sz="1800" i="1">
                              <a:effectLst/>
                              <a:latin typeface="Cambria Math" panose="02040503050406030204" pitchFamily="18" charset="0"/>
                              <a:ea typeface="Times New Roman" panose="02020603050405020304" pitchFamily="18" charset="0"/>
                              <a:cs typeface="Arial" panose="020B0604020202020204" pitchFamily="34" charset="0"/>
                            </a:rPr>
                            <m:t>𝑇𝑢𝑏𝑒𝑟𝑖𝑎</m:t>
                          </m:r>
                          <m:r>
                            <a:rPr lang="es-MX" sz="1800" i="1">
                              <a:effectLst/>
                              <a:latin typeface="Cambria Math" panose="02040503050406030204" pitchFamily="18" charset="0"/>
                              <a:ea typeface="Times New Roman" panose="02020603050405020304" pitchFamily="18" charset="0"/>
                              <a:cs typeface="Arial" panose="020B0604020202020204" pitchFamily="34" charset="0"/>
                            </a:rPr>
                            <m:t>∗0.80</m:t>
                          </m:r>
                        </m:e>
                      </m:d>
                    </m:oMath>
                  </m:oMathPara>
                </a14:m>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Para casos de que la formación sea “No consolidada”, </a:t>
                </a:r>
                <a:endParaRPr lang="es-MX" sz="1800" i="1" dirty="0">
                  <a:effectLst/>
                  <a:latin typeface="Cambria Math" panose="02040503050406030204" pitchFamily="18" charset="0"/>
                  <a:ea typeface="Times New Roman" panose="02020603050405020304" pitchFamily="18" charset="0"/>
                  <a:cs typeface="Times New Roman" panose="02020603050405020304" pitchFamily="18" charset="0"/>
                </a:endParaRPr>
              </a:p>
              <a:p>
                <a:pPr marL="0" indent="0" algn="just">
                  <a:lnSpc>
                    <a:spcPct val="115000"/>
                  </a:lnSpc>
                  <a:spcAft>
                    <a:spcPts val="800"/>
                  </a:spcAft>
                  <a:buNone/>
                </a:pPr>
                <a14:m>
                  <m:oMathPara xmlns:m="http://schemas.openxmlformats.org/officeDocument/2006/math">
                    <m:oMathParaPr>
                      <m:jc m:val="centerGroup"/>
                    </m:oMathParaPr>
                    <m:oMath xmlns:m="http://schemas.openxmlformats.org/officeDocument/2006/math">
                      <m:r>
                        <a:rPr lang="es-MX" sz="1800" i="1">
                          <a:effectLst/>
                          <a:latin typeface="Cambria Math" panose="02040503050406030204" pitchFamily="18" charset="0"/>
                          <a:ea typeface="Times New Roman" panose="02020603050405020304" pitchFamily="18" charset="0"/>
                          <a:cs typeface="Times New Roman" panose="02020603050405020304" pitchFamily="18" charset="0"/>
                        </a:rPr>
                        <m:t>𝑈𝑀</m:t>
                      </m:r>
                      <m:r>
                        <a:rPr lang="es-MX" sz="1800" i="1">
                          <a:effectLst/>
                          <a:latin typeface="Cambria Math" panose="02040503050406030204" pitchFamily="18" charset="0"/>
                          <a:ea typeface="Times New Roman" panose="02020603050405020304" pitchFamily="18" charset="0"/>
                          <a:cs typeface="Times New Roman" panose="02020603050405020304" pitchFamily="18" charset="0"/>
                        </a:rPr>
                        <m:t>=3600−20 ∆</m:t>
                      </m:r>
                      <m:r>
                        <a:rPr lang="es-MX" sz="1800" i="1">
                          <a:effectLst/>
                          <a:latin typeface="Cambria Math" panose="02040503050406030204" pitchFamily="18" charset="0"/>
                          <a:ea typeface="Times New Roman" panose="02020603050405020304" pitchFamily="18" charset="0"/>
                          <a:cs typeface="Times New Roman" panose="02020603050405020304" pitchFamily="18" charset="0"/>
                        </a:rPr>
                        <m:t>𝑡</m:t>
                      </m:r>
                    </m:oMath>
                  </m:oMathPara>
                </a14:m>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pPr marL="0" indent="0" algn="ctr">
                  <a:spcAft>
                    <a:spcPts val="1000"/>
                  </a:spcAft>
                  <a:buNone/>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Ecuación 4: UM para aceite con registro sónico</a:t>
                </a:r>
              </a:p>
              <a:p>
                <a:pPr marL="0" indent="0" algn="ctr">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o</a:t>
                </a: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r>
                        <a:rPr lang="es-MX" sz="1800" i="1">
                          <a:effectLst/>
                          <a:latin typeface="Cambria Math" panose="02040503050406030204" pitchFamily="18" charset="0"/>
                          <a:ea typeface="Calibri" panose="020F0502020204030204" pitchFamily="34" charset="0"/>
                          <a:cs typeface="Times New Roman" panose="02020603050405020304" pitchFamily="18" charset="0"/>
                        </a:rPr>
                        <m:t>𝑈𝑀</m:t>
                      </m:r>
                      <m:r>
                        <a:rPr lang="es-MX" sz="1800" i="1">
                          <a:effectLst/>
                          <a:latin typeface="Cambria Math" panose="02040503050406030204" pitchFamily="18" charset="0"/>
                          <a:ea typeface="Calibri" panose="020F0502020204030204" pitchFamily="34" charset="0"/>
                          <a:cs typeface="Times New Roman" panose="02020603050405020304" pitchFamily="18" charset="0"/>
                        </a:rPr>
                        <m:t>=2340</m:t>
                      </m:r>
                      <m:r>
                        <a:rPr lang="es-MX" sz="1800" i="1">
                          <a:effectLst/>
                          <a:latin typeface="Cambria Math" panose="02040503050406030204" pitchFamily="18" charset="0"/>
                          <a:ea typeface="Calibri" panose="020F0502020204030204" pitchFamily="34" charset="0"/>
                          <a:cs typeface="Times New Roman" panose="02020603050405020304" pitchFamily="18" charset="0"/>
                        </a:rPr>
                        <m:t>𝜌</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𝑏</m:t>
                      </m:r>
                      <m:r>
                        <a:rPr lang="es-MX" sz="1800" i="1">
                          <a:effectLst/>
                          <a:latin typeface="Cambria Math" panose="02040503050406030204" pitchFamily="18" charset="0"/>
                          <a:ea typeface="Calibri" panose="020F0502020204030204" pitchFamily="34" charset="0"/>
                          <a:cs typeface="Times New Roman" panose="02020603050405020304" pitchFamily="18" charset="0"/>
                        </a:rPr>
                        <m:t>−4000</m:t>
                      </m:r>
                    </m:oMath>
                  </m:oMathPara>
                </a14:m>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ctr">
                  <a:spcAft>
                    <a:spcPts val="1000"/>
                  </a:spcAft>
                  <a:buNone/>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Ecuación 5: UM para aceite con registro de densidad</a:t>
                </a:r>
              </a:p>
              <a:p>
                <a:endParaRPr lang="es-MX" dirty="0"/>
              </a:p>
            </p:txBody>
          </p:sp>
        </mc:Choice>
        <mc:Fallback>
          <p:sp>
            <p:nvSpPr>
              <p:cNvPr id="3" name="Marcador de contenido 2">
                <a:extLst>
                  <a:ext uri="{FF2B5EF4-FFF2-40B4-BE49-F238E27FC236}">
                    <a16:creationId xmlns:a16="http://schemas.microsoft.com/office/drawing/2014/main" id="{3176D02B-8F88-46FB-A62D-DB62A740CA21}"/>
                  </a:ext>
                </a:extLst>
              </p:cNvPr>
              <p:cNvSpPr>
                <a:spLocks noGrp="1" noRot="1" noChangeAspect="1" noMove="1" noResize="1" noEditPoints="1" noAdjustHandles="1" noChangeArrowheads="1" noChangeShapeType="1" noTextEdit="1"/>
              </p:cNvSpPr>
              <p:nvPr>
                <p:ph sz="quarter" idx="11"/>
              </p:nvPr>
            </p:nvSpPr>
            <p:spPr>
              <a:xfrm>
                <a:off x="700086" y="1556951"/>
                <a:ext cx="5157017" cy="4600670"/>
              </a:xfrm>
              <a:blipFill>
                <a:blip r:embed="rId2"/>
                <a:stretch>
                  <a:fillRect l="-1064" t="-265" r="-946"/>
                </a:stretch>
              </a:blipFill>
            </p:spPr>
            <p:txBody>
              <a:bodyPr/>
              <a:lstStyle/>
              <a:p>
                <a:r>
                  <a:rPr lang="es-MX">
                    <a:noFill/>
                  </a:rPr>
                  <a:t> </a:t>
                </a:r>
              </a:p>
            </p:txBody>
          </p:sp>
        </mc:Fallback>
      </mc:AlternateContent>
      <p:sp>
        <p:nvSpPr>
          <p:cNvPr id="5" name="Marcador de número de diapositiva 4">
            <a:extLst>
              <a:ext uri="{FF2B5EF4-FFF2-40B4-BE49-F238E27FC236}">
                <a16:creationId xmlns:a16="http://schemas.microsoft.com/office/drawing/2014/main" id="{34AC974D-4067-4D21-B885-B0694ECE77A5}"/>
              </a:ext>
            </a:extLst>
          </p:cNvPr>
          <p:cNvSpPr>
            <a:spLocks noGrp="1"/>
          </p:cNvSpPr>
          <p:nvPr>
            <p:ph type="sldNum" sz="quarter" idx="4"/>
          </p:nvPr>
        </p:nvSpPr>
        <p:spPr/>
        <p:txBody>
          <a:bodyPr/>
          <a:lstStyle/>
          <a:p>
            <a:pPr rtl="0"/>
            <a:fld id="{C3DB2ADC-AF19-4574-8C10-79B5B04FCA27}" type="slidenum">
              <a:rPr lang="es-ES" smtClean="0"/>
              <a:pPr rtl="0"/>
              <a:t>24</a:t>
            </a:fld>
            <a:endParaRPr lang="es-ES" dirty="0"/>
          </a:p>
        </p:txBody>
      </p:sp>
      <mc:AlternateContent xmlns:mc="http://schemas.openxmlformats.org/markup-compatibility/2006">
        <mc:Choice xmlns:a14="http://schemas.microsoft.com/office/drawing/2010/main" Requires="a14">
          <p:sp>
            <p:nvSpPr>
              <p:cNvPr id="6" name="Marcador de contenido 3">
                <a:extLst>
                  <a:ext uri="{FF2B5EF4-FFF2-40B4-BE49-F238E27FC236}">
                    <a16:creationId xmlns:a16="http://schemas.microsoft.com/office/drawing/2014/main" id="{5E36A651-9287-4A51-84BB-5D1E70A4C2E6}"/>
                  </a:ext>
                </a:extLst>
              </p:cNvPr>
              <p:cNvSpPr txBox="1">
                <a:spLocks/>
              </p:cNvSpPr>
              <p:nvPr/>
            </p:nvSpPr>
            <p:spPr>
              <a:xfrm>
                <a:off x="6334899" y="1530469"/>
                <a:ext cx="4312508" cy="5008443"/>
              </a:xfrm>
              <a:prstGeom prst="rect">
                <a:avLst/>
              </a:prstGeom>
            </p:spPr>
            <p:txBody>
              <a:bodyPr vert="horz" lIns="91440" tIns="45720" rIns="91440" bIns="45720" rtlCol="0">
                <a:normAutofit/>
              </a:bodyPr>
              <a:lstStyle>
                <a:defPPr>
                  <a:defRPr lang="es-ES"/>
                </a:defPPr>
                <a:lvl1pPr marL="228600" indent="-228600" algn="l" defTabSz="914400" rtl="0" eaLnBrk="1" latinLnBrk="0" hangingPunct="1">
                  <a:lnSpc>
                    <a:spcPct val="120000"/>
                  </a:lnSpc>
                  <a:spcBef>
                    <a:spcPts val="0"/>
                  </a:spcBef>
                  <a:spcAft>
                    <a:spcPts val="1200"/>
                  </a:spcAft>
                  <a:buFont typeface="Arial" panose="020B0604020202020204" pitchFamily="34" charset="0"/>
                  <a:buChar char="•"/>
                  <a:defRPr lang="es-ES" sz="2000" kern="1200">
                    <a:solidFill>
                      <a:schemeClr val="tx1"/>
                    </a:solidFill>
                    <a:latin typeface="+mn-lt"/>
                    <a:ea typeface="+mn-ea"/>
                    <a:cs typeface="+mn-cs"/>
                  </a:defRPr>
                </a:lvl1pPr>
                <a:lvl2pPr marL="685800" indent="-228600" algn="l" defTabSz="914400" rtl="0" eaLnBrk="1" latinLnBrk="0" hangingPunct="1">
                  <a:lnSpc>
                    <a:spcPct val="120000"/>
                  </a:lnSpc>
                  <a:spcBef>
                    <a:spcPts val="0"/>
                  </a:spcBef>
                  <a:spcAft>
                    <a:spcPts val="1200"/>
                  </a:spcAft>
                  <a:buFont typeface="Arial" panose="020B0604020202020204" pitchFamily="34" charset="0"/>
                  <a:buChar char="•"/>
                  <a:defRPr lang="es-ES" sz="1800" kern="1200">
                    <a:solidFill>
                      <a:schemeClr val="tx1"/>
                    </a:solidFill>
                    <a:latin typeface="+mn-lt"/>
                    <a:ea typeface="+mn-ea"/>
                    <a:cs typeface="+mn-cs"/>
                  </a:defRPr>
                </a:lvl2pPr>
                <a:lvl3pPr marL="1143000" indent="-228600" algn="l" defTabSz="914400" rtl="0" eaLnBrk="1" latinLnBrk="0" hangingPunct="1">
                  <a:lnSpc>
                    <a:spcPct val="120000"/>
                  </a:lnSpc>
                  <a:spcBef>
                    <a:spcPts val="0"/>
                  </a:spcBef>
                  <a:spcAft>
                    <a:spcPts val="1200"/>
                  </a:spcAft>
                  <a:buFont typeface="Arial" panose="020B0604020202020204" pitchFamily="34" charset="0"/>
                  <a:buChar char="•"/>
                  <a:defRPr lang="es-ES" sz="1600" kern="1200">
                    <a:solidFill>
                      <a:schemeClr val="tx1"/>
                    </a:solidFill>
                    <a:latin typeface="+mn-lt"/>
                    <a:ea typeface="+mn-ea"/>
                    <a:cs typeface="+mn-cs"/>
                  </a:defRPr>
                </a:lvl3pPr>
                <a:lvl4pPr marL="1600200" indent="-228600" algn="l" defTabSz="914400" rtl="0" eaLnBrk="1" latinLnBrk="0" hangingPunct="1">
                  <a:lnSpc>
                    <a:spcPct val="120000"/>
                  </a:lnSpc>
                  <a:spcBef>
                    <a:spcPts val="0"/>
                  </a:spcBef>
                  <a:spcAft>
                    <a:spcPts val="1200"/>
                  </a:spcAft>
                  <a:buFont typeface="Arial" panose="020B0604020202020204" pitchFamily="34" charset="0"/>
                  <a:buChar char="•"/>
                  <a:defRPr lang="es-ES" sz="1400" kern="1200">
                    <a:solidFill>
                      <a:schemeClr val="tx1"/>
                    </a:solidFill>
                    <a:latin typeface="+mn-lt"/>
                    <a:ea typeface="+mn-ea"/>
                    <a:cs typeface="+mn-cs"/>
                  </a:defRPr>
                </a:lvl4pPr>
                <a:lvl5pPr marL="2057400" indent="-228600" algn="l" defTabSz="914400" rtl="0" eaLnBrk="1" latinLnBrk="0" hangingPunct="1">
                  <a:lnSpc>
                    <a:spcPct val="120000"/>
                  </a:lnSpc>
                  <a:spcBef>
                    <a:spcPts val="0"/>
                  </a:spcBef>
                  <a:spcAft>
                    <a:spcPts val="1200"/>
                  </a:spcAft>
                  <a:buFont typeface="Arial" panose="020B0604020202020204" pitchFamily="34" charset="0"/>
                  <a:buChar char="•"/>
                  <a:defRPr lang="es-E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pPr algn="just">
                  <a:lnSpc>
                    <a:spcPct val="115000"/>
                  </a:lnSpc>
                  <a:spcAft>
                    <a:spcPts val="800"/>
                  </a:spcAft>
                </a:pPr>
                <a:r>
                  <a:rPr lang="es-MX" sz="1800" dirty="0">
                    <a:latin typeface="Arial" panose="020B0604020202020204" pitchFamily="34" charset="0"/>
                    <a:ea typeface="Calibri" panose="020F0502020204030204" pitchFamily="34" charset="0"/>
                    <a:cs typeface="Times New Roman" panose="02020603050405020304" pitchFamily="18" charset="0"/>
                  </a:rPr>
                  <a:t>En caso de que el fluido sea gas, las ecuaciones serian:</a:t>
                </a:r>
              </a:p>
              <a:p>
                <a:pPr marL="0" indent="0" algn="just">
                  <a:lnSpc>
                    <a:spcPct val="115000"/>
                  </a:lnSpc>
                  <a:spcAft>
                    <a:spcPts val="800"/>
                  </a:spcAft>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s-MX" sz="1800" i="1">
                          <a:latin typeface="Cambria Math" panose="02040503050406030204" pitchFamily="18" charset="0"/>
                          <a:ea typeface="Calibri" panose="020F0502020204030204" pitchFamily="34" charset="0"/>
                          <a:cs typeface="Times New Roman" panose="02020603050405020304" pitchFamily="18" charset="0"/>
                        </a:rPr>
                        <m:t>𝑈𝑀</m:t>
                      </m:r>
                      <m:r>
                        <a:rPr lang="es-MX" sz="1800" i="1">
                          <a:latin typeface="Cambria Math" panose="02040503050406030204" pitchFamily="18" charset="0"/>
                          <a:ea typeface="Calibri" panose="020F0502020204030204" pitchFamily="34" charset="0"/>
                          <a:cs typeface="Times New Roman" panose="02020603050405020304" pitchFamily="18" charset="0"/>
                        </a:rPr>
                        <m:t>=4750−25∆</m:t>
                      </m:r>
                      <m:r>
                        <a:rPr lang="es-MX" sz="1800" i="1">
                          <a:latin typeface="Cambria Math" panose="02040503050406030204" pitchFamily="18" charset="0"/>
                          <a:ea typeface="Calibri" panose="020F0502020204030204" pitchFamily="34" charset="0"/>
                          <a:cs typeface="Times New Roman" panose="02020603050405020304" pitchFamily="18" charset="0"/>
                        </a:rPr>
                        <m:t>𝑇</m:t>
                      </m:r>
                    </m:oMath>
                  </m:oMathPara>
                </a14:m>
                <a:endParaRPr lang="es-MX" sz="1800" dirty="0">
                  <a:latin typeface="Arial" panose="020B0604020202020204" pitchFamily="34" charset="0"/>
                  <a:ea typeface="Calibri" panose="020F0502020204030204" pitchFamily="34" charset="0"/>
                  <a:cs typeface="Times New Roman" panose="02020603050405020304" pitchFamily="18" charset="0"/>
                </a:endParaRPr>
              </a:p>
              <a:p>
                <a:pPr algn="ctr">
                  <a:spcAft>
                    <a:spcPts val="1000"/>
                  </a:spcAft>
                </a:pPr>
                <a:r>
                  <a:rPr lang="es-MX" sz="18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Ecuación 6: UM para gas con registro sónico</a:t>
                </a:r>
              </a:p>
              <a:p>
                <a:pPr marL="0" indent="0" algn="ctr">
                  <a:lnSpc>
                    <a:spcPct val="115000"/>
                  </a:lnSpc>
                  <a:spcAft>
                    <a:spcPts val="800"/>
                  </a:spcAft>
                  <a:buFont typeface="Arial" panose="020B0604020202020204" pitchFamily="34" charset="0"/>
                  <a:buNone/>
                </a:pPr>
                <a:r>
                  <a:rPr lang="es-MX" sz="1800" dirty="0">
                    <a:latin typeface="Arial" panose="020B0604020202020204" pitchFamily="34" charset="0"/>
                    <a:ea typeface="Calibri" panose="020F0502020204030204" pitchFamily="34" charset="0"/>
                    <a:cs typeface="Times New Roman" panose="02020603050405020304" pitchFamily="18" charset="0"/>
                  </a:rPr>
                  <a:t>o</a:t>
                </a:r>
              </a:p>
              <a:p>
                <a:pPr marL="0" indent="0" algn="just">
                  <a:lnSpc>
                    <a:spcPct val="115000"/>
                  </a:lnSpc>
                  <a:spcAft>
                    <a:spcPts val="800"/>
                  </a:spcAft>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s-MX" sz="1800" i="1">
                          <a:latin typeface="Cambria Math" panose="02040503050406030204" pitchFamily="18" charset="0"/>
                          <a:ea typeface="Times New Roman" panose="02020603050405020304" pitchFamily="18" charset="0"/>
                          <a:cs typeface="Arial" panose="020B0604020202020204" pitchFamily="34" charset="0"/>
                        </a:rPr>
                        <m:t>𝑈𝑀</m:t>
                      </m:r>
                      <m:r>
                        <a:rPr lang="es-MX" sz="1800" i="1">
                          <a:latin typeface="Cambria Math" panose="02040503050406030204" pitchFamily="18" charset="0"/>
                          <a:ea typeface="Times New Roman" panose="02020603050405020304" pitchFamily="18" charset="0"/>
                          <a:cs typeface="Arial" panose="020B0604020202020204" pitchFamily="34" charset="0"/>
                        </a:rPr>
                        <m:t>=2900</m:t>
                      </m:r>
                      <m:r>
                        <a:rPr lang="es-MX" sz="1800" i="1">
                          <a:latin typeface="Cambria Math" panose="02040503050406030204" pitchFamily="18" charset="0"/>
                          <a:ea typeface="Times New Roman" panose="02020603050405020304" pitchFamily="18" charset="0"/>
                          <a:cs typeface="Arial" panose="020B0604020202020204" pitchFamily="34" charset="0"/>
                        </a:rPr>
                        <m:t>𝜌</m:t>
                      </m:r>
                      <m:r>
                        <a:rPr lang="es-MX" sz="1800" i="1">
                          <a:latin typeface="Cambria Math" panose="02040503050406030204" pitchFamily="18" charset="0"/>
                          <a:ea typeface="Times New Roman" panose="02020603050405020304" pitchFamily="18" charset="0"/>
                          <a:cs typeface="Arial" panose="020B0604020202020204" pitchFamily="34" charset="0"/>
                        </a:rPr>
                        <m:t>𝑏</m:t>
                      </m:r>
                      <m:r>
                        <a:rPr lang="es-MX" sz="1800" i="1">
                          <a:latin typeface="Cambria Math" panose="02040503050406030204" pitchFamily="18" charset="0"/>
                          <a:ea typeface="Times New Roman" panose="02020603050405020304" pitchFamily="18" charset="0"/>
                          <a:cs typeface="Arial" panose="020B0604020202020204" pitchFamily="34" charset="0"/>
                        </a:rPr>
                        <m:t>−4700</m:t>
                      </m:r>
                    </m:oMath>
                  </m:oMathPara>
                </a14:m>
                <a:endParaRPr lang="es-MX" sz="1800" dirty="0">
                  <a:latin typeface="Calibri" panose="020F0502020204030204" pitchFamily="34" charset="0"/>
                  <a:ea typeface="Calibri" panose="020F0502020204030204" pitchFamily="34" charset="0"/>
                  <a:cs typeface="Times New Roman" panose="02020603050405020304" pitchFamily="18" charset="0"/>
                </a:endParaRPr>
              </a:p>
              <a:p>
                <a:pPr algn="ctr">
                  <a:spcAft>
                    <a:spcPts val="1000"/>
                  </a:spcAft>
                </a:pPr>
                <a:r>
                  <a:rPr lang="es-MX" sz="1800"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Ecuación 7: UM para aceite con registro sónico</a:t>
                </a:r>
              </a:p>
              <a:p>
                <a:endParaRPr lang="es-MX" dirty="0"/>
              </a:p>
            </p:txBody>
          </p:sp>
        </mc:Choice>
        <mc:Fallback>
          <p:sp>
            <p:nvSpPr>
              <p:cNvPr id="6" name="Marcador de contenido 3">
                <a:extLst>
                  <a:ext uri="{FF2B5EF4-FFF2-40B4-BE49-F238E27FC236}">
                    <a16:creationId xmlns:a16="http://schemas.microsoft.com/office/drawing/2014/main" id="{5E36A651-9287-4A51-84BB-5D1E70A4C2E6}"/>
                  </a:ext>
                </a:extLst>
              </p:cNvPr>
              <p:cNvSpPr txBox="1">
                <a:spLocks noRot="1" noChangeAspect="1" noMove="1" noResize="1" noEditPoints="1" noAdjustHandles="1" noChangeArrowheads="1" noChangeShapeType="1" noTextEdit="1"/>
              </p:cNvSpPr>
              <p:nvPr/>
            </p:nvSpPr>
            <p:spPr>
              <a:xfrm>
                <a:off x="6334899" y="1530469"/>
                <a:ext cx="4312508" cy="5008443"/>
              </a:xfrm>
              <a:prstGeom prst="rect">
                <a:avLst/>
              </a:prstGeom>
              <a:blipFill>
                <a:blip r:embed="rId3"/>
                <a:stretch>
                  <a:fillRect l="-847" t="-243" r="-1130"/>
                </a:stretch>
              </a:blipFill>
            </p:spPr>
            <p:txBody>
              <a:bodyPr/>
              <a:lstStyle/>
              <a:p>
                <a:r>
                  <a:rPr lang="es-MX">
                    <a:noFill/>
                  </a:rPr>
                  <a:t> </a:t>
                </a:r>
              </a:p>
            </p:txBody>
          </p:sp>
        </mc:Fallback>
      </mc:AlternateContent>
    </p:spTree>
    <p:extLst>
      <p:ext uri="{BB962C8B-B14F-4D97-AF65-F5344CB8AC3E}">
        <p14:creationId xmlns:p14="http://schemas.microsoft.com/office/powerpoint/2010/main" val="1633301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6967A25-606C-4A60-BABA-2EC8D5EB9563}"/>
              </a:ext>
            </a:extLst>
          </p:cNvPr>
          <p:cNvSpPr>
            <a:spLocks noGrp="1"/>
          </p:cNvSpPr>
          <p:nvPr>
            <p:ph type="title"/>
          </p:nvPr>
        </p:nvSpPr>
        <p:spPr/>
        <p:txBody>
          <a:bodyPr/>
          <a:lstStyle/>
          <a:p>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5.- Cálculo del promedio entre mínimo y máximo desbalance</a:t>
            </a:r>
            <a:br>
              <a:rPr lang="es-MX" sz="1800" b="1" dirty="0">
                <a:effectLst/>
                <a:latin typeface="Arial" panose="020B0604020202020204" pitchFamily="34" charset="0"/>
                <a:ea typeface="Times New Roman" panose="02020603050405020304" pitchFamily="18" charset="0"/>
                <a:cs typeface="Times New Roman" panose="02020603050405020304" pitchFamily="18" charset="0"/>
              </a:rPr>
            </a:br>
            <a:endParaRPr lang="es-MX"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B50984A4-F455-4B02-9EF0-18A0B8940B5B}"/>
                  </a:ext>
                </a:extLst>
              </p:cNvPr>
              <p:cNvSpPr>
                <a:spLocks noGrp="1"/>
              </p:cNvSpPr>
              <p:nvPr>
                <p:ph sz="quarter" idx="10"/>
              </p:nvPr>
            </p:nvSpPr>
            <p:spPr>
              <a:xfrm>
                <a:off x="1050895" y="1647290"/>
                <a:ext cx="5045105" cy="4233713"/>
              </a:xfrm>
            </p:spPr>
            <p:txBody>
              <a:bodyPr>
                <a:normAutofit fontScale="92500"/>
              </a:bodyPr>
              <a:lstStyle/>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Ya teniendo los desbalances mínimos y máximos, simplemente sacamos el promedio para obtener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Uprom</a:t>
                </a:r>
                <a:r>
                  <a:rPr lang="es-MX" sz="1800" dirty="0">
                    <a:effectLst/>
                    <a:latin typeface="Arial" panose="020B0604020202020204" pitchFamily="34" charset="0"/>
                    <a:ea typeface="Calibri" panose="020F0502020204030204" pitchFamily="34" charset="0"/>
                    <a:cs typeface="Times New Roman" panose="02020603050405020304" pitchFamily="18" charset="0"/>
                  </a:rPr>
                  <a:t>.</a:t>
                </a:r>
              </a:p>
              <a:p>
                <a:pPr marL="0" indent="0" algn="just">
                  <a:lnSpc>
                    <a:spcPct val="115000"/>
                  </a:lnSpc>
                  <a:spcAft>
                    <a:spcPts val="800"/>
                  </a:spcAft>
                  <a:buNone/>
                </a:pPr>
                <a14:m>
                  <m:oMathPara xmlns:m="http://schemas.openxmlformats.org/officeDocument/2006/math">
                    <m:oMathParaPr>
                      <m:jc m:val="centerGroup"/>
                    </m:oMathParaPr>
                    <m:oMath xmlns:m="http://schemas.openxmlformats.org/officeDocument/2006/math">
                      <m:sSub>
                        <m:sSub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800" i="1">
                              <a:effectLst/>
                              <a:latin typeface="Cambria Math" panose="02040503050406030204" pitchFamily="18" charset="0"/>
                              <a:ea typeface="Times New Roman" panose="02020603050405020304" pitchFamily="18" charset="0"/>
                              <a:cs typeface="Arial" panose="020B0604020202020204" pitchFamily="34" charset="0"/>
                            </a:rPr>
                            <m:t>𝑈</m:t>
                          </m:r>
                        </m:e>
                        <m:sub>
                          <m:r>
                            <a:rPr lang="es-MX" sz="1800" i="1">
                              <a:effectLst/>
                              <a:latin typeface="Cambria Math" panose="02040503050406030204" pitchFamily="18" charset="0"/>
                              <a:ea typeface="Times New Roman" panose="02020603050405020304" pitchFamily="18" charset="0"/>
                              <a:cs typeface="Arial" panose="020B0604020202020204" pitchFamily="34" charset="0"/>
                            </a:rPr>
                            <m:t>𝑝𝑟𝑜𝑚</m:t>
                          </m:r>
                        </m:sub>
                      </m:sSub>
                      <m:r>
                        <a:rPr lang="es-MX" sz="1800" i="1">
                          <a:effectLst/>
                          <a:latin typeface="Cambria Math" panose="02040503050406030204" pitchFamily="18" charset="0"/>
                          <a:ea typeface="Times New Roman" panose="02020603050405020304" pitchFamily="18" charset="0"/>
                          <a:cs typeface="Arial" panose="020B0604020202020204" pitchFamily="34" charset="0"/>
                        </a:rPr>
                        <m:t>=</m:t>
                      </m:r>
                      <m:f>
                        <m:f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fPr>
                        <m:num>
                          <m:sSub>
                            <m:sSub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800" i="1">
                                  <a:effectLst/>
                                  <a:latin typeface="Cambria Math" panose="02040503050406030204" pitchFamily="18" charset="0"/>
                                  <a:ea typeface="Times New Roman" panose="02020603050405020304" pitchFamily="18" charset="0"/>
                                  <a:cs typeface="Arial" panose="020B0604020202020204" pitchFamily="34" charset="0"/>
                                </a:rPr>
                                <m:t>𝑈</m:t>
                              </m:r>
                            </m:e>
                            <m:sub>
                              <m:r>
                                <a:rPr lang="es-MX" sz="1800" i="1">
                                  <a:effectLst/>
                                  <a:latin typeface="Cambria Math" panose="02040503050406030204" pitchFamily="18" charset="0"/>
                                  <a:ea typeface="Times New Roman" panose="02020603050405020304" pitchFamily="18" charset="0"/>
                                  <a:cs typeface="Arial" panose="020B0604020202020204" pitchFamily="34" charset="0"/>
                                </a:rPr>
                                <m:t>𝑚</m:t>
                              </m:r>
                            </m:sub>
                          </m:sSub>
                          <m:r>
                            <a:rPr lang="es-MX" sz="1800" i="1">
                              <a:effectLst/>
                              <a:latin typeface="Cambria Math" panose="02040503050406030204" pitchFamily="18" charset="0"/>
                              <a:ea typeface="Times New Roman" panose="02020603050405020304" pitchFamily="18" charset="0"/>
                              <a:cs typeface="Arial" panose="020B0604020202020204" pitchFamily="34" charset="0"/>
                            </a:rPr>
                            <m:t>+</m:t>
                          </m:r>
                          <m:r>
                            <a:rPr lang="es-MX" sz="1800" i="1">
                              <a:effectLst/>
                              <a:latin typeface="Cambria Math" panose="02040503050406030204" pitchFamily="18" charset="0"/>
                              <a:ea typeface="Times New Roman" panose="02020603050405020304" pitchFamily="18" charset="0"/>
                              <a:cs typeface="Arial" panose="020B0604020202020204" pitchFamily="34" charset="0"/>
                            </a:rPr>
                            <m:t>𝑈𝑀</m:t>
                          </m:r>
                        </m:num>
                        <m:den>
                          <m:r>
                            <a:rPr lang="es-MX" sz="1800" i="1">
                              <a:effectLst/>
                              <a:latin typeface="Cambria Math" panose="02040503050406030204" pitchFamily="18" charset="0"/>
                              <a:ea typeface="Times New Roman" panose="02020603050405020304" pitchFamily="18" charset="0"/>
                              <a:cs typeface="Arial" panose="020B0604020202020204" pitchFamily="34" charset="0"/>
                            </a:rPr>
                            <m:t>2</m:t>
                          </m:r>
                        </m:den>
                      </m:f>
                      <m:r>
                        <a:rPr lang="es-MX" sz="1800" i="1">
                          <a:effectLst/>
                          <a:latin typeface="Cambria Math" panose="02040503050406030204" pitchFamily="18" charset="0"/>
                          <a:ea typeface="Times New Roman" panose="02020603050405020304" pitchFamily="18" charset="0"/>
                          <a:cs typeface="Arial" panose="020B0604020202020204" pitchFamily="34" charset="0"/>
                        </a:rPr>
                        <m:t> </m:t>
                      </m:r>
                    </m:oMath>
                  </m:oMathPara>
                </a14:m>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pPr marL="0" indent="0" algn="ctr">
                  <a:spcAft>
                    <a:spcPts val="1000"/>
                  </a:spcAft>
                  <a:buNone/>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Ecuación 8: </a:t>
                </a:r>
                <a:r>
                  <a:rPr lang="es-MX" sz="1800" i="1" dirty="0" err="1">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Uprom</a:t>
                </a:r>
                <a:endPar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Donde:</a:t>
                </a:r>
              </a:p>
              <a:p>
                <a:pPr algn="just">
                  <a:lnSpc>
                    <a:spcPct val="115000"/>
                  </a:lnSpc>
                  <a:spcAft>
                    <a:spcPts val="800"/>
                  </a:spcAft>
                </a:pPr>
                <a14:m>
                  <m:oMath xmlns:m="http://schemas.openxmlformats.org/officeDocument/2006/math">
                    <m:sSub>
                      <m:sSub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800" i="1">
                            <a:effectLst/>
                            <a:latin typeface="Cambria Math" panose="02040503050406030204" pitchFamily="18" charset="0"/>
                            <a:ea typeface="Times New Roman" panose="02020603050405020304" pitchFamily="18" charset="0"/>
                            <a:cs typeface="Arial" panose="020B0604020202020204" pitchFamily="34" charset="0"/>
                          </a:rPr>
                          <m:t>𝑈</m:t>
                        </m:r>
                      </m:e>
                      <m:sub>
                        <m:r>
                          <a:rPr lang="es-MX" sz="1800" i="1">
                            <a:effectLst/>
                            <a:latin typeface="Cambria Math" panose="02040503050406030204" pitchFamily="18" charset="0"/>
                            <a:ea typeface="Times New Roman" panose="02020603050405020304" pitchFamily="18" charset="0"/>
                            <a:cs typeface="Arial" panose="020B0604020202020204" pitchFamily="34" charset="0"/>
                          </a:rPr>
                          <m:t>𝑝𝑟𝑜𝑚</m:t>
                        </m:r>
                      </m:sub>
                    </m:sSub>
                    <m:r>
                      <a:rPr lang="es-MX" sz="1800" i="1">
                        <a:effectLst/>
                        <a:latin typeface="Cambria Math" panose="02040503050406030204" pitchFamily="18" charset="0"/>
                        <a:ea typeface="Times New Roman" panose="02020603050405020304" pitchFamily="18" charset="0"/>
                        <a:cs typeface="Arial" panose="020B0604020202020204" pitchFamily="34" charset="0"/>
                      </a:rPr>
                      <m:t>=</m:t>
                    </m:r>
                    <m:r>
                      <a:rPr lang="es-MX" sz="1800" i="1">
                        <a:effectLst/>
                        <a:latin typeface="Cambria Math" panose="02040503050406030204" pitchFamily="18" charset="0"/>
                        <a:ea typeface="Times New Roman" panose="02020603050405020304" pitchFamily="18" charset="0"/>
                        <a:cs typeface="Arial" panose="020B0604020202020204" pitchFamily="34" charset="0"/>
                      </a:rPr>
                      <m:t>𝑝𝑟𝑜𝑚𝑒𝑑𝑖𝑜</m:t>
                    </m:r>
                    <m:r>
                      <a:rPr lang="es-MX" sz="1800" i="1">
                        <a:effectLst/>
                        <a:latin typeface="Cambria Math" panose="02040503050406030204" pitchFamily="18" charset="0"/>
                        <a:ea typeface="Times New Roman" panose="02020603050405020304" pitchFamily="18" charset="0"/>
                        <a:cs typeface="Arial" panose="020B0604020202020204" pitchFamily="34" charset="0"/>
                      </a:rPr>
                      <m:t> </m:t>
                    </m:r>
                    <m:r>
                      <a:rPr lang="es-MX" sz="1800" i="1">
                        <a:effectLst/>
                        <a:latin typeface="Cambria Math" panose="02040503050406030204" pitchFamily="18" charset="0"/>
                        <a:ea typeface="Times New Roman" panose="02020603050405020304" pitchFamily="18" charset="0"/>
                        <a:cs typeface="Arial" panose="020B0604020202020204" pitchFamily="34" charset="0"/>
                      </a:rPr>
                      <m:t>𝑒𝑛𝑡𝑟𝑒</m:t>
                    </m:r>
                    <m:r>
                      <a:rPr lang="es-MX" sz="1800" i="1">
                        <a:effectLst/>
                        <a:latin typeface="Cambria Math" panose="02040503050406030204" pitchFamily="18" charset="0"/>
                        <a:ea typeface="Times New Roman" panose="02020603050405020304" pitchFamily="18" charset="0"/>
                        <a:cs typeface="Arial" panose="020B0604020202020204" pitchFamily="34" charset="0"/>
                      </a:rPr>
                      <m:t> </m:t>
                    </m:r>
                    <m:r>
                      <a:rPr lang="es-MX" sz="1800" i="1">
                        <a:effectLst/>
                        <a:latin typeface="Cambria Math" panose="02040503050406030204" pitchFamily="18" charset="0"/>
                        <a:ea typeface="Times New Roman" panose="02020603050405020304" pitchFamily="18" charset="0"/>
                        <a:cs typeface="Arial" panose="020B0604020202020204" pitchFamily="34" charset="0"/>
                      </a:rPr>
                      <m:t>𝑚𝑖𝑛𝑖𝑚𝑜</m:t>
                    </m:r>
                    <m:r>
                      <a:rPr lang="es-MX" sz="1800" i="1">
                        <a:effectLst/>
                        <a:latin typeface="Cambria Math" panose="02040503050406030204" pitchFamily="18" charset="0"/>
                        <a:ea typeface="Times New Roman" panose="02020603050405020304" pitchFamily="18" charset="0"/>
                        <a:cs typeface="Arial" panose="020B0604020202020204" pitchFamily="34" charset="0"/>
                      </a:rPr>
                      <m:t> </m:t>
                    </m:r>
                    <m:r>
                      <a:rPr lang="es-MX" sz="1800" i="1">
                        <a:effectLst/>
                        <a:latin typeface="Cambria Math" panose="02040503050406030204" pitchFamily="18" charset="0"/>
                        <a:ea typeface="Times New Roman" panose="02020603050405020304" pitchFamily="18" charset="0"/>
                        <a:cs typeface="Arial" panose="020B0604020202020204" pitchFamily="34" charset="0"/>
                      </a:rPr>
                      <m:t>𝑦</m:t>
                    </m:r>
                    <m:r>
                      <a:rPr lang="es-MX" sz="1800" i="1">
                        <a:effectLst/>
                        <a:latin typeface="Cambria Math" panose="02040503050406030204" pitchFamily="18" charset="0"/>
                        <a:ea typeface="Times New Roman" panose="02020603050405020304" pitchFamily="18" charset="0"/>
                        <a:cs typeface="Arial" panose="020B0604020202020204" pitchFamily="34" charset="0"/>
                      </a:rPr>
                      <m:t> </m:t>
                    </m:r>
                    <m:r>
                      <a:rPr lang="es-MX" sz="1800" i="1">
                        <a:effectLst/>
                        <a:latin typeface="Cambria Math" panose="02040503050406030204" pitchFamily="18" charset="0"/>
                        <a:ea typeface="Times New Roman" panose="02020603050405020304" pitchFamily="18" charset="0"/>
                        <a:cs typeface="Arial" panose="020B0604020202020204" pitchFamily="34" charset="0"/>
                      </a:rPr>
                      <m:t>𝑚𝑎𝑥𝑖𝑚𝑜</m:t>
                    </m:r>
                    <m:r>
                      <a:rPr lang="es-MX" sz="1800" i="1">
                        <a:effectLst/>
                        <a:latin typeface="Cambria Math" panose="02040503050406030204" pitchFamily="18" charset="0"/>
                        <a:ea typeface="Times New Roman" panose="02020603050405020304" pitchFamily="18" charset="0"/>
                        <a:cs typeface="Arial" panose="020B0604020202020204" pitchFamily="34" charset="0"/>
                      </a:rPr>
                      <m:t> </m:t>
                    </m:r>
                    <m:r>
                      <a:rPr lang="es-MX" sz="1800" i="1">
                        <a:effectLst/>
                        <a:latin typeface="Cambria Math" panose="02040503050406030204" pitchFamily="18" charset="0"/>
                        <a:ea typeface="Times New Roman" panose="02020603050405020304" pitchFamily="18" charset="0"/>
                        <a:cs typeface="Arial" panose="020B0604020202020204" pitchFamily="34" charset="0"/>
                      </a:rPr>
                      <m:t>𝑑𝑒𝑠𝑏𝑎𝑙𝑎𝑛𝑐𝑒</m:t>
                    </m:r>
                    <m:r>
                      <a:rPr lang="es-MX" sz="1800" i="1">
                        <a:effectLst/>
                        <a:latin typeface="Cambria Math" panose="02040503050406030204" pitchFamily="18" charset="0"/>
                        <a:ea typeface="Times New Roman" panose="02020603050405020304" pitchFamily="18" charset="0"/>
                        <a:cs typeface="Arial" panose="020B0604020202020204" pitchFamily="34" charset="0"/>
                      </a:rPr>
                      <m:t>.</m:t>
                    </m:r>
                  </m:oMath>
                </a14:m>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14:m>
                  <m:oMath xmlns:m="http://schemas.openxmlformats.org/officeDocument/2006/math">
                    <m:sSub>
                      <m:sSub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800" i="1">
                            <a:effectLst/>
                            <a:latin typeface="Cambria Math" panose="02040503050406030204" pitchFamily="18" charset="0"/>
                            <a:ea typeface="Times New Roman" panose="02020603050405020304" pitchFamily="18" charset="0"/>
                            <a:cs typeface="Arial" panose="020B0604020202020204" pitchFamily="34" charset="0"/>
                          </a:rPr>
                          <m:t>𝑈</m:t>
                        </m:r>
                      </m:e>
                      <m:sub>
                        <m:r>
                          <a:rPr lang="es-MX" sz="1800" i="1">
                            <a:effectLst/>
                            <a:latin typeface="Cambria Math" panose="02040503050406030204" pitchFamily="18" charset="0"/>
                            <a:ea typeface="Times New Roman" panose="02020603050405020304" pitchFamily="18" charset="0"/>
                            <a:cs typeface="Arial" panose="020B0604020202020204" pitchFamily="34" charset="0"/>
                          </a:rPr>
                          <m:t>𝑚</m:t>
                        </m:r>
                      </m:sub>
                    </m:sSub>
                    <m:r>
                      <a:rPr lang="es-MX" sz="1800" i="1">
                        <a:effectLst/>
                        <a:latin typeface="Cambria Math" panose="02040503050406030204" pitchFamily="18" charset="0"/>
                        <a:ea typeface="Times New Roman" panose="02020603050405020304" pitchFamily="18" charset="0"/>
                        <a:cs typeface="Arial" panose="020B0604020202020204" pitchFamily="34" charset="0"/>
                      </a:rPr>
                      <m:t>=</m:t>
                    </m:r>
                    <m:r>
                      <a:rPr lang="es-MX" sz="1800" i="1">
                        <a:effectLst/>
                        <a:latin typeface="Cambria Math" panose="02040503050406030204" pitchFamily="18" charset="0"/>
                        <a:ea typeface="Times New Roman" panose="02020603050405020304" pitchFamily="18" charset="0"/>
                        <a:cs typeface="Arial" panose="020B0604020202020204" pitchFamily="34" charset="0"/>
                      </a:rPr>
                      <m:t>𝑚𝑖𝑛𝑖𝑚𝑜</m:t>
                    </m:r>
                    <m:r>
                      <a:rPr lang="es-MX" sz="1800" i="1">
                        <a:effectLst/>
                        <a:latin typeface="Cambria Math" panose="02040503050406030204" pitchFamily="18" charset="0"/>
                        <a:ea typeface="Times New Roman" panose="02020603050405020304" pitchFamily="18" charset="0"/>
                        <a:cs typeface="Arial" panose="020B0604020202020204" pitchFamily="34" charset="0"/>
                      </a:rPr>
                      <m:t> </m:t>
                    </m:r>
                    <m:r>
                      <a:rPr lang="es-MX" sz="1800" i="1">
                        <a:effectLst/>
                        <a:latin typeface="Cambria Math" panose="02040503050406030204" pitchFamily="18" charset="0"/>
                        <a:ea typeface="Times New Roman" panose="02020603050405020304" pitchFamily="18" charset="0"/>
                        <a:cs typeface="Arial" panose="020B0604020202020204" pitchFamily="34" charset="0"/>
                      </a:rPr>
                      <m:t>𝑑𝑒𝑠𝑏𝑎𝑙𝑎𝑛𝑐𝑒</m:t>
                    </m:r>
                  </m:oMath>
                </a14:m>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14:m>
                  <m:oMath xmlns:m="http://schemas.openxmlformats.org/officeDocument/2006/math">
                    <m:r>
                      <a:rPr lang="es-MX" sz="1800" i="1">
                        <a:effectLst/>
                        <a:latin typeface="Cambria Math" panose="02040503050406030204" pitchFamily="18" charset="0"/>
                        <a:ea typeface="Times New Roman" panose="02020603050405020304" pitchFamily="18" charset="0"/>
                        <a:cs typeface="Arial" panose="020B0604020202020204" pitchFamily="34" charset="0"/>
                      </a:rPr>
                      <m:t>𝑈𝑀</m:t>
                    </m:r>
                    <m:r>
                      <a:rPr lang="es-MX" sz="1800" i="1">
                        <a:effectLst/>
                        <a:latin typeface="Cambria Math" panose="02040503050406030204" pitchFamily="18" charset="0"/>
                        <a:ea typeface="Times New Roman" panose="02020603050405020304" pitchFamily="18" charset="0"/>
                        <a:cs typeface="Arial" panose="020B0604020202020204" pitchFamily="34" charset="0"/>
                      </a:rPr>
                      <m:t>=</m:t>
                    </m:r>
                    <m:r>
                      <a:rPr lang="es-MX" sz="1800" i="1">
                        <a:effectLst/>
                        <a:latin typeface="Cambria Math" panose="02040503050406030204" pitchFamily="18" charset="0"/>
                        <a:ea typeface="Times New Roman" panose="02020603050405020304" pitchFamily="18" charset="0"/>
                        <a:cs typeface="Arial" panose="020B0604020202020204" pitchFamily="34" charset="0"/>
                      </a:rPr>
                      <m:t>𝑚𝑎𝑥𝑖𝑚𝑜</m:t>
                    </m:r>
                    <m:r>
                      <a:rPr lang="es-MX" sz="1800" i="1">
                        <a:effectLst/>
                        <a:latin typeface="Cambria Math" panose="02040503050406030204" pitchFamily="18" charset="0"/>
                        <a:ea typeface="Times New Roman" panose="02020603050405020304" pitchFamily="18" charset="0"/>
                        <a:cs typeface="Arial" panose="020B0604020202020204" pitchFamily="34" charset="0"/>
                      </a:rPr>
                      <m:t> </m:t>
                    </m:r>
                    <m:r>
                      <a:rPr lang="es-MX" sz="1800" i="1">
                        <a:effectLst/>
                        <a:latin typeface="Cambria Math" panose="02040503050406030204" pitchFamily="18" charset="0"/>
                        <a:ea typeface="Times New Roman" panose="02020603050405020304" pitchFamily="18" charset="0"/>
                        <a:cs typeface="Arial" panose="020B0604020202020204" pitchFamily="34" charset="0"/>
                      </a:rPr>
                      <m:t>𝑑𝑒𝑠𝑏𝑎𝑙𝑎𝑛𝑐𝑒</m:t>
                    </m:r>
                  </m:oMath>
                </a14:m>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MX" dirty="0"/>
              </a:p>
            </p:txBody>
          </p:sp>
        </mc:Choice>
        <mc:Fallback>
          <p:sp>
            <p:nvSpPr>
              <p:cNvPr id="3" name="Marcador de contenido 2">
                <a:extLst>
                  <a:ext uri="{FF2B5EF4-FFF2-40B4-BE49-F238E27FC236}">
                    <a16:creationId xmlns:a16="http://schemas.microsoft.com/office/drawing/2014/main" id="{B50984A4-F455-4B02-9EF0-18A0B8940B5B}"/>
                  </a:ext>
                </a:extLst>
              </p:cNvPr>
              <p:cNvSpPr>
                <a:spLocks noGrp="1" noRot="1" noChangeAspect="1" noMove="1" noResize="1" noEditPoints="1" noAdjustHandles="1" noChangeArrowheads="1" noChangeShapeType="1" noTextEdit="1"/>
              </p:cNvSpPr>
              <p:nvPr>
                <p:ph sz="quarter" idx="10"/>
              </p:nvPr>
            </p:nvSpPr>
            <p:spPr>
              <a:xfrm>
                <a:off x="1050895" y="1647290"/>
                <a:ext cx="5045105" cy="4233713"/>
              </a:xfrm>
              <a:blipFill>
                <a:blip r:embed="rId2"/>
                <a:stretch>
                  <a:fillRect l="-725" r="-725"/>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4" name="Marcador de contenido 3">
                <a:extLst>
                  <a:ext uri="{FF2B5EF4-FFF2-40B4-BE49-F238E27FC236}">
                    <a16:creationId xmlns:a16="http://schemas.microsoft.com/office/drawing/2014/main" id="{C54BBFC8-70D2-4BF1-A088-C3FBD25A40C3}"/>
                  </a:ext>
                </a:extLst>
              </p:cNvPr>
              <p:cNvSpPr>
                <a:spLocks noGrp="1"/>
              </p:cNvSpPr>
              <p:nvPr>
                <p:ph sz="quarter" idx="11"/>
              </p:nvPr>
            </p:nvSpPr>
            <p:spPr>
              <a:xfrm>
                <a:off x="6412304" y="1566905"/>
                <a:ext cx="5322496" cy="4233713"/>
              </a:xfrm>
            </p:spPr>
            <p:txBody>
              <a:bodyPr>
                <a:normAutofit fontScale="92500" lnSpcReduction="10000"/>
              </a:bodyPr>
              <a:lstStyle/>
              <a:p>
                <a:pPr algn="just">
                  <a:lnSpc>
                    <a:spcPct val="115000"/>
                  </a:lnSpc>
                  <a:spcAft>
                    <a:spcPts val="800"/>
                  </a:spcAft>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Para finalizar obtenemos el diferencial de presión, aquí se tiene que considerar si hay poca invasión o el cemento es de bajo filtrado se debe usar un valor entre el mínimo y el promedio en caso contrario se debe usar un valor entre el promedio y el máximo.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800"/>
                  </a:spcAft>
                  <a:buNone/>
                </a:pPr>
                <a14:m>
                  <m:oMathPara xmlns:m="http://schemas.openxmlformats.org/officeDocument/2006/math">
                    <m:oMathParaPr>
                      <m:jc m:val="centerGroup"/>
                    </m:oMathParaPr>
                    <m:oMath xmlns:m="http://schemas.openxmlformats.org/officeDocument/2006/math">
                      <m:r>
                        <a:rPr lang="es-MX" sz="1800" i="1">
                          <a:effectLst/>
                          <a:latin typeface="Cambria Math" panose="02040503050406030204" pitchFamily="18" charset="0"/>
                          <a:ea typeface="Times New Roman" panose="02020603050405020304" pitchFamily="18" charset="0"/>
                          <a:cs typeface="Arial" panose="020B0604020202020204" pitchFamily="34" charset="0"/>
                        </a:rPr>
                        <m:t>𝑈</m:t>
                      </m:r>
                      <m:r>
                        <a:rPr lang="es-MX" sz="1800" i="1">
                          <a:effectLst/>
                          <a:latin typeface="Cambria Math" panose="02040503050406030204" pitchFamily="18" charset="0"/>
                          <a:ea typeface="Times New Roman" panose="02020603050405020304" pitchFamily="18" charset="0"/>
                          <a:cs typeface="Arial" panose="020B0604020202020204" pitchFamily="34" charset="0"/>
                        </a:rPr>
                        <m:t>=</m:t>
                      </m:r>
                      <m:f>
                        <m:f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fPr>
                        <m:num>
                          <m:r>
                            <a:rPr lang="es-MX" sz="1800" i="1">
                              <a:effectLst/>
                              <a:latin typeface="Cambria Math" panose="02040503050406030204" pitchFamily="18" charset="0"/>
                              <a:ea typeface="Times New Roman" panose="02020603050405020304" pitchFamily="18" charset="0"/>
                              <a:cs typeface="Arial" panose="020B0604020202020204" pitchFamily="34" charset="0"/>
                            </a:rPr>
                            <m:t>𝑈𝑀</m:t>
                          </m:r>
                          <m:r>
                            <a:rPr lang="es-MX" sz="1800" i="1">
                              <a:effectLst/>
                              <a:latin typeface="Cambria Math" panose="02040503050406030204" pitchFamily="18" charset="0"/>
                              <a:ea typeface="Times New Roman" panose="02020603050405020304" pitchFamily="18" charset="0"/>
                              <a:cs typeface="Arial" panose="020B0604020202020204" pitchFamily="34" charset="0"/>
                            </a:rPr>
                            <m:t>+</m:t>
                          </m:r>
                          <m:sSub>
                            <m:sSub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800" i="1">
                                  <a:effectLst/>
                                  <a:latin typeface="Cambria Math" panose="02040503050406030204" pitchFamily="18" charset="0"/>
                                  <a:ea typeface="Times New Roman" panose="02020603050405020304" pitchFamily="18" charset="0"/>
                                  <a:cs typeface="Arial" panose="020B0604020202020204" pitchFamily="34" charset="0"/>
                                </a:rPr>
                                <m:t>𝑈</m:t>
                              </m:r>
                            </m:e>
                            <m:sub>
                              <m:r>
                                <a:rPr lang="es-MX" sz="1800" i="1">
                                  <a:effectLst/>
                                  <a:latin typeface="Cambria Math" panose="02040503050406030204" pitchFamily="18" charset="0"/>
                                  <a:ea typeface="Times New Roman" panose="02020603050405020304" pitchFamily="18" charset="0"/>
                                  <a:cs typeface="Arial" panose="020B0604020202020204" pitchFamily="34" charset="0"/>
                                </a:rPr>
                                <m:t>𝑝𝑟𝑜𝑚</m:t>
                              </m:r>
                            </m:sub>
                          </m:sSub>
                        </m:num>
                        <m:den>
                          <m:r>
                            <a:rPr lang="es-MX" sz="1800" i="1">
                              <a:effectLst/>
                              <a:latin typeface="Cambria Math" panose="02040503050406030204" pitchFamily="18" charset="0"/>
                              <a:ea typeface="Times New Roman" panose="02020603050405020304" pitchFamily="18" charset="0"/>
                              <a:cs typeface="Arial" panose="020B0604020202020204" pitchFamily="34" charset="0"/>
                            </a:rPr>
                            <m:t>2</m:t>
                          </m:r>
                        </m:den>
                      </m:f>
                      <m:r>
                        <a:rPr lang="es-MX" sz="1800" i="1">
                          <a:effectLst/>
                          <a:latin typeface="Cambria Math" panose="02040503050406030204" pitchFamily="18" charset="0"/>
                          <a:ea typeface="Times New Roman" panose="02020603050405020304" pitchFamily="18" charset="0"/>
                          <a:cs typeface="Arial" panose="020B0604020202020204" pitchFamily="34" charset="0"/>
                        </a:rPr>
                        <m:t> </m:t>
                      </m:r>
                    </m:oMath>
                  </m:oMathPara>
                </a14:m>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ctr">
                  <a:spcAft>
                    <a:spcPts val="1000"/>
                  </a:spcAft>
                  <a:buNone/>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Ecuación 9: U cuando haya poca invasión</a:t>
                </a:r>
                <a:br>
                  <a:rPr lang="es-MX" sz="1800" dirty="0">
                    <a:effectLst/>
                    <a:latin typeface="Arial" panose="020B0604020202020204" pitchFamily="34" charset="0"/>
                    <a:ea typeface="Times New Roman" panose="02020603050405020304" pitchFamily="18" charset="0"/>
                  </a:rPr>
                </a:br>
                <a:r>
                  <a:rPr lang="es-MX" sz="1800" dirty="0">
                    <a:effectLst/>
                    <a:latin typeface="Arial" panose="020B0604020202020204" pitchFamily="34" charset="0"/>
                    <a:ea typeface="Times New Roman" panose="02020603050405020304" pitchFamily="18" charset="0"/>
                    <a:cs typeface="Times New Roman" panose="02020603050405020304" pitchFamily="18" charset="0"/>
                  </a:rPr>
                  <a:t>O</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ctr">
                  <a:lnSpc>
                    <a:spcPct val="107000"/>
                  </a:lnSpc>
                  <a:spcAft>
                    <a:spcPts val="800"/>
                  </a:spcAft>
                  <a:buNone/>
                </a:pPr>
                <a14:m>
                  <m:oMathPara xmlns:m="http://schemas.openxmlformats.org/officeDocument/2006/math">
                    <m:oMathParaPr>
                      <m:jc m:val="centerGroup"/>
                    </m:oMathParaPr>
                    <m:oMath xmlns:m="http://schemas.openxmlformats.org/officeDocument/2006/math">
                      <m:r>
                        <a:rPr lang="es-MX" sz="1800" i="1">
                          <a:effectLst/>
                          <a:latin typeface="Cambria Math" panose="02040503050406030204" pitchFamily="18" charset="0"/>
                          <a:ea typeface="Times New Roman" panose="02020603050405020304" pitchFamily="18" charset="0"/>
                          <a:cs typeface="Arial" panose="020B0604020202020204" pitchFamily="34" charset="0"/>
                        </a:rPr>
                        <m:t>𝑈</m:t>
                      </m:r>
                      <m:r>
                        <a:rPr lang="es-MX" sz="1800" i="1">
                          <a:effectLst/>
                          <a:latin typeface="Cambria Math" panose="02040503050406030204" pitchFamily="18" charset="0"/>
                          <a:ea typeface="Times New Roman" panose="02020603050405020304" pitchFamily="18" charset="0"/>
                          <a:cs typeface="Arial" panose="020B0604020202020204" pitchFamily="34" charset="0"/>
                        </a:rPr>
                        <m:t>=</m:t>
                      </m:r>
                      <m:f>
                        <m:f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fPr>
                        <m:num>
                          <m:sSub>
                            <m:sSub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800" i="1">
                                  <a:effectLst/>
                                  <a:latin typeface="Cambria Math" panose="02040503050406030204" pitchFamily="18" charset="0"/>
                                  <a:ea typeface="Times New Roman" panose="02020603050405020304" pitchFamily="18" charset="0"/>
                                  <a:cs typeface="Arial" panose="020B0604020202020204" pitchFamily="34" charset="0"/>
                                </a:rPr>
                                <m:t>𝑈</m:t>
                              </m:r>
                            </m:e>
                            <m:sub>
                              <m:r>
                                <a:rPr lang="es-MX" sz="1800" i="1">
                                  <a:effectLst/>
                                  <a:latin typeface="Cambria Math" panose="02040503050406030204" pitchFamily="18" charset="0"/>
                                  <a:ea typeface="Times New Roman" panose="02020603050405020304" pitchFamily="18" charset="0"/>
                                  <a:cs typeface="Arial" panose="020B0604020202020204" pitchFamily="34" charset="0"/>
                                </a:rPr>
                                <m:t>𝑚</m:t>
                              </m:r>
                            </m:sub>
                          </m:sSub>
                          <m:r>
                            <a:rPr lang="es-MX" sz="1800" i="1">
                              <a:effectLst/>
                              <a:latin typeface="Cambria Math" panose="02040503050406030204" pitchFamily="18" charset="0"/>
                              <a:ea typeface="Times New Roman" panose="02020603050405020304" pitchFamily="18" charset="0"/>
                              <a:cs typeface="Arial" panose="020B0604020202020204" pitchFamily="34" charset="0"/>
                            </a:rPr>
                            <m:t>+</m:t>
                          </m:r>
                          <m:sSub>
                            <m:sSubPr>
                              <m:ctrlPr>
                                <a:rPr lang="es-MX" sz="18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800" i="1">
                                  <a:effectLst/>
                                  <a:latin typeface="Cambria Math" panose="02040503050406030204" pitchFamily="18" charset="0"/>
                                  <a:ea typeface="Times New Roman" panose="02020603050405020304" pitchFamily="18" charset="0"/>
                                  <a:cs typeface="Arial" panose="020B0604020202020204" pitchFamily="34" charset="0"/>
                                </a:rPr>
                                <m:t>𝑈</m:t>
                              </m:r>
                            </m:e>
                            <m:sub>
                              <m:r>
                                <a:rPr lang="es-MX" sz="1800" i="1">
                                  <a:effectLst/>
                                  <a:latin typeface="Cambria Math" panose="02040503050406030204" pitchFamily="18" charset="0"/>
                                  <a:ea typeface="Times New Roman" panose="02020603050405020304" pitchFamily="18" charset="0"/>
                                  <a:cs typeface="Arial" panose="020B0604020202020204" pitchFamily="34" charset="0"/>
                                </a:rPr>
                                <m:t>𝑝𝑟𝑜𝑚</m:t>
                              </m:r>
                            </m:sub>
                          </m:sSub>
                        </m:num>
                        <m:den>
                          <m:r>
                            <a:rPr lang="es-MX" sz="1800" i="1">
                              <a:effectLst/>
                              <a:latin typeface="Cambria Math" panose="02040503050406030204" pitchFamily="18" charset="0"/>
                              <a:ea typeface="Times New Roman" panose="02020603050405020304" pitchFamily="18" charset="0"/>
                              <a:cs typeface="Arial" panose="020B0604020202020204" pitchFamily="34" charset="0"/>
                            </a:rPr>
                            <m:t>2</m:t>
                          </m:r>
                        </m:den>
                      </m:f>
                    </m:oMath>
                  </m:oMathPara>
                </a14:m>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Ecuación 10: U cuando hay alta invasión de fluido</a:t>
                </a:r>
              </a:p>
              <a:p>
                <a:endParaRPr lang="es-MX" dirty="0"/>
              </a:p>
            </p:txBody>
          </p:sp>
        </mc:Choice>
        <mc:Fallback>
          <p:sp>
            <p:nvSpPr>
              <p:cNvPr id="4" name="Marcador de contenido 3">
                <a:extLst>
                  <a:ext uri="{FF2B5EF4-FFF2-40B4-BE49-F238E27FC236}">
                    <a16:creationId xmlns:a16="http://schemas.microsoft.com/office/drawing/2014/main" id="{C54BBFC8-70D2-4BF1-A088-C3FBD25A40C3}"/>
                  </a:ext>
                </a:extLst>
              </p:cNvPr>
              <p:cNvSpPr>
                <a:spLocks noGrp="1" noRot="1" noChangeAspect="1" noMove="1" noResize="1" noEditPoints="1" noAdjustHandles="1" noChangeArrowheads="1" noChangeShapeType="1" noTextEdit="1"/>
              </p:cNvSpPr>
              <p:nvPr>
                <p:ph sz="quarter" idx="11"/>
              </p:nvPr>
            </p:nvSpPr>
            <p:spPr>
              <a:xfrm>
                <a:off x="6412304" y="1566905"/>
                <a:ext cx="5322496" cy="4233713"/>
              </a:xfrm>
              <a:blipFill>
                <a:blip r:embed="rId3"/>
                <a:stretch>
                  <a:fillRect l="-573" t="-576" r="-687"/>
                </a:stretch>
              </a:blipFill>
            </p:spPr>
            <p:txBody>
              <a:bodyPr/>
              <a:lstStyle/>
              <a:p>
                <a:r>
                  <a:rPr lang="es-MX">
                    <a:noFill/>
                  </a:rPr>
                  <a:t> </a:t>
                </a:r>
              </a:p>
            </p:txBody>
          </p:sp>
        </mc:Fallback>
      </mc:AlternateContent>
      <p:sp>
        <p:nvSpPr>
          <p:cNvPr id="5" name="Marcador de número de diapositiva 4">
            <a:extLst>
              <a:ext uri="{FF2B5EF4-FFF2-40B4-BE49-F238E27FC236}">
                <a16:creationId xmlns:a16="http://schemas.microsoft.com/office/drawing/2014/main" id="{A1AE227D-E610-4A46-90CD-DD525F015834}"/>
              </a:ext>
            </a:extLst>
          </p:cNvPr>
          <p:cNvSpPr>
            <a:spLocks noGrp="1"/>
          </p:cNvSpPr>
          <p:nvPr>
            <p:ph type="sldNum" sz="quarter" idx="4"/>
          </p:nvPr>
        </p:nvSpPr>
        <p:spPr/>
        <p:txBody>
          <a:bodyPr/>
          <a:lstStyle/>
          <a:p>
            <a:pPr rtl="0"/>
            <a:fld id="{C3DB2ADC-AF19-4574-8C10-79B5B04FCA27}" type="slidenum">
              <a:rPr lang="es-ES" smtClean="0"/>
              <a:pPr rtl="0"/>
              <a:t>25</a:t>
            </a:fld>
            <a:endParaRPr lang="es-ES" dirty="0"/>
          </a:p>
        </p:txBody>
      </p:sp>
    </p:spTree>
    <p:extLst>
      <p:ext uri="{BB962C8B-B14F-4D97-AF65-F5344CB8AC3E}">
        <p14:creationId xmlns:p14="http://schemas.microsoft.com/office/powerpoint/2010/main" val="38717354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9A4575-EFB4-4218-A0FE-A84CC40779A1}"/>
              </a:ext>
            </a:extLst>
          </p:cNvPr>
          <p:cNvSpPr>
            <a:spLocks noGrp="1"/>
          </p:cNvSpPr>
          <p:nvPr>
            <p:ph type="title"/>
          </p:nvPr>
        </p:nvSpPr>
        <p:spPr>
          <a:xfrm>
            <a:off x="864974" y="855738"/>
            <a:ext cx="10709780" cy="555241"/>
          </a:xfrm>
        </p:spPr>
        <p:txBody>
          <a:bodyPr>
            <a:normAutofit fontScale="90000"/>
          </a:bodyPr>
          <a:lstStyle/>
          <a:p>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6.- Determinación de longitud estimada de penetración.</a:t>
            </a:r>
            <a:br>
              <a:rPr lang="es-MX" sz="1800" b="1" dirty="0">
                <a:effectLst/>
                <a:latin typeface="Arial" panose="020B0604020202020204" pitchFamily="34" charset="0"/>
                <a:ea typeface="Times New Roman" panose="02020603050405020304" pitchFamily="18" charset="0"/>
                <a:cs typeface="Times New Roman" panose="02020603050405020304" pitchFamily="18" charset="0"/>
              </a:rPr>
            </a:br>
            <a:endParaRPr lang="es-MX" dirty="0"/>
          </a:p>
        </p:txBody>
      </p:sp>
      <p:sp>
        <p:nvSpPr>
          <p:cNvPr id="5" name="Marcador de número de diapositiva 4">
            <a:extLst>
              <a:ext uri="{FF2B5EF4-FFF2-40B4-BE49-F238E27FC236}">
                <a16:creationId xmlns:a16="http://schemas.microsoft.com/office/drawing/2014/main" id="{403E2420-8610-4000-A9CF-42C885A03D96}"/>
              </a:ext>
            </a:extLst>
          </p:cNvPr>
          <p:cNvSpPr>
            <a:spLocks noGrp="1"/>
          </p:cNvSpPr>
          <p:nvPr>
            <p:ph type="sldNum" sz="quarter" idx="4"/>
          </p:nvPr>
        </p:nvSpPr>
        <p:spPr/>
        <p:txBody>
          <a:bodyPr/>
          <a:lstStyle/>
          <a:p>
            <a:pPr rtl="0"/>
            <a:fld id="{C3DB2ADC-AF19-4574-8C10-79B5B04FCA27}" type="slidenum">
              <a:rPr lang="es-ES" smtClean="0"/>
              <a:pPr rtl="0"/>
              <a:t>26</a:t>
            </a:fld>
            <a:endParaRPr lang="es-ES" dirty="0"/>
          </a:p>
        </p:txBody>
      </p:sp>
      <mc:AlternateContent xmlns:mc="http://schemas.openxmlformats.org/markup-compatibility/2006">
        <mc:Choice xmlns:a14="http://schemas.microsoft.com/office/drawing/2010/main" Requires="a14">
          <p:sp>
            <p:nvSpPr>
              <p:cNvPr id="7" name="CuadroTexto 6">
                <a:extLst>
                  <a:ext uri="{FF2B5EF4-FFF2-40B4-BE49-F238E27FC236}">
                    <a16:creationId xmlns:a16="http://schemas.microsoft.com/office/drawing/2014/main" id="{7F91653B-C669-4467-A6D7-B3DC60A077FA}"/>
                  </a:ext>
                </a:extLst>
              </p:cNvPr>
              <p:cNvSpPr txBox="1"/>
              <p:nvPr/>
            </p:nvSpPr>
            <p:spPr>
              <a:xfrm>
                <a:off x="864974" y="1228562"/>
                <a:ext cx="10293177" cy="3788281"/>
              </a:xfrm>
              <a:prstGeom prst="rect">
                <a:avLst/>
              </a:prstGeom>
              <a:noFill/>
            </p:spPr>
            <p:txBody>
              <a:bodyPr wrap="square" rtlCol="0">
                <a:spAutoFit/>
              </a:bodyPr>
              <a:lstStyle/>
              <a:p>
                <a:pPr algn="just">
                  <a:lnSpc>
                    <a:spcPct val="115000"/>
                  </a:lnSpc>
                  <a:spcAft>
                    <a:spcPts val="800"/>
                  </a:spcAft>
                </a:pPr>
                <a:r>
                  <a:rPr lang="es-MX" sz="1400" dirty="0">
                    <a:effectLst/>
                    <a:latin typeface="Arial" panose="020B0604020202020204" pitchFamily="34" charset="0"/>
                    <a:ea typeface="Calibri" panose="020F0502020204030204" pitchFamily="34" charset="0"/>
                    <a:cs typeface="Times New Roman" panose="02020603050405020304" pitchFamily="18" charset="0"/>
                  </a:rPr>
                  <a:t>THOMPSON (1962), fue el primero en publicar información que la penetración de los disparos disminuye como una función del incremento de la resistencia compresiva de la formación. Se expresa en la siguiente correlación:</a:t>
                </a:r>
              </a:p>
              <a:p>
                <a:pPr algn="just">
                  <a:lnSpc>
                    <a:spcPct val="115000"/>
                  </a:lnSpc>
                  <a:spcAft>
                    <a:spcPts val="800"/>
                  </a:spcAft>
                </a:pPr>
                <a14:m>
                  <m:oMathPara xmlns:m="http://schemas.openxmlformats.org/officeDocument/2006/math">
                    <m:oMathParaPr>
                      <m:jc m:val="centerGroup"/>
                    </m:oMathParaPr>
                    <m:oMath xmlns:m="http://schemas.openxmlformats.org/officeDocument/2006/math">
                      <m:r>
                        <a:rPr lang="es-MX" sz="1400" i="1">
                          <a:effectLst/>
                          <a:latin typeface="Cambria Math" panose="02040503050406030204" pitchFamily="18" charset="0"/>
                          <a:ea typeface="Times New Roman" panose="02020603050405020304" pitchFamily="18" charset="0"/>
                          <a:cs typeface="Arial" panose="020B0604020202020204" pitchFamily="34" charset="0"/>
                        </a:rPr>
                        <m:t>𝐿𝑛</m:t>
                      </m:r>
                      <m:r>
                        <a:rPr lang="es-MX" sz="1400" i="1">
                          <a:effectLst/>
                          <a:latin typeface="Cambria Math" panose="02040503050406030204" pitchFamily="18" charset="0"/>
                          <a:ea typeface="Times New Roman" panose="02020603050405020304" pitchFamily="18" charset="0"/>
                          <a:cs typeface="Arial" panose="020B0604020202020204" pitchFamily="34" charset="0"/>
                        </a:rPr>
                        <m:t> </m:t>
                      </m:r>
                      <m:sSub>
                        <m:sSubPr>
                          <m:ctrlPr>
                            <a:rPr lang="es-MX" sz="14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400" i="1">
                              <a:effectLst/>
                              <a:latin typeface="Cambria Math" panose="02040503050406030204" pitchFamily="18" charset="0"/>
                              <a:ea typeface="Times New Roman" panose="02020603050405020304" pitchFamily="18" charset="0"/>
                              <a:cs typeface="Arial" panose="020B0604020202020204" pitchFamily="34" charset="0"/>
                            </a:rPr>
                            <m:t>𝑙</m:t>
                          </m:r>
                        </m:e>
                        <m:sub>
                          <m:r>
                            <a:rPr lang="es-MX" sz="1400" i="1">
                              <a:effectLst/>
                              <a:latin typeface="Cambria Math" panose="02040503050406030204" pitchFamily="18" charset="0"/>
                              <a:ea typeface="Times New Roman" panose="02020603050405020304" pitchFamily="18" charset="0"/>
                              <a:cs typeface="Arial" panose="020B0604020202020204" pitchFamily="34" charset="0"/>
                            </a:rPr>
                            <m:t>𝑝𝑒𝑟𝑓</m:t>
                          </m:r>
                        </m:sub>
                      </m:sSub>
                      <m:r>
                        <a:rPr lang="es-MX" sz="1400" i="1">
                          <a:effectLst/>
                          <a:latin typeface="Cambria Math" panose="02040503050406030204" pitchFamily="18" charset="0"/>
                          <a:ea typeface="Times New Roman" panose="02020603050405020304" pitchFamily="18" charset="0"/>
                          <a:cs typeface="Arial" panose="020B0604020202020204" pitchFamily="34" charset="0"/>
                        </a:rPr>
                        <m:t>=</m:t>
                      </m:r>
                      <m:r>
                        <a:rPr lang="es-MX" sz="1400" i="1">
                          <a:effectLst/>
                          <a:latin typeface="Cambria Math" panose="02040503050406030204" pitchFamily="18" charset="0"/>
                          <a:ea typeface="Times New Roman" panose="02020603050405020304" pitchFamily="18" charset="0"/>
                          <a:cs typeface="Arial" panose="020B0604020202020204" pitchFamily="34" charset="0"/>
                        </a:rPr>
                        <m:t>𝐿𝑛</m:t>
                      </m:r>
                      <m:sSub>
                        <m:sSubPr>
                          <m:ctrlPr>
                            <a:rPr lang="es-MX" sz="14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400" i="1">
                              <a:effectLst/>
                              <a:latin typeface="Cambria Math" panose="02040503050406030204" pitchFamily="18" charset="0"/>
                              <a:ea typeface="Times New Roman" panose="02020603050405020304" pitchFamily="18" charset="0"/>
                              <a:cs typeface="Arial" panose="020B0604020202020204" pitchFamily="34" charset="0"/>
                            </a:rPr>
                            <m:t> </m:t>
                          </m:r>
                          <m:r>
                            <a:rPr lang="es-MX" sz="1400" i="1">
                              <a:effectLst/>
                              <a:latin typeface="Cambria Math" panose="02040503050406030204" pitchFamily="18" charset="0"/>
                              <a:ea typeface="Times New Roman" panose="02020603050405020304" pitchFamily="18" charset="0"/>
                              <a:cs typeface="Arial" panose="020B0604020202020204" pitchFamily="34" charset="0"/>
                            </a:rPr>
                            <m:t>𝑙</m:t>
                          </m:r>
                        </m:e>
                        <m:sub>
                          <m:r>
                            <a:rPr lang="es-MX" sz="1400" i="1">
                              <a:effectLst/>
                              <a:latin typeface="Cambria Math" panose="02040503050406030204" pitchFamily="18" charset="0"/>
                              <a:ea typeface="Times New Roman" panose="02020603050405020304" pitchFamily="18" charset="0"/>
                              <a:cs typeface="Arial" panose="020B0604020202020204" pitchFamily="34" charset="0"/>
                            </a:rPr>
                            <m:t>𝑝𝑠</m:t>
                          </m:r>
                        </m:sub>
                      </m:sSub>
                      <m:r>
                        <a:rPr lang="es-MX" sz="1400" i="1">
                          <a:effectLst/>
                          <a:latin typeface="Cambria Math" panose="02040503050406030204" pitchFamily="18" charset="0"/>
                          <a:ea typeface="Times New Roman" panose="02020603050405020304" pitchFamily="18" charset="0"/>
                          <a:cs typeface="Arial" panose="020B0604020202020204" pitchFamily="34" charset="0"/>
                        </a:rPr>
                        <m:t>+0,086</m:t>
                      </m:r>
                      <m:d>
                        <m:dPr>
                          <m:ctrlPr>
                            <a:rPr lang="es-MX" sz="1400" i="1">
                              <a:effectLst/>
                              <a:latin typeface="Cambria Math" panose="02040503050406030204" pitchFamily="18" charset="0"/>
                              <a:ea typeface="Times New Roman" panose="02020603050405020304" pitchFamily="18" charset="0"/>
                              <a:cs typeface="Arial" panose="020B0604020202020204" pitchFamily="34" charset="0"/>
                            </a:rPr>
                          </m:ctrlPr>
                        </m:dPr>
                        <m:e>
                          <m:sSub>
                            <m:sSubPr>
                              <m:ctrlPr>
                                <a:rPr lang="es-MX" sz="14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400" i="1">
                                  <a:effectLst/>
                                  <a:latin typeface="Cambria Math" panose="02040503050406030204" pitchFamily="18" charset="0"/>
                                  <a:ea typeface="Times New Roman" panose="02020603050405020304" pitchFamily="18" charset="0"/>
                                  <a:cs typeface="Arial" panose="020B0604020202020204" pitchFamily="34" charset="0"/>
                                </a:rPr>
                                <m:t>𝐶</m:t>
                              </m:r>
                            </m:e>
                            <m:sub>
                              <m:r>
                                <a:rPr lang="es-MX" sz="1400" i="1">
                                  <a:effectLst/>
                                  <a:latin typeface="Cambria Math" panose="02040503050406030204" pitchFamily="18" charset="0"/>
                                  <a:ea typeface="Times New Roman" panose="02020603050405020304" pitchFamily="18" charset="0"/>
                                  <a:cs typeface="Arial" panose="020B0604020202020204" pitchFamily="34" charset="0"/>
                                </a:rPr>
                                <m:t>1</m:t>
                              </m:r>
                            </m:sub>
                          </m:sSub>
                          <m:r>
                            <a:rPr lang="es-MX" sz="1400" i="1">
                              <a:effectLst/>
                              <a:latin typeface="Cambria Math" panose="02040503050406030204" pitchFamily="18" charset="0"/>
                              <a:ea typeface="Times New Roman" panose="02020603050405020304" pitchFamily="18" charset="0"/>
                              <a:cs typeface="Arial" panose="020B0604020202020204" pitchFamily="34" charset="0"/>
                            </a:rPr>
                            <m:t>−</m:t>
                          </m:r>
                          <m:sSub>
                            <m:sSubPr>
                              <m:ctrlPr>
                                <a:rPr lang="es-MX" sz="1400" i="1">
                                  <a:effectLst/>
                                  <a:latin typeface="Cambria Math" panose="02040503050406030204" pitchFamily="18" charset="0"/>
                                  <a:ea typeface="Times New Roman" panose="02020603050405020304" pitchFamily="18" charset="0"/>
                                  <a:cs typeface="Arial" panose="020B0604020202020204" pitchFamily="34" charset="0"/>
                                </a:rPr>
                              </m:ctrlPr>
                            </m:sSubPr>
                            <m:e>
                              <m:r>
                                <a:rPr lang="es-MX" sz="1400" i="1">
                                  <a:effectLst/>
                                  <a:latin typeface="Cambria Math" panose="02040503050406030204" pitchFamily="18" charset="0"/>
                                  <a:ea typeface="Times New Roman" panose="02020603050405020304" pitchFamily="18" charset="0"/>
                                  <a:cs typeface="Arial" panose="020B0604020202020204" pitchFamily="34" charset="0"/>
                                </a:rPr>
                                <m:t>𝐶</m:t>
                              </m:r>
                            </m:e>
                            <m:sub>
                              <m:r>
                                <a:rPr lang="es-MX" sz="1400" i="1">
                                  <a:effectLst/>
                                  <a:latin typeface="Cambria Math" panose="02040503050406030204" pitchFamily="18" charset="0"/>
                                  <a:ea typeface="Times New Roman" panose="02020603050405020304" pitchFamily="18" charset="0"/>
                                  <a:cs typeface="Arial" panose="020B0604020202020204" pitchFamily="34" charset="0"/>
                                </a:rPr>
                                <m:t>2</m:t>
                              </m:r>
                            </m:sub>
                          </m:sSub>
                        </m:e>
                      </m:d>
                      <m:r>
                        <a:rPr lang="es-MX" sz="1400" i="1">
                          <a:effectLst/>
                          <a:latin typeface="Cambria Math" panose="02040503050406030204" pitchFamily="18" charset="0"/>
                          <a:ea typeface="Times New Roman" panose="02020603050405020304" pitchFamily="18" charset="0"/>
                          <a:cs typeface="Arial" panose="020B0604020202020204" pitchFamily="34" charset="0"/>
                        </a:rPr>
                        <m:t>1</m:t>
                      </m:r>
                      <m:r>
                        <a:rPr lang="es-MX" sz="1400" i="1">
                          <a:effectLst/>
                          <a:latin typeface="Cambria Math" panose="02040503050406030204" pitchFamily="18" charset="0"/>
                          <a:ea typeface="Times New Roman" panose="02020603050405020304" pitchFamily="18" charset="0"/>
                          <a:cs typeface="Arial" panose="020B0604020202020204" pitchFamily="34" charset="0"/>
                        </a:rPr>
                        <m:t>𝑥</m:t>
                      </m:r>
                      <m:sSup>
                        <m:sSupPr>
                          <m:ctrlPr>
                            <a:rPr lang="es-MX" sz="1400" i="1">
                              <a:effectLst/>
                              <a:latin typeface="Cambria Math" panose="02040503050406030204" pitchFamily="18" charset="0"/>
                              <a:ea typeface="Times New Roman" panose="02020603050405020304" pitchFamily="18" charset="0"/>
                              <a:cs typeface="Arial" panose="020B0604020202020204" pitchFamily="34" charset="0"/>
                            </a:rPr>
                          </m:ctrlPr>
                        </m:sSupPr>
                        <m:e>
                          <m:r>
                            <a:rPr lang="es-MX" sz="1400" i="1">
                              <a:effectLst/>
                              <a:latin typeface="Cambria Math" panose="02040503050406030204" pitchFamily="18" charset="0"/>
                              <a:ea typeface="Times New Roman" panose="02020603050405020304" pitchFamily="18" charset="0"/>
                              <a:cs typeface="Arial" panose="020B0604020202020204" pitchFamily="34" charset="0"/>
                            </a:rPr>
                            <m:t>10</m:t>
                          </m:r>
                        </m:e>
                        <m:sup>
                          <m:r>
                            <a:rPr lang="es-MX" sz="1400" i="1">
                              <a:effectLst/>
                              <a:latin typeface="Cambria Math" panose="02040503050406030204" pitchFamily="18" charset="0"/>
                              <a:ea typeface="Times New Roman" panose="02020603050405020304" pitchFamily="18" charset="0"/>
                              <a:cs typeface="Arial" panose="020B0604020202020204" pitchFamily="34" charset="0"/>
                            </a:rPr>
                            <m:t>−3</m:t>
                          </m:r>
                        </m:sup>
                      </m:sSup>
                      <m:r>
                        <a:rPr lang="es-MX" sz="1400" i="1">
                          <a:effectLst/>
                          <a:latin typeface="Cambria Math" panose="02040503050406030204" pitchFamily="18" charset="0"/>
                          <a:ea typeface="Times New Roman" panose="02020603050405020304" pitchFamily="18" charset="0"/>
                          <a:cs typeface="Arial" panose="020B0604020202020204" pitchFamily="34" charset="0"/>
                        </a:rPr>
                        <m:t> </m:t>
                      </m:r>
                    </m:oMath>
                  </m:oMathPara>
                </a14:m>
                <a:endParaRPr lang="es-MX" sz="1400" dirty="0">
                  <a:effectLst/>
                  <a:latin typeface="Arial" panose="020B0604020202020204" pitchFamily="34" charset="0"/>
                  <a:ea typeface="Calibri" panose="020F0502020204030204" pitchFamily="34" charset="0"/>
                  <a:cs typeface="Times New Roman" panose="02020603050405020304" pitchFamily="18" charset="0"/>
                </a:endParaRPr>
              </a:p>
              <a:p>
                <a:pPr algn="ctr">
                  <a:spcAft>
                    <a:spcPts val="1000"/>
                  </a:spcAft>
                </a:pPr>
                <a:r>
                  <a:rPr lang="es-MX" sz="14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Ecuación 13: Logaritmo natural de la longitud de perforación (Thompson)</a:t>
                </a:r>
              </a:p>
              <a:p>
                <a:pPr algn="just">
                  <a:lnSpc>
                    <a:spcPct val="115000"/>
                  </a:lnSpc>
                  <a:spcAft>
                    <a:spcPts val="800"/>
                  </a:spcAft>
                </a:pPr>
                <a:r>
                  <a:rPr lang="es-MX" sz="1400" i="1" dirty="0">
                    <a:effectLst/>
                    <a:latin typeface="Arial" panose="020B0604020202020204" pitchFamily="34" charset="0"/>
                    <a:ea typeface="Calibri" panose="020F0502020204030204" pitchFamily="34" charset="0"/>
                    <a:cs typeface="Times New Roman" panose="02020603050405020304" pitchFamily="18" charset="0"/>
                  </a:rPr>
                  <a:t>Donde: </a:t>
                </a:r>
                <a:endParaRPr lang="es-MX" sz="1400" dirty="0">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s-MX" sz="1400" i="1" dirty="0" err="1">
                    <a:effectLst/>
                    <a:latin typeface="Arial" panose="020B0604020202020204" pitchFamily="34" charset="0"/>
                    <a:ea typeface="Calibri" panose="020F0502020204030204" pitchFamily="34" charset="0"/>
                    <a:cs typeface="Times New Roman" panose="02020603050405020304" pitchFamily="18" charset="0"/>
                  </a:rPr>
                  <a:t>lnperf</a:t>
                </a:r>
                <a:r>
                  <a:rPr lang="es-MX" sz="1400" i="1" dirty="0">
                    <a:effectLst/>
                    <a:latin typeface="Arial" panose="020B0604020202020204" pitchFamily="34" charset="0"/>
                    <a:ea typeface="Calibri" panose="020F0502020204030204" pitchFamily="34" charset="0"/>
                    <a:cs typeface="Times New Roman" panose="02020603050405020304" pitchFamily="18" charset="0"/>
                  </a:rPr>
                  <a:t>=Logaritmo natural de la longitud de </a:t>
                </a:r>
                <a:r>
                  <a:rPr lang="es-MX" sz="1400" i="1" dirty="0" err="1">
                    <a:effectLst/>
                    <a:latin typeface="Arial" panose="020B0604020202020204" pitchFamily="34" charset="0"/>
                    <a:ea typeface="Calibri" panose="020F0502020204030204" pitchFamily="34" charset="0"/>
                    <a:cs typeface="Times New Roman" panose="02020603050405020304" pitchFamily="18" charset="0"/>
                  </a:rPr>
                  <a:t>perforacion</a:t>
                </a:r>
                <a:r>
                  <a:rPr lang="es-MX" sz="1400" i="1" dirty="0">
                    <a:effectLst/>
                    <a:latin typeface="Arial" panose="020B0604020202020204" pitchFamily="34" charset="0"/>
                    <a:ea typeface="Calibri" panose="020F0502020204030204" pitchFamily="34" charset="0"/>
                    <a:cs typeface="Times New Roman" panose="02020603050405020304" pitchFamily="18" charset="0"/>
                  </a:rPr>
                  <a:t> (</a:t>
                </a:r>
                <a:r>
                  <a:rPr lang="es-MX" sz="1400" i="1" dirty="0" err="1">
                    <a:effectLst/>
                    <a:latin typeface="Arial" panose="020B0604020202020204" pitchFamily="34" charset="0"/>
                    <a:ea typeface="Calibri" panose="020F0502020204030204" pitchFamily="34" charset="0"/>
                    <a:cs typeface="Times New Roman" panose="02020603050405020304" pitchFamily="18" charset="0"/>
                  </a:rPr>
                  <a:t>pg</a:t>
                </a:r>
                <a:r>
                  <a:rPr lang="es-MX" sz="1400" i="1" dirty="0">
                    <a:effectLst/>
                    <a:latin typeface="Arial" panose="020B0604020202020204" pitchFamily="34" charset="0"/>
                    <a:ea typeface="Calibri" panose="020F0502020204030204" pitchFamily="34" charset="0"/>
                    <a:cs typeface="Times New Roman" panose="02020603050405020304" pitchFamily="18" charset="0"/>
                  </a:rPr>
                  <a:t>)</a:t>
                </a:r>
                <a:endParaRPr lang="es-MX" sz="1400" dirty="0">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s-MX" sz="1400" i="1" dirty="0" err="1">
                    <a:effectLst/>
                    <a:latin typeface="Arial" panose="020B0604020202020204" pitchFamily="34" charset="0"/>
                    <a:ea typeface="Calibri" panose="020F0502020204030204" pitchFamily="34" charset="0"/>
                    <a:cs typeface="Times New Roman" panose="02020603050405020304" pitchFamily="18" charset="0"/>
                  </a:rPr>
                  <a:t>lnps</a:t>
                </a:r>
                <a:r>
                  <a:rPr lang="es-MX" sz="1400" i="1" dirty="0">
                    <a:effectLst/>
                    <a:latin typeface="Arial" panose="020B0604020202020204" pitchFamily="34" charset="0"/>
                    <a:ea typeface="Calibri" panose="020F0502020204030204" pitchFamily="34" charset="0"/>
                    <a:cs typeface="Times New Roman" panose="02020603050405020304" pitchFamily="18" charset="0"/>
                  </a:rPr>
                  <a:t>=Logaritmo natural de la penetración estimada (</a:t>
                </a:r>
                <a:r>
                  <a:rPr lang="es-MX" sz="1400" i="1" dirty="0" err="1">
                    <a:effectLst/>
                    <a:latin typeface="Arial" panose="020B0604020202020204" pitchFamily="34" charset="0"/>
                    <a:ea typeface="Calibri" panose="020F0502020204030204" pitchFamily="34" charset="0"/>
                    <a:cs typeface="Times New Roman" panose="02020603050405020304" pitchFamily="18" charset="0"/>
                  </a:rPr>
                  <a:t>pg</a:t>
                </a:r>
                <a:r>
                  <a:rPr lang="es-MX" sz="1400" i="1" dirty="0">
                    <a:effectLst/>
                    <a:latin typeface="Arial" panose="020B0604020202020204" pitchFamily="34" charset="0"/>
                    <a:ea typeface="Calibri" panose="020F0502020204030204" pitchFamily="34" charset="0"/>
                    <a:cs typeface="Times New Roman" panose="02020603050405020304" pitchFamily="18" charset="0"/>
                  </a:rPr>
                  <a:t>)</a:t>
                </a:r>
                <a:endParaRPr lang="es-MX" sz="1400" dirty="0">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s-MX" sz="1400" i="1" dirty="0">
                    <a:effectLst/>
                    <a:latin typeface="Arial" panose="020B0604020202020204" pitchFamily="34" charset="0"/>
                    <a:ea typeface="Calibri" panose="020F0502020204030204" pitchFamily="34" charset="0"/>
                    <a:cs typeface="Times New Roman" panose="02020603050405020304" pitchFamily="18" charset="0"/>
                  </a:rPr>
                  <a:t>C1=Resistencia </a:t>
                </a:r>
                <a:r>
                  <a:rPr lang="es-MX" sz="1400" i="1" dirty="0" err="1">
                    <a:effectLst/>
                    <a:latin typeface="Arial" panose="020B0604020202020204" pitchFamily="34" charset="0"/>
                    <a:ea typeface="Calibri" panose="020F0502020204030204" pitchFamily="34" charset="0"/>
                    <a:cs typeface="Times New Roman" panose="02020603050405020304" pitchFamily="18" charset="0"/>
                  </a:rPr>
                  <a:t>compresiba</a:t>
                </a:r>
                <a:r>
                  <a:rPr lang="es-MX" sz="1400" i="1" dirty="0">
                    <a:effectLst/>
                    <a:latin typeface="Arial" panose="020B0604020202020204" pitchFamily="34" charset="0"/>
                    <a:ea typeface="Calibri" panose="020F0502020204030204" pitchFamily="34" charset="0"/>
                    <a:cs typeface="Times New Roman" panose="02020603050405020304" pitchFamily="18" charset="0"/>
                  </a:rPr>
                  <a:t> del blanco (psi)</a:t>
                </a:r>
                <a:endParaRPr lang="es-MX" sz="1400" dirty="0">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s-MX" sz="1400" i="1" dirty="0">
                    <a:effectLst/>
                    <a:latin typeface="Arial" panose="020B0604020202020204" pitchFamily="34" charset="0"/>
                    <a:ea typeface="Calibri" panose="020F0502020204030204" pitchFamily="34" charset="0"/>
                    <a:cs typeface="Times New Roman" panose="02020603050405020304" pitchFamily="18" charset="0"/>
                  </a:rPr>
                  <a:t>C2=Resistencia compresiva de la </a:t>
                </a:r>
                <a:r>
                  <a:rPr lang="es-MX" sz="1400" i="1" dirty="0" err="1">
                    <a:effectLst/>
                    <a:latin typeface="Arial" panose="020B0604020202020204" pitchFamily="34" charset="0"/>
                    <a:ea typeface="Calibri" panose="020F0502020204030204" pitchFamily="34" charset="0"/>
                    <a:cs typeface="Times New Roman" panose="02020603050405020304" pitchFamily="18" charset="0"/>
                  </a:rPr>
                  <a:t>formacion</a:t>
                </a:r>
                <a:r>
                  <a:rPr lang="es-MX" sz="1400" i="1" dirty="0">
                    <a:effectLst/>
                    <a:latin typeface="Arial" panose="020B0604020202020204" pitchFamily="34" charset="0"/>
                    <a:ea typeface="Calibri" panose="020F0502020204030204" pitchFamily="34" charset="0"/>
                    <a:cs typeface="Times New Roman" panose="02020603050405020304" pitchFamily="18" charset="0"/>
                  </a:rPr>
                  <a:t> (psi)</a:t>
                </a:r>
                <a:endParaRPr lang="es-MX" sz="1400" dirty="0">
                  <a:effectLst/>
                  <a:latin typeface="Arial" panose="020B060402020202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s-MX" sz="1400" dirty="0">
                    <a:effectLst/>
                    <a:latin typeface="Arial" panose="020B0604020202020204" pitchFamily="34" charset="0"/>
                    <a:ea typeface="Calibri" panose="020F0502020204030204" pitchFamily="34" charset="0"/>
                    <a:cs typeface="Times New Roman" panose="02020603050405020304" pitchFamily="18" charset="0"/>
                  </a:rPr>
                  <a:t>Para calcular esta correlación ocupamos la siguiente tabla de referencia :</a:t>
                </a:r>
              </a:p>
              <a:p>
                <a:endParaRPr lang="es-MX" dirty="0"/>
              </a:p>
            </p:txBody>
          </p:sp>
        </mc:Choice>
        <mc:Fallback>
          <p:sp>
            <p:nvSpPr>
              <p:cNvPr id="7" name="CuadroTexto 6">
                <a:extLst>
                  <a:ext uri="{FF2B5EF4-FFF2-40B4-BE49-F238E27FC236}">
                    <a16:creationId xmlns:a16="http://schemas.microsoft.com/office/drawing/2014/main" id="{7F91653B-C669-4467-A6D7-B3DC60A077FA}"/>
                  </a:ext>
                </a:extLst>
              </p:cNvPr>
              <p:cNvSpPr txBox="1">
                <a:spLocks noRot="1" noChangeAspect="1" noMove="1" noResize="1" noEditPoints="1" noAdjustHandles="1" noChangeArrowheads="1" noChangeShapeType="1" noTextEdit="1"/>
              </p:cNvSpPr>
              <p:nvPr/>
            </p:nvSpPr>
            <p:spPr>
              <a:xfrm>
                <a:off x="864974" y="1228562"/>
                <a:ext cx="10293177" cy="3788281"/>
              </a:xfrm>
              <a:prstGeom prst="rect">
                <a:avLst/>
              </a:prstGeom>
              <a:blipFill>
                <a:blip r:embed="rId2"/>
                <a:stretch>
                  <a:fillRect l="-178" r="-178"/>
                </a:stretch>
              </a:blipFill>
            </p:spPr>
            <p:txBody>
              <a:bodyPr/>
              <a:lstStyle/>
              <a:p>
                <a:r>
                  <a:rPr lang="es-MX">
                    <a:noFill/>
                  </a:rPr>
                  <a:t> </a:t>
                </a:r>
              </a:p>
            </p:txBody>
          </p:sp>
        </mc:Fallback>
      </mc:AlternateContent>
      <p:pic>
        <p:nvPicPr>
          <p:cNvPr id="9" name="Imagen 8">
            <a:extLst>
              <a:ext uri="{FF2B5EF4-FFF2-40B4-BE49-F238E27FC236}">
                <a16:creationId xmlns:a16="http://schemas.microsoft.com/office/drawing/2014/main" id="{ADE49361-AD06-4365-AF7B-343913E95C1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829390" y="5016843"/>
            <a:ext cx="6549451" cy="1339507"/>
          </a:xfrm>
          <a:prstGeom prst="rect">
            <a:avLst/>
          </a:prstGeom>
          <a:noFill/>
          <a:ln>
            <a:noFill/>
          </a:ln>
        </p:spPr>
      </p:pic>
    </p:spTree>
    <p:extLst>
      <p:ext uri="{BB962C8B-B14F-4D97-AF65-F5344CB8AC3E}">
        <p14:creationId xmlns:p14="http://schemas.microsoft.com/office/powerpoint/2010/main" val="35298471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7F6AE91-967B-423A-90DE-AE250AF461FF}"/>
              </a:ext>
            </a:extLst>
          </p:cNvPr>
          <p:cNvSpPr>
            <a:spLocks noGrp="1"/>
          </p:cNvSpPr>
          <p:nvPr>
            <p:ph type="title"/>
          </p:nvPr>
        </p:nvSpPr>
        <p:spPr/>
        <p:txBody>
          <a:bodyPr/>
          <a:lstStyle/>
          <a:p>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7.- Determinar la densidad del disparo mediante la gráfica de razón de productividad vs longitud de perforación vs disparos por ft. </a:t>
            </a:r>
            <a:br>
              <a:rPr lang="es-MX" sz="1800" b="1" dirty="0">
                <a:effectLst/>
                <a:latin typeface="Arial" panose="020B0604020202020204" pitchFamily="34" charset="0"/>
                <a:ea typeface="Times New Roman" panose="02020603050405020304" pitchFamily="18" charset="0"/>
                <a:cs typeface="Times New Roman" panose="02020603050405020304" pitchFamily="18" charset="0"/>
              </a:rPr>
            </a:br>
            <a:endParaRPr lang="es-MX" dirty="0"/>
          </a:p>
        </p:txBody>
      </p:sp>
      <mc:AlternateContent xmlns:mc="http://schemas.openxmlformats.org/markup-compatibility/2006">
        <mc:Choice xmlns:a14="http://schemas.microsoft.com/office/drawing/2010/main" Requires="a14">
          <p:sp>
            <p:nvSpPr>
              <p:cNvPr id="4" name="Marcador de contenido 3">
                <a:extLst>
                  <a:ext uri="{FF2B5EF4-FFF2-40B4-BE49-F238E27FC236}">
                    <a16:creationId xmlns:a16="http://schemas.microsoft.com/office/drawing/2014/main" id="{FB08D042-694D-4534-8E61-C66E44901FAE}"/>
                  </a:ext>
                </a:extLst>
              </p:cNvPr>
              <p:cNvSpPr>
                <a:spLocks noGrp="1"/>
              </p:cNvSpPr>
              <p:nvPr>
                <p:ph sz="quarter" idx="11"/>
              </p:nvPr>
            </p:nvSpPr>
            <p:spPr>
              <a:xfrm>
                <a:off x="5460833" y="1805575"/>
                <a:ext cx="5322496" cy="4233713"/>
              </a:xfrm>
            </p:spPr>
            <p:txBody>
              <a:bodyPr>
                <a:normAutofit fontScale="85000" lnSpcReduction="10000"/>
              </a:bodyPr>
              <a:lstStyle/>
              <a:p>
                <a:pPr algn="just">
                  <a:lnSpc>
                    <a:spcPct val="115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Ya que obtenemos nuestra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densiad</a:t>
                </a:r>
                <a:r>
                  <a:rPr lang="es-MX" sz="1800" dirty="0">
                    <a:effectLst/>
                    <a:latin typeface="Arial" panose="020B0604020202020204" pitchFamily="34" charset="0"/>
                    <a:ea typeface="Calibri" panose="020F0502020204030204" pitchFamily="34" charset="0"/>
                    <a:cs typeface="Times New Roman" panose="02020603050405020304" pitchFamily="18" charset="0"/>
                  </a:rPr>
                  <a:t> calcularemos el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angulo</a:t>
                </a:r>
                <a:r>
                  <a:rPr lang="es-MX" sz="1800" dirty="0">
                    <a:effectLst/>
                    <a:latin typeface="Arial" panose="020B0604020202020204" pitchFamily="34" charset="0"/>
                    <a:ea typeface="Calibri" panose="020F0502020204030204" pitchFamily="34" charset="0"/>
                    <a:cs typeface="Times New Roman" panose="02020603050405020304" pitchFamily="18" charset="0"/>
                  </a:rPr>
                  <a:t> de fase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teorico</a:t>
                </a:r>
                <a:r>
                  <a:rPr lang="es-MX" sz="1800" dirty="0">
                    <a:effectLst/>
                    <a:latin typeface="Arial" panose="020B0604020202020204" pitchFamily="34" charset="0"/>
                    <a:ea typeface="Calibri" panose="020F0502020204030204" pitchFamily="34" charset="0"/>
                    <a:cs typeface="Times New Roman" panose="02020603050405020304" pitchFamily="18" charset="0"/>
                  </a:rPr>
                  <a:t>, este es un calculo sencillo, porque únicamente es el acomodo que va a tener las cargas según su densidad.</a:t>
                </a:r>
              </a:p>
              <a:p>
                <a:pPr marL="0" indent="0" algn="just">
                  <a:lnSpc>
                    <a:spcPct val="115000"/>
                  </a:lnSpc>
                  <a:spcAft>
                    <a:spcPts val="800"/>
                  </a:spcAft>
                  <a:buNone/>
                </a:pPr>
                <a14:m>
                  <m:oMathPara xmlns:m="http://schemas.openxmlformats.org/officeDocument/2006/math">
                    <m:oMathParaPr>
                      <m:jc m:val="centerGroup"/>
                    </m:oMathParaPr>
                    <m:oMath xmlns:m="http://schemas.openxmlformats.org/officeDocument/2006/math">
                      <m:r>
                        <a:rPr lang="es-MX" sz="1800" i="1">
                          <a:effectLst/>
                          <a:latin typeface="Cambria Math" panose="02040503050406030204" pitchFamily="18" charset="0"/>
                          <a:ea typeface="Calibri" panose="020F0502020204030204" pitchFamily="34" charset="0"/>
                          <a:cs typeface="Times New Roman" panose="02020603050405020304" pitchFamily="18" charset="0"/>
                        </a:rPr>
                        <m:t>𝐹𝑎𝑠𝑒</m:t>
                      </m:r>
                      <m:r>
                        <a:rPr lang="es-MX"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MX" sz="1800" i="1">
                              <a:effectLst/>
                              <a:latin typeface="Cambria Math" panose="02040503050406030204" pitchFamily="18" charset="0"/>
                              <a:ea typeface="Calibri" panose="020F0502020204030204" pitchFamily="34" charset="0"/>
                              <a:cs typeface="Times New Roman" panose="02020603050405020304" pitchFamily="18" charset="0"/>
                            </a:rPr>
                            <m:t>360</m:t>
                          </m:r>
                        </m:num>
                        <m:den>
                          <m:r>
                            <a:rPr lang="es-MX" sz="1800" i="1">
                              <a:effectLst/>
                              <a:latin typeface="Cambria Math" panose="02040503050406030204" pitchFamily="18" charset="0"/>
                              <a:ea typeface="Calibri" panose="020F0502020204030204" pitchFamily="34" charset="0"/>
                              <a:cs typeface="Times New Roman" panose="02020603050405020304" pitchFamily="18" charset="0"/>
                            </a:rPr>
                            <m:t>𝐷𝑒𝑛𝑠𝑖𝑑𝑎𝑑</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𝑑𝑒</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𝑡𝑖𝑟𝑜</m:t>
                          </m:r>
                        </m:den>
                      </m:f>
                    </m:oMath>
                  </m:oMathPara>
                </a14:m>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pPr marL="0" indent="0" algn="ctr">
                  <a:spcAft>
                    <a:spcPts val="1000"/>
                  </a:spcAft>
                  <a:buNone/>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Ecuación 15: Calculo del </a:t>
                </a:r>
                <a:r>
                  <a:rPr lang="es-MX" sz="1800" i="1" dirty="0" err="1">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°Fase</a:t>
                </a:r>
                <a:endPar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Nuevamente hay una consideración en caso de tener una terminación estimulada el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angulo</a:t>
                </a:r>
                <a:r>
                  <a:rPr lang="es-MX" sz="1800" dirty="0">
                    <a:effectLst/>
                    <a:latin typeface="Arial" panose="020B0604020202020204" pitchFamily="34" charset="0"/>
                    <a:ea typeface="Calibri" panose="020F0502020204030204" pitchFamily="34" charset="0"/>
                    <a:cs typeface="Times New Roman" panose="02020603050405020304" pitchFamily="18" charset="0"/>
                  </a:rPr>
                  <a:t> de fase lo dividiremos entre dos, esto se debe a que para las terminaciones estimuladas la prioridad es incrementar numero de canales por donde el fluido puede pasar del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yacimento</a:t>
                </a:r>
                <a:r>
                  <a:rPr lang="es-MX" sz="1800" dirty="0">
                    <a:effectLst/>
                    <a:latin typeface="Arial" panose="020B0604020202020204" pitchFamily="34" charset="0"/>
                    <a:ea typeface="Calibri" panose="020F0502020204030204" pitchFamily="34" charset="0"/>
                    <a:cs typeface="Times New Roman" panose="02020603050405020304" pitchFamily="18" charset="0"/>
                  </a:rPr>
                  <a:t> al pozo como lo podemos ver en el apartado 6.1.4 donde se explica la importancia de estos factores dependiendo la terminación.</a:t>
                </a:r>
              </a:p>
              <a:p>
                <a:endParaRPr lang="es-MX" dirty="0"/>
              </a:p>
            </p:txBody>
          </p:sp>
        </mc:Choice>
        <mc:Fallback>
          <p:sp>
            <p:nvSpPr>
              <p:cNvPr id="4" name="Marcador de contenido 3">
                <a:extLst>
                  <a:ext uri="{FF2B5EF4-FFF2-40B4-BE49-F238E27FC236}">
                    <a16:creationId xmlns:a16="http://schemas.microsoft.com/office/drawing/2014/main" id="{FB08D042-694D-4534-8E61-C66E44901FAE}"/>
                  </a:ext>
                </a:extLst>
              </p:cNvPr>
              <p:cNvSpPr>
                <a:spLocks noGrp="1" noRot="1" noChangeAspect="1" noMove="1" noResize="1" noEditPoints="1" noAdjustHandles="1" noChangeArrowheads="1" noChangeShapeType="1" noTextEdit="1"/>
              </p:cNvSpPr>
              <p:nvPr>
                <p:ph sz="quarter" idx="11"/>
              </p:nvPr>
            </p:nvSpPr>
            <p:spPr>
              <a:xfrm>
                <a:off x="5460833" y="1805575"/>
                <a:ext cx="5322496" cy="4233713"/>
              </a:xfrm>
              <a:blipFill>
                <a:blip r:embed="rId2"/>
                <a:stretch>
                  <a:fillRect l="-344" t="-288" r="-458"/>
                </a:stretch>
              </a:blipFill>
            </p:spPr>
            <p:txBody>
              <a:bodyPr/>
              <a:lstStyle/>
              <a:p>
                <a:r>
                  <a:rPr lang="es-MX">
                    <a:noFill/>
                  </a:rPr>
                  <a:t> </a:t>
                </a:r>
              </a:p>
            </p:txBody>
          </p:sp>
        </mc:Fallback>
      </mc:AlternateContent>
      <p:sp>
        <p:nvSpPr>
          <p:cNvPr id="5" name="Marcador de número de diapositiva 4">
            <a:extLst>
              <a:ext uri="{FF2B5EF4-FFF2-40B4-BE49-F238E27FC236}">
                <a16:creationId xmlns:a16="http://schemas.microsoft.com/office/drawing/2014/main" id="{5255E64D-C2F2-48FE-9F65-51D5CE385D72}"/>
              </a:ext>
            </a:extLst>
          </p:cNvPr>
          <p:cNvSpPr>
            <a:spLocks noGrp="1"/>
          </p:cNvSpPr>
          <p:nvPr>
            <p:ph type="sldNum" sz="quarter" idx="4"/>
          </p:nvPr>
        </p:nvSpPr>
        <p:spPr/>
        <p:txBody>
          <a:bodyPr/>
          <a:lstStyle/>
          <a:p>
            <a:pPr rtl="0"/>
            <a:fld id="{C3DB2ADC-AF19-4574-8C10-79B5B04FCA27}" type="slidenum">
              <a:rPr lang="es-ES" smtClean="0"/>
              <a:pPr rtl="0"/>
              <a:t>27</a:t>
            </a:fld>
            <a:endParaRPr lang="es-ES" dirty="0"/>
          </a:p>
        </p:txBody>
      </p:sp>
      <p:sp>
        <p:nvSpPr>
          <p:cNvPr id="8" name="Rectangle 5">
            <a:extLst>
              <a:ext uri="{FF2B5EF4-FFF2-40B4-BE49-F238E27FC236}">
                <a16:creationId xmlns:a16="http://schemas.microsoft.com/office/drawing/2014/main" id="{33A46033-9098-4B9C-9819-0BB9B1DD90CD}"/>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s-MX"/>
          </a:p>
        </p:txBody>
      </p:sp>
      <p:pic>
        <p:nvPicPr>
          <p:cNvPr id="2052" name="Imagen 7">
            <a:extLst>
              <a:ext uri="{FF2B5EF4-FFF2-40B4-BE49-F238E27FC236}">
                <a16:creationId xmlns:a16="http://schemas.microsoft.com/office/drawing/2014/main" id="{86C26DA1-29C8-4319-90EF-5A9BF5A69F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4591" y="1668162"/>
            <a:ext cx="4394315" cy="437112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6">
            <a:extLst>
              <a:ext uri="{FF2B5EF4-FFF2-40B4-BE49-F238E27FC236}">
                <a16:creationId xmlns:a16="http://schemas.microsoft.com/office/drawing/2014/main" id="{9AEC4225-D7BD-4E14-B0D3-F997CE6AFA5A}"/>
              </a:ext>
            </a:extLst>
          </p:cNvPr>
          <p:cNvSpPr>
            <a:spLocks noChangeArrowheads="1"/>
          </p:cNvSpPr>
          <p:nvPr/>
        </p:nvSpPr>
        <p:spPr bwMode="auto">
          <a:xfrm>
            <a:off x="-716692" y="6118788"/>
            <a:ext cx="7722973"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s-MX" altLang="es-MX" sz="900" b="0" i="1" u="none" strike="noStrike" cap="none" normalizeH="0" baseline="0">
                <a:ln>
                  <a:noFill/>
                </a:ln>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a:t>
            </a:r>
            <a:r>
              <a:rPr kumimoji="0" lang="es-MX" altLang="es-MX" sz="900" b="0" i="1" u="none" strike="noStrike" cap="none" normalizeH="0" baseline="0" bmk="">
                <a:ln>
                  <a:noFill/>
                </a:ln>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lustración </a:t>
            </a:r>
            <a:r>
              <a:rPr kumimoji="0" lang="es-MX" altLang="es-MX" sz="900" b="0" i="1" u="none" strike="noStrike" cap="none" normalizeH="0" baseline="0" bmk="_Toc198400132">
                <a:ln>
                  <a:noFill/>
                </a:ln>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26 Razón de productividad vs penetración vs disparos por pie, (PEMEX, 2008).</a:t>
            </a:r>
            <a:endParaRPr kumimoji="0" lang="es-MX" altLang="es-MX"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39292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FDEF29-44CF-4104-94AE-1843DE4AB4C5}"/>
              </a:ext>
            </a:extLst>
          </p:cNvPr>
          <p:cNvSpPr>
            <a:spLocks noGrp="1"/>
          </p:cNvSpPr>
          <p:nvPr>
            <p:ph type="title"/>
          </p:nvPr>
        </p:nvSpPr>
        <p:spPr/>
        <p:txBody>
          <a:bodyPr/>
          <a:lstStyle/>
          <a:p>
            <a:r>
              <a:rPr lang="es-MX" sz="1800" b="1" dirty="0">
                <a:effectLst/>
                <a:latin typeface="Arial" panose="020B0604020202020204" pitchFamily="34" charset="0"/>
                <a:ea typeface="Times New Roman" panose="02020603050405020304" pitchFamily="18" charset="0"/>
                <a:cs typeface="Arial" panose="020B0604020202020204" pitchFamily="34" charset="0"/>
              </a:rPr>
              <a:t>8.- Determinar tipo de explosivo de acuerdo a la temperatura</a:t>
            </a:r>
            <a:endParaRPr lang="es-MX" b="1" dirty="0">
              <a:latin typeface="Arial" panose="020B0604020202020204" pitchFamily="34" charset="0"/>
              <a:cs typeface="Arial" panose="020B0604020202020204" pitchFamily="34" charset="0"/>
            </a:endParaRPr>
          </a:p>
        </p:txBody>
      </p:sp>
      <p:sp>
        <p:nvSpPr>
          <p:cNvPr id="3" name="Marcador de contenido 2">
            <a:extLst>
              <a:ext uri="{FF2B5EF4-FFF2-40B4-BE49-F238E27FC236}">
                <a16:creationId xmlns:a16="http://schemas.microsoft.com/office/drawing/2014/main" id="{EB5D337D-B0E7-4002-962A-F1D55854FDD6}"/>
              </a:ext>
            </a:extLst>
          </p:cNvPr>
          <p:cNvSpPr>
            <a:spLocks noGrp="1"/>
          </p:cNvSpPr>
          <p:nvPr>
            <p:ph sz="quarter" idx="10"/>
          </p:nvPr>
        </p:nvSpPr>
        <p:spPr>
          <a:xfrm>
            <a:off x="734591" y="1571110"/>
            <a:ext cx="5045105" cy="4233713"/>
          </a:xfrm>
        </p:spPr>
        <p:txBody>
          <a:bodyPr>
            <a:normAutofit lnSpcReduction="10000"/>
          </a:bodyPr>
          <a:lstStyle/>
          <a:p>
            <a:pPr marL="0" indent="0" algn="just">
              <a:buNone/>
            </a:pPr>
            <a:r>
              <a:rPr lang="es-MX" sz="1800" dirty="0">
                <a:effectLst/>
                <a:latin typeface="Arial" panose="020B0604020202020204" pitchFamily="34" charset="0"/>
                <a:ea typeface="Calibri" panose="020F0502020204030204" pitchFamily="34" charset="0"/>
                <a:cs typeface="Arial" panose="020B0604020202020204" pitchFamily="34" charset="0"/>
              </a:rPr>
              <a:t>Los factores específicos para determinar el explosivo son la temperatura del pozo y las horas de exposición que se tendrá dentro del pozo. </a:t>
            </a:r>
            <a:r>
              <a:rPr lang="es-MX" dirty="0">
                <a:latin typeface="Arial" panose="020B0604020202020204" pitchFamily="34" charset="0"/>
                <a:ea typeface="Calibri" panose="020F0502020204030204" pitchFamily="34" charset="0"/>
                <a:cs typeface="Arial" panose="020B0604020202020204" pitchFamily="34" charset="0"/>
              </a:rPr>
              <a:t>E</a:t>
            </a:r>
            <a:r>
              <a:rPr lang="es-MX" sz="1800" dirty="0">
                <a:effectLst/>
                <a:latin typeface="Arial" panose="020B0604020202020204" pitchFamily="34" charset="0"/>
                <a:ea typeface="Calibri" panose="020F0502020204030204" pitchFamily="34" charset="0"/>
                <a:cs typeface="Arial" panose="020B0604020202020204" pitchFamily="34" charset="0"/>
              </a:rPr>
              <a:t>sto se debe a que los explosivos ocupados se van degradando con la temperatura, lo que puede ser perjudicial tanto para los disparos reduciendo su efectividad como para la seguridad del equipo de trabajo</a:t>
            </a:r>
            <a:r>
              <a:rPr lang="es-MX" dirty="0">
                <a:latin typeface="Arial" panose="020B0604020202020204" pitchFamily="34" charset="0"/>
                <a:ea typeface="Calibri" panose="020F0502020204030204" pitchFamily="34" charset="0"/>
                <a:cs typeface="Arial" panose="020B0604020202020204" pitchFamily="34" charset="0"/>
              </a:rPr>
              <a:t>.</a:t>
            </a:r>
          </a:p>
          <a:p>
            <a:pPr marL="0" indent="0" algn="just">
              <a:buNone/>
            </a:pPr>
            <a:r>
              <a:rPr lang="es-MX" dirty="0">
                <a:latin typeface="Arial" panose="020B0604020202020204" pitchFamily="34" charset="0"/>
                <a:ea typeface="Calibri" panose="020F0502020204030204" pitchFamily="34" charset="0"/>
                <a:cs typeface="Times New Roman" panose="02020603050405020304" pitchFamily="18" charset="0"/>
              </a:rPr>
              <a:t>C</a:t>
            </a:r>
            <a:r>
              <a:rPr lang="es-MX" sz="1800" dirty="0">
                <a:effectLst/>
                <a:latin typeface="Arial" panose="020B0604020202020204" pitchFamily="34" charset="0"/>
                <a:ea typeface="Calibri" panose="020F0502020204030204" pitchFamily="34" charset="0"/>
                <a:cs typeface="Times New Roman" panose="02020603050405020304" pitchFamily="18" charset="0"/>
              </a:rPr>
              <a:t>on la ayuda de la siguiente grafica, vamos a ubicar nuestros datos de temperatura y tiempo para determinar el explosivo adecuado para estas condiciones.</a:t>
            </a:r>
            <a:r>
              <a:rPr lang="es-MX" dirty="0">
                <a:latin typeface="Arial" panose="020B0604020202020204" pitchFamily="34" charset="0"/>
                <a:ea typeface="Calibri" panose="020F0502020204030204" pitchFamily="34" charset="0"/>
                <a:cs typeface="Arial" panose="020B0604020202020204" pitchFamily="34" charset="0"/>
              </a:rPr>
              <a:t> </a:t>
            </a:r>
          </a:p>
          <a:p>
            <a:pPr algn="just"/>
            <a:endParaRPr lang="es-MX" dirty="0">
              <a:latin typeface="Arial" panose="020B0604020202020204" pitchFamily="34" charset="0"/>
              <a:cs typeface="Arial" panose="020B0604020202020204" pitchFamily="34" charset="0"/>
            </a:endParaRPr>
          </a:p>
        </p:txBody>
      </p:sp>
      <p:sp>
        <p:nvSpPr>
          <p:cNvPr id="5" name="Marcador de número de diapositiva 4">
            <a:extLst>
              <a:ext uri="{FF2B5EF4-FFF2-40B4-BE49-F238E27FC236}">
                <a16:creationId xmlns:a16="http://schemas.microsoft.com/office/drawing/2014/main" id="{67FB20E0-2C98-4A6D-ACEC-F79D7D29C79E}"/>
              </a:ext>
            </a:extLst>
          </p:cNvPr>
          <p:cNvSpPr>
            <a:spLocks noGrp="1"/>
          </p:cNvSpPr>
          <p:nvPr>
            <p:ph type="sldNum" sz="quarter" idx="4"/>
          </p:nvPr>
        </p:nvSpPr>
        <p:spPr/>
        <p:txBody>
          <a:bodyPr/>
          <a:lstStyle/>
          <a:p>
            <a:pPr rtl="0"/>
            <a:fld id="{C3DB2ADC-AF19-4574-8C10-79B5B04FCA27}" type="slidenum">
              <a:rPr lang="es-ES" smtClean="0"/>
              <a:pPr rtl="0"/>
              <a:t>28</a:t>
            </a:fld>
            <a:endParaRPr lang="es-ES" dirty="0"/>
          </a:p>
        </p:txBody>
      </p:sp>
      <p:pic>
        <p:nvPicPr>
          <p:cNvPr id="9" name="Imagen 8">
            <a:extLst>
              <a:ext uri="{FF2B5EF4-FFF2-40B4-BE49-F238E27FC236}">
                <a16:creationId xmlns:a16="http://schemas.microsoft.com/office/drawing/2014/main" id="{3E4CF169-7FD0-4543-9B86-51A249022238}"/>
              </a:ext>
            </a:extLst>
          </p:cNvPr>
          <p:cNvPicPr/>
          <p:nvPr/>
        </p:nvPicPr>
        <p:blipFill rotWithShape="1">
          <a:blip r:embed="rId2"/>
          <a:srcRect l="9664" t="8116" r="5460" b="1676"/>
          <a:stretch/>
        </p:blipFill>
        <p:spPr bwMode="auto">
          <a:xfrm>
            <a:off x="6310610" y="2165224"/>
            <a:ext cx="4893275" cy="324982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895164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007780-55BA-47EC-9578-78F5147776BF}"/>
              </a:ext>
            </a:extLst>
          </p:cNvPr>
          <p:cNvSpPr>
            <a:spLocks noGrp="1"/>
          </p:cNvSpPr>
          <p:nvPr>
            <p:ph type="title"/>
          </p:nvPr>
        </p:nvSpPr>
        <p:spPr/>
        <p:txBody>
          <a:bodyPr/>
          <a:lstStyle/>
          <a:p>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9.- Elección de pistolas.</a:t>
            </a:r>
            <a:br>
              <a:rPr lang="es-MX" sz="1800" b="1" dirty="0">
                <a:effectLst/>
                <a:latin typeface="Arial" panose="020B0604020202020204" pitchFamily="34" charset="0"/>
                <a:ea typeface="Times New Roman" panose="02020603050405020304" pitchFamily="18" charset="0"/>
                <a:cs typeface="Times New Roman" panose="02020603050405020304" pitchFamily="18" charset="0"/>
              </a:rPr>
            </a:br>
            <a:endParaRPr lang="es-MX" dirty="0"/>
          </a:p>
        </p:txBody>
      </p:sp>
      <p:sp>
        <p:nvSpPr>
          <p:cNvPr id="3" name="Marcador de contenido 2">
            <a:extLst>
              <a:ext uri="{FF2B5EF4-FFF2-40B4-BE49-F238E27FC236}">
                <a16:creationId xmlns:a16="http://schemas.microsoft.com/office/drawing/2014/main" id="{1E5867E2-DA11-4E07-9194-2AD14403C36D}"/>
              </a:ext>
            </a:extLst>
          </p:cNvPr>
          <p:cNvSpPr>
            <a:spLocks noGrp="1"/>
          </p:cNvSpPr>
          <p:nvPr>
            <p:ph sz="quarter" idx="10"/>
          </p:nvPr>
        </p:nvSpPr>
        <p:spPr>
          <a:xfrm>
            <a:off x="734591" y="1312142"/>
            <a:ext cx="5284331" cy="4233713"/>
          </a:xfrm>
        </p:spPr>
        <p:txBody>
          <a:bodyPr>
            <a:normAutofit fontScale="92500" lnSpcReduction="10000"/>
          </a:bodyPr>
          <a:lstStyle/>
          <a:p>
            <a:pPr algn="just"/>
            <a:r>
              <a:rPr lang="es-MX" sz="1800" dirty="0">
                <a:effectLst/>
                <a:latin typeface="Arial" panose="020B0604020202020204" pitchFamily="34" charset="0"/>
                <a:ea typeface="Calibri" panose="020F0502020204030204" pitchFamily="34" charset="0"/>
                <a:cs typeface="Times New Roman" panose="02020603050405020304" pitchFamily="18" charset="0"/>
              </a:rPr>
              <a:t>Esto podría considerarse como un paso extra en esta metodología por las limitantes de la información, pero para este punto ya tendríamos la información necesaria para la elección de nuestra pistola, pero para esto es requerimos tener la información de un catalogo de un proveedor de servicios para la elección más adecuada en base a los requerimientos que hemos obtenido hasta el momento. A continuación les presentare un ejemplo de una elección para una pistola de disparos considerando: una densidad de 6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spf</a:t>
            </a:r>
            <a:r>
              <a:rPr lang="es-MX" sz="1800" dirty="0">
                <a:effectLst/>
                <a:latin typeface="Arial" panose="020B0604020202020204" pitchFamily="34" charset="0"/>
                <a:ea typeface="Calibri" panose="020F0502020204030204" pitchFamily="34" charset="0"/>
                <a:cs typeface="Times New Roman" panose="02020603050405020304" pitchFamily="18" charset="0"/>
              </a:rPr>
              <a:t>, una fase de 60°, un explosivo RDX, y por el tipo de terminación requiere una carga del tipo DP.</a:t>
            </a:r>
          </a:p>
          <a:p>
            <a:endParaRPr lang="es-MX" dirty="0"/>
          </a:p>
        </p:txBody>
      </p:sp>
      <p:sp>
        <p:nvSpPr>
          <p:cNvPr id="5" name="Marcador de número de diapositiva 4">
            <a:extLst>
              <a:ext uri="{FF2B5EF4-FFF2-40B4-BE49-F238E27FC236}">
                <a16:creationId xmlns:a16="http://schemas.microsoft.com/office/drawing/2014/main" id="{CBD30FF7-5435-4D4B-8DF6-FE6963227D20}"/>
              </a:ext>
            </a:extLst>
          </p:cNvPr>
          <p:cNvSpPr>
            <a:spLocks noGrp="1"/>
          </p:cNvSpPr>
          <p:nvPr>
            <p:ph type="sldNum" sz="quarter" idx="4"/>
          </p:nvPr>
        </p:nvSpPr>
        <p:spPr/>
        <p:txBody>
          <a:bodyPr/>
          <a:lstStyle/>
          <a:p>
            <a:pPr rtl="0"/>
            <a:fld id="{C3DB2ADC-AF19-4574-8C10-79B5B04FCA27}" type="slidenum">
              <a:rPr lang="es-ES" smtClean="0"/>
              <a:pPr rtl="0"/>
              <a:t>29</a:t>
            </a:fld>
            <a:endParaRPr lang="es-ES" dirty="0"/>
          </a:p>
        </p:txBody>
      </p:sp>
      <p:pic>
        <p:nvPicPr>
          <p:cNvPr id="6" name="Imagen 5">
            <a:extLst>
              <a:ext uri="{FF2B5EF4-FFF2-40B4-BE49-F238E27FC236}">
                <a16:creationId xmlns:a16="http://schemas.microsoft.com/office/drawing/2014/main" id="{93AA0DEA-017D-4B75-9AA4-55BF4BDCB7B4}"/>
              </a:ext>
            </a:extLst>
          </p:cNvPr>
          <p:cNvPicPr/>
          <p:nvPr/>
        </p:nvPicPr>
        <p:blipFill>
          <a:blip r:embed="rId2"/>
          <a:stretch>
            <a:fillRect/>
          </a:stretch>
        </p:blipFill>
        <p:spPr>
          <a:xfrm>
            <a:off x="6173080" y="1445741"/>
            <a:ext cx="5679019" cy="3494352"/>
          </a:xfrm>
          <a:prstGeom prst="rect">
            <a:avLst/>
          </a:prstGeom>
        </p:spPr>
      </p:pic>
    </p:spTree>
    <p:extLst>
      <p:ext uri="{BB962C8B-B14F-4D97-AF65-F5344CB8AC3E}">
        <p14:creationId xmlns:p14="http://schemas.microsoft.com/office/powerpoint/2010/main" val="31977178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197A9F-6C4F-48C6-93F3-C257619BEAAB}"/>
              </a:ext>
            </a:extLst>
          </p:cNvPr>
          <p:cNvSpPr>
            <a:spLocks noGrp="1"/>
          </p:cNvSpPr>
          <p:nvPr>
            <p:ph type="title"/>
          </p:nvPr>
        </p:nvSpPr>
        <p:spPr/>
        <p:txBody>
          <a:bodyPr/>
          <a:lstStyle/>
          <a:p>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10.- Calculo del Efecto del Daño del disparo</a:t>
            </a:r>
            <a:br>
              <a:rPr lang="es-MX" sz="1800" b="1" dirty="0">
                <a:effectLst/>
                <a:latin typeface="Arial" panose="020B0604020202020204" pitchFamily="34" charset="0"/>
                <a:ea typeface="Times New Roman" panose="02020603050405020304" pitchFamily="18" charset="0"/>
                <a:cs typeface="Times New Roman" panose="02020603050405020304" pitchFamily="18" charset="0"/>
              </a:rPr>
            </a:br>
            <a:endParaRPr lang="es-MX" dirty="0"/>
          </a:p>
        </p:txBody>
      </p:sp>
      <p:sp>
        <p:nvSpPr>
          <p:cNvPr id="3" name="Marcador de contenido 2">
            <a:extLst>
              <a:ext uri="{FF2B5EF4-FFF2-40B4-BE49-F238E27FC236}">
                <a16:creationId xmlns:a16="http://schemas.microsoft.com/office/drawing/2014/main" id="{647E8753-BD93-45EB-8BF7-FEAA795355E5}"/>
              </a:ext>
            </a:extLst>
          </p:cNvPr>
          <p:cNvSpPr>
            <a:spLocks noGrp="1"/>
          </p:cNvSpPr>
          <p:nvPr>
            <p:ph sz="quarter" idx="10"/>
          </p:nvPr>
        </p:nvSpPr>
        <p:spPr>
          <a:xfrm>
            <a:off x="734591" y="1448067"/>
            <a:ext cx="5045105" cy="4233713"/>
          </a:xfrm>
        </p:spPr>
        <p:txBody>
          <a:bodyPr/>
          <a:lstStyle/>
          <a:p>
            <a:pPr marL="0" indent="0" algn="just">
              <a:buNone/>
            </a:pPr>
            <a:r>
              <a:rPr lang="es-MX" sz="1800" dirty="0">
                <a:effectLst/>
                <a:latin typeface="Arial" panose="020B0604020202020204" pitchFamily="34" charset="0"/>
                <a:ea typeface="Calibri" panose="020F0502020204030204" pitchFamily="34" charset="0"/>
                <a:cs typeface="Arial" panose="020B0604020202020204" pitchFamily="34" charset="0"/>
              </a:rPr>
              <a:t>Durante el proceso de disparos, uno de los aspectos críticos a evaluar es el factor de daño, el cual representa la reducción de la productividad del pozo debido a alteraciones en la formación alrededor del túnel de disparo. </a:t>
            </a:r>
            <a:r>
              <a:rPr lang="es-MX" dirty="0">
                <a:latin typeface="Arial" panose="020B0604020202020204" pitchFamily="34" charset="0"/>
                <a:ea typeface="Calibri" panose="020F0502020204030204" pitchFamily="34" charset="0"/>
                <a:cs typeface="Arial" panose="020B0604020202020204" pitchFamily="34" charset="0"/>
              </a:rPr>
              <a:t>Siendo calculado con el factor del flujo en el plano, el efecto de convergencia vertical y el efecto del diámetro del pozo. Con la ayuda de la tabla de </a:t>
            </a:r>
            <a:r>
              <a:rPr lang="es-MX" dirty="0" err="1">
                <a:latin typeface="Arial" panose="020B0604020202020204" pitchFamily="34" charset="0"/>
                <a:ea typeface="Calibri" panose="020F0502020204030204" pitchFamily="34" charset="0"/>
                <a:cs typeface="Arial" panose="020B0604020202020204" pitchFamily="34" charset="0"/>
              </a:rPr>
              <a:t>Karacas</a:t>
            </a:r>
            <a:r>
              <a:rPr lang="es-MX" dirty="0">
                <a:latin typeface="Arial" panose="020B0604020202020204" pitchFamily="34" charset="0"/>
                <a:ea typeface="Calibri" panose="020F0502020204030204" pitchFamily="34" charset="0"/>
                <a:cs typeface="Arial" panose="020B0604020202020204" pitchFamily="34" charset="0"/>
              </a:rPr>
              <a:t> y Tariq (1991), que se basa en la fase del disparo. </a:t>
            </a:r>
            <a:endParaRPr lang="es-MX" dirty="0">
              <a:latin typeface="Arial" panose="020B0604020202020204" pitchFamily="34" charset="0"/>
              <a:cs typeface="Arial" panose="020B0604020202020204" pitchFamily="34" charset="0"/>
            </a:endParaRPr>
          </a:p>
        </p:txBody>
      </p:sp>
      <p:sp>
        <p:nvSpPr>
          <p:cNvPr id="5" name="Marcador de número de diapositiva 4">
            <a:extLst>
              <a:ext uri="{FF2B5EF4-FFF2-40B4-BE49-F238E27FC236}">
                <a16:creationId xmlns:a16="http://schemas.microsoft.com/office/drawing/2014/main" id="{A63D1513-7BC4-491E-9F34-543190AEB80C}"/>
              </a:ext>
            </a:extLst>
          </p:cNvPr>
          <p:cNvSpPr>
            <a:spLocks noGrp="1"/>
          </p:cNvSpPr>
          <p:nvPr>
            <p:ph type="sldNum" sz="quarter" idx="4"/>
          </p:nvPr>
        </p:nvSpPr>
        <p:spPr/>
        <p:txBody>
          <a:bodyPr/>
          <a:lstStyle/>
          <a:p>
            <a:pPr rtl="0"/>
            <a:fld id="{C3DB2ADC-AF19-4574-8C10-79B5B04FCA27}" type="slidenum">
              <a:rPr lang="es-ES" smtClean="0"/>
              <a:pPr rtl="0"/>
              <a:t>30</a:t>
            </a:fld>
            <a:endParaRPr lang="es-ES" dirty="0"/>
          </a:p>
        </p:txBody>
      </p:sp>
      <mc:AlternateContent xmlns:mc="http://schemas.openxmlformats.org/markup-compatibility/2006">
        <mc:Choice xmlns:a14="http://schemas.microsoft.com/office/drawing/2010/main" Requires="a14">
          <p:sp>
            <p:nvSpPr>
              <p:cNvPr id="6" name="Marcador de contenido 2">
                <a:extLst>
                  <a:ext uri="{FF2B5EF4-FFF2-40B4-BE49-F238E27FC236}">
                    <a16:creationId xmlns:a16="http://schemas.microsoft.com/office/drawing/2014/main" id="{3DFCC260-9860-4087-8526-B2CEC99946BB}"/>
                  </a:ext>
                </a:extLst>
              </p:cNvPr>
              <p:cNvSpPr txBox="1">
                <a:spLocks/>
              </p:cNvSpPr>
              <p:nvPr/>
            </p:nvSpPr>
            <p:spPr>
              <a:xfrm>
                <a:off x="6096000" y="1448067"/>
                <a:ext cx="5045105" cy="4275438"/>
              </a:xfrm>
              <a:prstGeom prst="rect">
                <a:avLst/>
              </a:prstGeom>
            </p:spPr>
            <p:txBody>
              <a:bodyPr vert="horz" lIns="91440" tIns="45720" rIns="91440" bIns="45720" rtlCol="0">
                <a:normAutofit/>
              </a:bodyPr>
              <a:lstStyle>
                <a:defPPr>
                  <a:defRPr lang="es-ES"/>
                </a:defPPr>
                <a:lvl1pPr marL="228600" indent="-228600" algn="l" defTabSz="914400" rtl="0" eaLnBrk="1" latinLnBrk="0" hangingPunct="1">
                  <a:lnSpc>
                    <a:spcPct val="120000"/>
                  </a:lnSpc>
                  <a:spcBef>
                    <a:spcPts val="0"/>
                  </a:spcBef>
                  <a:spcAft>
                    <a:spcPts val="1200"/>
                  </a:spcAft>
                  <a:buFont typeface="Arial" panose="020B0604020202020204" pitchFamily="34" charset="0"/>
                  <a:buChar char="•"/>
                  <a:defRPr lang="es-ES" sz="1800" kern="1200">
                    <a:solidFill>
                      <a:schemeClr val="tx1"/>
                    </a:solidFill>
                    <a:latin typeface="+mn-lt"/>
                    <a:ea typeface="+mn-ea"/>
                    <a:cs typeface="+mn-cs"/>
                  </a:defRPr>
                </a:lvl1pPr>
                <a:lvl2pPr marL="685800" indent="-228600" algn="l" defTabSz="914400" rtl="0" eaLnBrk="1" latinLnBrk="0" hangingPunct="1">
                  <a:lnSpc>
                    <a:spcPct val="120000"/>
                  </a:lnSpc>
                  <a:spcBef>
                    <a:spcPts val="0"/>
                  </a:spcBef>
                  <a:spcAft>
                    <a:spcPts val="1200"/>
                  </a:spcAft>
                  <a:buFont typeface="Arial" panose="020B0604020202020204" pitchFamily="34" charset="0"/>
                  <a:buChar char="•"/>
                  <a:defRPr lang="es-ES" sz="1600" kern="1200">
                    <a:solidFill>
                      <a:schemeClr val="tx1"/>
                    </a:solidFill>
                    <a:latin typeface="+mn-lt"/>
                    <a:ea typeface="+mn-ea"/>
                    <a:cs typeface="+mn-cs"/>
                  </a:defRPr>
                </a:lvl2pPr>
                <a:lvl3pPr marL="1143000" indent="-228600" algn="l" defTabSz="914400" rtl="0" eaLnBrk="1" latinLnBrk="0" hangingPunct="1">
                  <a:lnSpc>
                    <a:spcPct val="120000"/>
                  </a:lnSpc>
                  <a:spcBef>
                    <a:spcPts val="0"/>
                  </a:spcBef>
                  <a:spcAft>
                    <a:spcPts val="1200"/>
                  </a:spcAft>
                  <a:buFont typeface="Arial" panose="020B0604020202020204" pitchFamily="34" charset="0"/>
                  <a:buChar char="•"/>
                  <a:defRPr lang="es-ES" sz="1400" kern="1200">
                    <a:solidFill>
                      <a:schemeClr val="tx1"/>
                    </a:solidFill>
                    <a:latin typeface="+mn-lt"/>
                    <a:ea typeface="+mn-ea"/>
                    <a:cs typeface="+mn-cs"/>
                  </a:defRPr>
                </a:lvl3pPr>
                <a:lvl4pPr marL="1600200" indent="-228600" algn="l" defTabSz="914400" rtl="0" eaLnBrk="1" latinLnBrk="0" hangingPunct="1">
                  <a:lnSpc>
                    <a:spcPct val="120000"/>
                  </a:lnSpc>
                  <a:spcBef>
                    <a:spcPts val="0"/>
                  </a:spcBef>
                  <a:spcAft>
                    <a:spcPts val="1200"/>
                  </a:spcAft>
                  <a:buFont typeface="Arial" panose="020B0604020202020204" pitchFamily="34" charset="0"/>
                  <a:buChar char="•"/>
                  <a:defRPr lang="es-ES" sz="1200" kern="1200">
                    <a:solidFill>
                      <a:schemeClr val="tx1"/>
                    </a:solidFill>
                    <a:latin typeface="+mn-lt"/>
                    <a:ea typeface="+mn-ea"/>
                    <a:cs typeface="+mn-cs"/>
                  </a:defRPr>
                </a:lvl4pPr>
                <a:lvl5pPr marL="2057400" indent="-228600" algn="l" defTabSz="914400" rtl="0" eaLnBrk="1" latinLnBrk="0" hangingPunct="1">
                  <a:lnSpc>
                    <a:spcPct val="120000"/>
                  </a:lnSpc>
                  <a:spcBef>
                    <a:spcPts val="0"/>
                  </a:spcBef>
                  <a:spcAft>
                    <a:spcPts val="1200"/>
                  </a:spcAft>
                  <a:buFont typeface="Arial" panose="020B0604020202020204" pitchFamily="34" charset="0"/>
                  <a:buChar char="•"/>
                  <a:defRPr lang="es-ES"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pPr marL="0" indent="0" algn="just">
                  <a:lnSpc>
                    <a:spcPct val="115000"/>
                  </a:lnSpc>
                  <a:spcAft>
                    <a:spcPts val="800"/>
                  </a:spcAft>
                  <a:buFont typeface="Arial" panose="020B0604020202020204" pitchFamily="34" charset="0"/>
                  <a:buNone/>
                </a:pPr>
                <a:r>
                  <a:rPr lang="es-MX" dirty="0">
                    <a:latin typeface="Arial" panose="020B0604020202020204" pitchFamily="34" charset="0"/>
                    <a:ea typeface="Times New Roman" panose="02020603050405020304" pitchFamily="18" charset="0"/>
                    <a:cs typeface="Arial" panose="020B0604020202020204" pitchFamily="34" charset="0"/>
                  </a:rPr>
                  <a:t>Calculo del factor de daño</a:t>
                </a:r>
                <a:r>
                  <a:rPr lang="es-MX" dirty="0">
                    <a:ea typeface="Times New Roman" panose="02020603050405020304" pitchFamily="18" charset="0"/>
                    <a:cs typeface="Arial" panose="020B0604020202020204" pitchFamily="34" charset="0"/>
                  </a:rPr>
                  <a:t> </a:t>
                </a:r>
                <a14:m>
                  <m:oMath xmlns:m="http://schemas.openxmlformats.org/officeDocument/2006/math">
                    <m:sSub>
                      <m:sSubPr>
                        <m:ctrlPr>
                          <a:rPr lang="es-MX" i="1">
                            <a:latin typeface="Cambria Math" panose="02040503050406030204" pitchFamily="18" charset="0"/>
                            <a:ea typeface="Times New Roman" panose="02020603050405020304" pitchFamily="18" charset="0"/>
                            <a:cs typeface="Arial" panose="020B0604020202020204" pitchFamily="34" charset="0"/>
                          </a:rPr>
                        </m:ctrlPr>
                      </m:sSubPr>
                      <m:e>
                        <m:r>
                          <a:rPr lang="es-MX" i="1">
                            <a:latin typeface="Cambria Math" panose="02040503050406030204" pitchFamily="18" charset="0"/>
                            <a:ea typeface="Times New Roman" panose="02020603050405020304" pitchFamily="18" charset="0"/>
                            <a:cs typeface="Arial" panose="020B0604020202020204" pitchFamily="34" charset="0"/>
                          </a:rPr>
                          <m:t>𝑆</m:t>
                        </m:r>
                      </m:e>
                      <m:sub>
                        <m:r>
                          <a:rPr lang="es-MX" i="1">
                            <a:latin typeface="Cambria Math" panose="02040503050406030204" pitchFamily="18" charset="0"/>
                            <a:ea typeface="Times New Roman" panose="02020603050405020304" pitchFamily="18" charset="0"/>
                            <a:cs typeface="Arial" panose="020B0604020202020204" pitchFamily="34" charset="0"/>
                          </a:rPr>
                          <m:t>𝑝</m:t>
                        </m:r>
                      </m:sub>
                    </m:sSub>
                  </m:oMath>
                </a14:m>
                <a:r>
                  <a:rPr lang="es-MX" dirty="0">
                    <a:latin typeface="Arial" panose="020B0604020202020204" pitchFamily="34" charset="0"/>
                    <a:ea typeface="Times New Roman" panose="02020603050405020304" pitchFamily="18" charset="0"/>
                    <a:cs typeface="Times New Roman" panose="02020603050405020304" pitchFamily="18" charset="0"/>
                  </a:rPr>
                  <a:t> (skin)</a:t>
                </a:r>
                <a:endParaRPr lang="es-MX"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800"/>
                  </a:spcAft>
                  <a:buFont typeface="Arial" panose="020B0604020202020204" pitchFamily="34" charset="0"/>
                  <a:buNone/>
                </a:pPr>
                <a14:m>
                  <m:oMathPara xmlns:m="http://schemas.openxmlformats.org/officeDocument/2006/math">
                    <m:oMathParaPr>
                      <m:jc m:val="centerGroup"/>
                    </m:oMathParaPr>
                    <m:oMath xmlns:m="http://schemas.openxmlformats.org/officeDocument/2006/math">
                      <m:sSub>
                        <m:sSubPr>
                          <m:ctrlPr>
                            <a:rPr lang="es-MX" i="1">
                              <a:latin typeface="Cambria Math" panose="02040503050406030204" pitchFamily="18" charset="0"/>
                              <a:ea typeface="Times New Roman" panose="02020603050405020304" pitchFamily="18" charset="0"/>
                              <a:cs typeface="Arial" panose="020B0604020202020204" pitchFamily="34" charset="0"/>
                            </a:rPr>
                          </m:ctrlPr>
                        </m:sSubPr>
                        <m:e>
                          <m:r>
                            <a:rPr lang="es-MX" i="1">
                              <a:latin typeface="Cambria Math" panose="02040503050406030204" pitchFamily="18" charset="0"/>
                              <a:ea typeface="Times New Roman" panose="02020603050405020304" pitchFamily="18" charset="0"/>
                              <a:cs typeface="Arial" panose="020B0604020202020204" pitchFamily="34" charset="0"/>
                            </a:rPr>
                            <m:t>𝑆</m:t>
                          </m:r>
                        </m:e>
                        <m:sub>
                          <m:r>
                            <a:rPr lang="es-MX" i="1">
                              <a:latin typeface="Cambria Math" panose="02040503050406030204" pitchFamily="18" charset="0"/>
                              <a:ea typeface="Times New Roman" panose="02020603050405020304" pitchFamily="18" charset="0"/>
                              <a:cs typeface="Arial" panose="020B0604020202020204" pitchFamily="34" charset="0"/>
                            </a:rPr>
                            <m:t>𝑝</m:t>
                          </m:r>
                        </m:sub>
                      </m:sSub>
                      <m:r>
                        <a:rPr lang="es-MX" i="1">
                          <a:latin typeface="Cambria Math" panose="02040503050406030204" pitchFamily="18" charset="0"/>
                          <a:ea typeface="Times New Roman" panose="02020603050405020304" pitchFamily="18" charset="0"/>
                          <a:cs typeface="Arial" panose="020B0604020202020204" pitchFamily="34" charset="0"/>
                        </a:rPr>
                        <m:t>=</m:t>
                      </m:r>
                      <m:sSub>
                        <m:sSubPr>
                          <m:ctrlPr>
                            <a:rPr lang="es-MX" i="1">
                              <a:latin typeface="Cambria Math" panose="02040503050406030204" pitchFamily="18" charset="0"/>
                              <a:ea typeface="Times New Roman" panose="02020603050405020304" pitchFamily="18" charset="0"/>
                              <a:cs typeface="Arial" panose="020B0604020202020204" pitchFamily="34" charset="0"/>
                            </a:rPr>
                          </m:ctrlPr>
                        </m:sSubPr>
                        <m:e>
                          <m:r>
                            <a:rPr lang="es-MX" i="1">
                              <a:latin typeface="Cambria Math" panose="02040503050406030204" pitchFamily="18" charset="0"/>
                              <a:ea typeface="Times New Roman" panose="02020603050405020304" pitchFamily="18" charset="0"/>
                              <a:cs typeface="Arial" panose="020B0604020202020204" pitchFamily="34" charset="0"/>
                            </a:rPr>
                            <m:t>𝑆</m:t>
                          </m:r>
                        </m:e>
                        <m:sub>
                          <m:r>
                            <a:rPr lang="es-MX" i="1">
                              <a:latin typeface="Cambria Math" panose="02040503050406030204" pitchFamily="18" charset="0"/>
                              <a:ea typeface="Times New Roman" panose="02020603050405020304" pitchFamily="18" charset="0"/>
                              <a:cs typeface="Arial" panose="020B0604020202020204" pitchFamily="34" charset="0"/>
                            </a:rPr>
                            <m:t>𝐻</m:t>
                          </m:r>
                        </m:sub>
                      </m:sSub>
                      <m:r>
                        <a:rPr lang="es-MX" i="1">
                          <a:latin typeface="Cambria Math" panose="02040503050406030204" pitchFamily="18" charset="0"/>
                          <a:ea typeface="Times New Roman" panose="02020603050405020304" pitchFamily="18" charset="0"/>
                          <a:cs typeface="Arial" panose="020B0604020202020204" pitchFamily="34" charset="0"/>
                        </a:rPr>
                        <m:t>+</m:t>
                      </m:r>
                      <m:sSub>
                        <m:sSubPr>
                          <m:ctrlPr>
                            <a:rPr lang="es-MX" i="1">
                              <a:latin typeface="Cambria Math" panose="02040503050406030204" pitchFamily="18" charset="0"/>
                              <a:ea typeface="Times New Roman" panose="02020603050405020304" pitchFamily="18" charset="0"/>
                              <a:cs typeface="Arial" panose="020B0604020202020204" pitchFamily="34" charset="0"/>
                            </a:rPr>
                          </m:ctrlPr>
                        </m:sSubPr>
                        <m:e>
                          <m:r>
                            <a:rPr lang="es-MX" i="1">
                              <a:latin typeface="Cambria Math" panose="02040503050406030204" pitchFamily="18" charset="0"/>
                              <a:ea typeface="Times New Roman" panose="02020603050405020304" pitchFamily="18" charset="0"/>
                              <a:cs typeface="Arial" panose="020B0604020202020204" pitchFamily="34" charset="0"/>
                            </a:rPr>
                            <m:t>𝑆</m:t>
                          </m:r>
                        </m:e>
                        <m:sub>
                          <m:r>
                            <a:rPr lang="es-MX" i="1">
                              <a:latin typeface="Cambria Math" panose="02040503050406030204" pitchFamily="18" charset="0"/>
                              <a:ea typeface="Times New Roman" panose="02020603050405020304" pitchFamily="18" charset="0"/>
                              <a:cs typeface="Arial" panose="020B0604020202020204" pitchFamily="34" charset="0"/>
                            </a:rPr>
                            <m:t>𝑉</m:t>
                          </m:r>
                        </m:sub>
                      </m:sSub>
                      <m:r>
                        <a:rPr lang="es-MX" i="1">
                          <a:latin typeface="Cambria Math" panose="02040503050406030204" pitchFamily="18" charset="0"/>
                          <a:ea typeface="Times New Roman" panose="02020603050405020304" pitchFamily="18" charset="0"/>
                          <a:cs typeface="Arial" panose="020B0604020202020204" pitchFamily="34" charset="0"/>
                        </a:rPr>
                        <m:t>+</m:t>
                      </m:r>
                      <m:sSub>
                        <m:sSubPr>
                          <m:ctrlPr>
                            <a:rPr lang="es-MX" i="1">
                              <a:latin typeface="Cambria Math" panose="02040503050406030204" pitchFamily="18" charset="0"/>
                              <a:ea typeface="Times New Roman" panose="02020603050405020304" pitchFamily="18" charset="0"/>
                              <a:cs typeface="Arial" panose="020B0604020202020204" pitchFamily="34" charset="0"/>
                            </a:rPr>
                          </m:ctrlPr>
                        </m:sSubPr>
                        <m:e>
                          <m:r>
                            <a:rPr lang="es-MX" i="1">
                              <a:latin typeface="Cambria Math" panose="02040503050406030204" pitchFamily="18" charset="0"/>
                              <a:ea typeface="Times New Roman" panose="02020603050405020304" pitchFamily="18" charset="0"/>
                              <a:cs typeface="Arial" panose="020B0604020202020204" pitchFamily="34" charset="0"/>
                            </a:rPr>
                            <m:t>𝑆</m:t>
                          </m:r>
                        </m:e>
                        <m:sub>
                          <m:r>
                            <a:rPr lang="es-MX" i="1">
                              <a:latin typeface="Cambria Math" panose="02040503050406030204" pitchFamily="18" charset="0"/>
                              <a:ea typeface="Times New Roman" panose="02020603050405020304" pitchFamily="18" charset="0"/>
                              <a:cs typeface="Arial" panose="020B0604020202020204" pitchFamily="34" charset="0"/>
                            </a:rPr>
                            <m:t>𝑤𝑏</m:t>
                          </m:r>
                        </m:sub>
                      </m:sSub>
                    </m:oMath>
                  </m:oMathPara>
                </a14:m>
                <a:endParaRPr lang="es-MX" dirty="0">
                  <a:latin typeface="Calibri" panose="020F0502020204030204" pitchFamily="34" charset="0"/>
                  <a:ea typeface="Calibri" panose="020F0502020204030204" pitchFamily="34" charset="0"/>
                  <a:cs typeface="Times New Roman" panose="02020603050405020304" pitchFamily="18" charset="0"/>
                </a:endParaRPr>
              </a:p>
              <a:p>
                <a:pPr marL="0" indent="0" algn="ctr">
                  <a:spcAft>
                    <a:spcPts val="1000"/>
                  </a:spcAft>
                  <a:buFont typeface="Arial" panose="020B0604020202020204" pitchFamily="34" charset="0"/>
                  <a:buNone/>
                </a:pPr>
                <a:r>
                  <a:rPr lang="es-MX" i="1" dirty="0">
                    <a:solidFill>
                      <a:srgbClr val="44546A"/>
                    </a:solidFill>
                    <a:latin typeface="Calibri" panose="020F0502020204030204" pitchFamily="34" charset="0"/>
                    <a:ea typeface="Calibri" panose="020F0502020204030204" pitchFamily="34" charset="0"/>
                    <a:cs typeface="Times New Roman" panose="02020603050405020304" pitchFamily="18" charset="0"/>
                  </a:rPr>
                  <a:t>Ecuación 18: Factor de daño por disparos</a:t>
                </a:r>
              </a:p>
              <a:p>
                <a:pPr algn="just">
                  <a:lnSpc>
                    <a:spcPct val="115000"/>
                  </a:lnSpc>
                  <a:spcAft>
                    <a:spcPts val="800"/>
                  </a:spcAft>
                </a:pPr>
                <a:endParaRPr lang="es-MX" dirty="0">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15000"/>
                  </a:lnSpc>
                  <a:spcAft>
                    <a:spcPts val="800"/>
                  </a:spcAft>
                  <a:buFont typeface="Arial" panose="020B0604020202020204" pitchFamily="34" charset="0"/>
                  <a:buNone/>
                </a:pPr>
                <a14:m>
                  <m:oMath xmlns:m="http://schemas.openxmlformats.org/officeDocument/2006/math">
                    <m:sSub>
                      <m:sSubPr>
                        <m:ctrlPr>
                          <a:rPr lang="es-MX" i="1">
                            <a:latin typeface="Cambria Math" panose="02040503050406030204" pitchFamily="18" charset="0"/>
                            <a:ea typeface="Times New Roman" panose="02020603050405020304" pitchFamily="18" charset="0"/>
                            <a:cs typeface="Arial" panose="020B0604020202020204" pitchFamily="34" charset="0"/>
                          </a:rPr>
                        </m:ctrlPr>
                      </m:sSubPr>
                      <m:e>
                        <m:r>
                          <a:rPr lang="es-MX" i="1">
                            <a:latin typeface="Cambria Math" panose="02040503050406030204" pitchFamily="18" charset="0"/>
                            <a:ea typeface="Times New Roman" panose="02020603050405020304" pitchFamily="18" charset="0"/>
                            <a:cs typeface="Arial" panose="020B0604020202020204" pitchFamily="34" charset="0"/>
                          </a:rPr>
                          <m:t>𝑆</m:t>
                        </m:r>
                      </m:e>
                      <m:sub>
                        <m:r>
                          <a:rPr lang="es-MX" i="1">
                            <a:latin typeface="Cambria Math" panose="02040503050406030204" pitchFamily="18" charset="0"/>
                            <a:ea typeface="Times New Roman" panose="02020603050405020304" pitchFamily="18" charset="0"/>
                            <a:cs typeface="Arial" panose="020B0604020202020204" pitchFamily="34" charset="0"/>
                          </a:rPr>
                          <m:t>𝐻</m:t>
                        </m:r>
                      </m:sub>
                    </m:sSub>
                  </m:oMath>
                </a14:m>
                <a:r>
                  <a:rPr lang="es-MX" dirty="0">
                    <a:latin typeface="Arial" panose="020B0604020202020204" pitchFamily="34" charset="0"/>
                    <a:ea typeface="Times New Roman" panose="02020603050405020304" pitchFamily="18" charset="0"/>
                    <a:cs typeface="Times New Roman" panose="02020603050405020304" pitchFamily="18" charset="0"/>
                  </a:rPr>
                  <a:t> es el efecto del flujo en el plano; </a:t>
                </a:r>
                <a14:m>
                  <m:oMath xmlns:m="http://schemas.openxmlformats.org/officeDocument/2006/math">
                    <m:sSub>
                      <m:sSubPr>
                        <m:ctrlPr>
                          <a:rPr lang="es-MX" i="1">
                            <a:latin typeface="Cambria Math" panose="02040503050406030204" pitchFamily="18" charset="0"/>
                            <a:ea typeface="Times New Roman" panose="02020603050405020304" pitchFamily="18" charset="0"/>
                            <a:cs typeface="Arial" panose="020B0604020202020204" pitchFamily="34" charset="0"/>
                          </a:rPr>
                        </m:ctrlPr>
                      </m:sSubPr>
                      <m:e>
                        <m:r>
                          <a:rPr lang="es-MX" i="1">
                            <a:latin typeface="Cambria Math" panose="02040503050406030204" pitchFamily="18" charset="0"/>
                            <a:ea typeface="Times New Roman" panose="02020603050405020304" pitchFamily="18" charset="0"/>
                            <a:cs typeface="Arial" panose="020B0604020202020204" pitchFamily="34" charset="0"/>
                          </a:rPr>
                          <m:t>𝑆</m:t>
                        </m:r>
                      </m:e>
                      <m:sub>
                        <m:r>
                          <a:rPr lang="es-MX" i="1">
                            <a:latin typeface="Cambria Math" panose="02040503050406030204" pitchFamily="18" charset="0"/>
                            <a:ea typeface="Times New Roman" panose="02020603050405020304" pitchFamily="18" charset="0"/>
                            <a:cs typeface="Arial" panose="020B0604020202020204" pitchFamily="34" charset="0"/>
                          </a:rPr>
                          <m:t>𝑉</m:t>
                        </m:r>
                      </m:sub>
                    </m:sSub>
                  </m:oMath>
                </a14:m>
                <a:r>
                  <a:rPr lang="es-MX" dirty="0">
                    <a:latin typeface="Arial" panose="020B0604020202020204" pitchFamily="34" charset="0"/>
                    <a:ea typeface="Times New Roman" panose="02020603050405020304" pitchFamily="18" charset="0"/>
                    <a:cs typeface="Times New Roman" panose="02020603050405020304" pitchFamily="18" charset="0"/>
                  </a:rPr>
                  <a:t> el efecto de convergencia vertical y </a:t>
                </a:r>
                <a14:m>
                  <m:oMath xmlns:m="http://schemas.openxmlformats.org/officeDocument/2006/math">
                    <m:sSub>
                      <m:sSubPr>
                        <m:ctrlPr>
                          <a:rPr lang="es-MX" i="1">
                            <a:latin typeface="Cambria Math" panose="02040503050406030204" pitchFamily="18" charset="0"/>
                            <a:ea typeface="Times New Roman" panose="02020603050405020304" pitchFamily="18" charset="0"/>
                            <a:cs typeface="Arial" panose="020B0604020202020204" pitchFamily="34" charset="0"/>
                          </a:rPr>
                        </m:ctrlPr>
                      </m:sSubPr>
                      <m:e>
                        <m:r>
                          <a:rPr lang="es-MX" i="1">
                            <a:latin typeface="Cambria Math" panose="02040503050406030204" pitchFamily="18" charset="0"/>
                            <a:ea typeface="Times New Roman" panose="02020603050405020304" pitchFamily="18" charset="0"/>
                            <a:cs typeface="Arial" panose="020B0604020202020204" pitchFamily="34" charset="0"/>
                          </a:rPr>
                          <m:t>𝑆</m:t>
                        </m:r>
                      </m:e>
                      <m:sub>
                        <m:r>
                          <a:rPr lang="es-MX" i="1">
                            <a:latin typeface="Cambria Math" panose="02040503050406030204" pitchFamily="18" charset="0"/>
                            <a:ea typeface="Times New Roman" panose="02020603050405020304" pitchFamily="18" charset="0"/>
                            <a:cs typeface="Arial" panose="020B0604020202020204" pitchFamily="34" charset="0"/>
                          </a:rPr>
                          <m:t>𝑤𝑏</m:t>
                        </m:r>
                      </m:sub>
                    </m:sSub>
                  </m:oMath>
                </a14:m>
                <a:r>
                  <a:rPr lang="es-MX" dirty="0">
                    <a:latin typeface="Arial" panose="020B0604020202020204" pitchFamily="34" charset="0"/>
                    <a:ea typeface="Times New Roman" panose="02020603050405020304" pitchFamily="18" charset="0"/>
                    <a:cs typeface="Times New Roman" panose="02020603050405020304" pitchFamily="18" charset="0"/>
                  </a:rPr>
                  <a:t>el efecto del diámetro del pozo. </a:t>
                </a:r>
                <a:endParaRPr lang="es-MX"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s-MX" dirty="0"/>
              </a:p>
            </p:txBody>
          </p:sp>
        </mc:Choice>
        <mc:Fallback>
          <p:sp>
            <p:nvSpPr>
              <p:cNvPr id="6" name="Marcador de contenido 2">
                <a:extLst>
                  <a:ext uri="{FF2B5EF4-FFF2-40B4-BE49-F238E27FC236}">
                    <a16:creationId xmlns:a16="http://schemas.microsoft.com/office/drawing/2014/main" id="{3DFCC260-9860-4087-8526-B2CEC99946BB}"/>
                  </a:ext>
                </a:extLst>
              </p:cNvPr>
              <p:cNvSpPr txBox="1">
                <a:spLocks noRot="1" noChangeAspect="1" noMove="1" noResize="1" noEditPoints="1" noAdjustHandles="1" noChangeArrowheads="1" noChangeShapeType="1" noTextEdit="1"/>
              </p:cNvSpPr>
              <p:nvPr/>
            </p:nvSpPr>
            <p:spPr>
              <a:xfrm>
                <a:off x="6096000" y="1448067"/>
                <a:ext cx="5045105" cy="4275438"/>
              </a:xfrm>
              <a:prstGeom prst="rect">
                <a:avLst/>
              </a:prstGeom>
              <a:blipFill>
                <a:blip r:embed="rId2"/>
                <a:stretch>
                  <a:fillRect l="-966" t="-143" r="-845"/>
                </a:stretch>
              </a:blipFill>
            </p:spPr>
            <p:txBody>
              <a:bodyPr/>
              <a:lstStyle/>
              <a:p>
                <a:r>
                  <a:rPr lang="es-MX">
                    <a:noFill/>
                  </a:rPr>
                  <a:t> </a:t>
                </a:r>
              </a:p>
            </p:txBody>
          </p:sp>
        </mc:Fallback>
      </mc:AlternateContent>
      <p:pic>
        <p:nvPicPr>
          <p:cNvPr id="7" name="Imagen 6">
            <a:extLst>
              <a:ext uri="{FF2B5EF4-FFF2-40B4-BE49-F238E27FC236}">
                <a16:creationId xmlns:a16="http://schemas.microsoft.com/office/drawing/2014/main" id="{8E4AA2F8-6C88-47CE-9936-830A4EE36426}"/>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122670" y="4313170"/>
            <a:ext cx="5612130" cy="1410335"/>
          </a:xfrm>
          <a:prstGeom prst="rect">
            <a:avLst/>
          </a:prstGeom>
          <a:noFill/>
          <a:ln>
            <a:noFill/>
          </a:ln>
        </p:spPr>
      </p:pic>
    </p:spTree>
    <p:extLst>
      <p:ext uri="{BB962C8B-B14F-4D97-AF65-F5344CB8AC3E}">
        <p14:creationId xmlns:p14="http://schemas.microsoft.com/office/powerpoint/2010/main" val="8849703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0A1B945-CD28-4F38-9780-ABC5A6713F7C}"/>
              </a:ext>
            </a:extLst>
          </p:cNvPr>
          <p:cNvSpPr>
            <a:spLocks noGrp="1"/>
          </p:cNvSpPr>
          <p:nvPr>
            <p:ph type="title"/>
          </p:nvPr>
        </p:nvSpPr>
        <p:spPr/>
        <p:txBody>
          <a:bodyPr/>
          <a:lstStyle/>
          <a:p>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11.- Determinar el tipo de disparo</a:t>
            </a:r>
            <a:br>
              <a:rPr lang="es-MX" sz="1800" b="1" dirty="0">
                <a:effectLst/>
                <a:latin typeface="Arial" panose="020B0604020202020204" pitchFamily="34" charset="0"/>
                <a:ea typeface="Times New Roman" panose="02020603050405020304" pitchFamily="18" charset="0"/>
                <a:cs typeface="Times New Roman" panose="02020603050405020304" pitchFamily="18" charset="0"/>
              </a:rPr>
            </a:br>
            <a:endParaRPr lang="es-MX" dirty="0"/>
          </a:p>
        </p:txBody>
      </p:sp>
      <p:sp>
        <p:nvSpPr>
          <p:cNvPr id="3" name="Marcador de contenido 2">
            <a:extLst>
              <a:ext uri="{FF2B5EF4-FFF2-40B4-BE49-F238E27FC236}">
                <a16:creationId xmlns:a16="http://schemas.microsoft.com/office/drawing/2014/main" id="{38B528B3-9979-4F39-ADB3-53053BF4A65B}"/>
              </a:ext>
            </a:extLst>
          </p:cNvPr>
          <p:cNvSpPr>
            <a:spLocks noGrp="1"/>
          </p:cNvSpPr>
          <p:nvPr>
            <p:ph sz="quarter" idx="10"/>
          </p:nvPr>
        </p:nvSpPr>
        <p:spPr>
          <a:xfrm>
            <a:off x="734593" y="1404467"/>
            <a:ext cx="11000207" cy="3006896"/>
          </a:xfrm>
        </p:spPr>
        <p:txBody>
          <a:bodyPr>
            <a:normAutofit lnSpcReduction="10000"/>
          </a:bodyPr>
          <a:lstStyle/>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Arial" panose="020B0604020202020204" pitchFamily="34" charset="0"/>
              </a:rPr>
              <a:t>Para este paso se requiere información del pozo como su trayectoria direccional, adicional a la profundidad, así como el método de disparo (</a:t>
            </a:r>
            <a:r>
              <a:rPr lang="es-MX" sz="1800" dirty="0" err="1">
                <a:effectLst/>
                <a:latin typeface="Arial" panose="020B0604020202020204" pitchFamily="34" charset="0"/>
                <a:ea typeface="Calibri" panose="020F0502020204030204" pitchFamily="34" charset="0"/>
                <a:cs typeface="Arial" panose="020B0604020202020204" pitchFamily="34" charset="0"/>
              </a:rPr>
              <a:t>sobrebalance</a:t>
            </a:r>
            <a:r>
              <a:rPr lang="es-MX" sz="1800" dirty="0">
                <a:effectLst/>
                <a:latin typeface="Arial" panose="020B0604020202020204" pitchFamily="34" charset="0"/>
                <a:ea typeface="Calibri" panose="020F0502020204030204" pitchFamily="34" charset="0"/>
                <a:cs typeface="Arial" panose="020B0604020202020204" pitchFamily="34" charset="0"/>
              </a:rPr>
              <a:t> o </a:t>
            </a:r>
            <a:r>
              <a:rPr lang="es-MX" sz="1800" dirty="0" err="1">
                <a:effectLst/>
                <a:latin typeface="Arial" panose="020B0604020202020204" pitchFamily="34" charset="0"/>
                <a:ea typeface="Calibri" panose="020F0502020204030204" pitchFamily="34" charset="0"/>
                <a:cs typeface="Arial" panose="020B0604020202020204" pitchFamily="34" charset="0"/>
              </a:rPr>
              <a:t>bajobalance</a:t>
            </a:r>
            <a:r>
              <a:rPr lang="es-MX" sz="1800" dirty="0">
                <a:effectLst/>
                <a:latin typeface="Arial" panose="020B0604020202020204" pitchFamily="34" charset="0"/>
                <a:ea typeface="Calibri" panose="020F0502020204030204" pitchFamily="34" charset="0"/>
                <a:cs typeface="Arial" panose="020B0604020202020204" pitchFamily="34" charset="0"/>
              </a:rPr>
              <a:t>), esto porque a tipo de disparo nos referimos al método con el que es bajado las pistolas. </a:t>
            </a:r>
          </a:p>
          <a:p>
            <a:pPr marL="0" indent="0" algn="just">
              <a:lnSpc>
                <a:spcPct val="115000"/>
              </a:lnSpc>
              <a:spcAft>
                <a:spcPts val="800"/>
              </a:spcAft>
              <a:buNone/>
            </a:pPr>
            <a:r>
              <a:rPr lang="es-MX" sz="1800" b="1" dirty="0">
                <a:effectLst/>
                <a:latin typeface="Arial" panose="020B0604020202020204" pitchFamily="34" charset="0"/>
                <a:ea typeface="Calibri" panose="020F0502020204030204" pitchFamily="34" charset="0"/>
                <a:cs typeface="Arial" panose="020B0604020202020204" pitchFamily="34" charset="0"/>
              </a:rPr>
              <a:t>La trayectoria direccional </a:t>
            </a:r>
            <a:r>
              <a:rPr lang="es-MX" sz="1800" dirty="0">
                <a:effectLst/>
                <a:latin typeface="Arial" panose="020B0604020202020204" pitchFamily="34" charset="0"/>
                <a:ea typeface="Calibri" panose="020F0502020204030204" pitchFamily="34" charset="0"/>
                <a:cs typeface="Arial" panose="020B0604020202020204" pitchFamily="34" charset="0"/>
              </a:rPr>
              <a:t>porque como explica Pemex (2008), “Cuando la desviación del pozo es mayor de 45°, las pistolas bajadas con cable presentan problemas debido al incremento en la fricción sobre el cable. Arriba de 65° de desviación es preferible usar una pistola bajada con tubería.” </a:t>
            </a:r>
          </a:p>
          <a:p>
            <a:pPr marL="0" indent="0" algn="just">
              <a:buNone/>
            </a:pPr>
            <a:r>
              <a:rPr lang="es-MX" sz="1800" b="1" dirty="0">
                <a:effectLst/>
                <a:latin typeface="Arial" panose="020B0604020202020204" pitchFamily="34" charset="0"/>
                <a:ea typeface="Calibri" panose="020F0502020204030204" pitchFamily="34" charset="0"/>
                <a:cs typeface="Arial" panose="020B0604020202020204" pitchFamily="34" charset="0"/>
              </a:rPr>
              <a:t>Al igual que la profundidad</a:t>
            </a:r>
            <a:r>
              <a:rPr lang="es-MX" sz="1800" dirty="0">
                <a:effectLst/>
                <a:latin typeface="Arial" panose="020B0604020202020204" pitchFamily="34" charset="0"/>
                <a:ea typeface="Calibri" panose="020F0502020204030204" pitchFamily="34" charset="0"/>
                <a:cs typeface="Arial" panose="020B0604020202020204" pitchFamily="34" charset="0"/>
              </a:rPr>
              <a:t> debido a que se recomienda el uso de </a:t>
            </a:r>
            <a:r>
              <a:rPr lang="es-MX" sz="1800" dirty="0" err="1">
                <a:effectLst/>
                <a:latin typeface="Arial" panose="020B0604020202020204" pitchFamily="34" charset="0"/>
                <a:ea typeface="Calibri" panose="020F0502020204030204" pitchFamily="34" charset="0"/>
                <a:cs typeface="Arial" panose="020B0604020202020204" pitchFamily="34" charset="0"/>
              </a:rPr>
              <a:t>de</a:t>
            </a:r>
            <a:r>
              <a:rPr lang="es-MX" sz="1800" dirty="0">
                <a:effectLst/>
                <a:latin typeface="Arial" panose="020B0604020202020204" pitchFamily="34" charset="0"/>
                <a:ea typeface="Calibri" panose="020F0502020204030204" pitchFamily="34" charset="0"/>
                <a:cs typeface="Arial" panose="020B0604020202020204" pitchFamily="34" charset="0"/>
              </a:rPr>
              <a:t> </a:t>
            </a:r>
            <a:r>
              <a:rPr lang="es-MX" sz="1800" dirty="0" err="1">
                <a:effectLst/>
                <a:latin typeface="Arial" panose="020B0604020202020204" pitchFamily="34" charset="0"/>
                <a:ea typeface="Calibri" panose="020F0502020204030204" pitchFamily="34" charset="0"/>
                <a:cs typeface="Arial" panose="020B0604020202020204" pitchFamily="34" charset="0"/>
              </a:rPr>
              <a:t>wireline</a:t>
            </a:r>
            <a:r>
              <a:rPr lang="es-MX" sz="1800" dirty="0">
                <a:effectLst/>
                <a:latin typeface="Arial" panose="020B0604020202020204" pitchFamily="34" charset="0"/>
                <a:ea typeface="Calibri" panose="020F0502020204030204" pitchFamily="34" charset="0"/>
                <a:cs typeface="Arial" panose="020B0604020202020204" pitchFamily="34" charset="0"/>
              </a:rPr>
              <a:t> en profundidades menores a los 5000 pies o 1500 metros aproximadamente. A</a:t>
            </a:r>
            <a:r>
              <a:rPr lang="es-MX" sz="1800" dirty="0">
                <a:effectLst/>
                <a:latin typeface="Arial" panose="020B0604020202020204" pitchFamily="34" charset="0"/>
                <a:ea typeface="Times New Roman" panose="02020603050405020304" pitchFamily="18" charset="0"/>
                <a:cs typeface="Arial" panose="020B0604020202020204" pitchFamily="34" charset="0"/>
              </a:rPr>
              <a:t>dicional que para disparos bajados por tubería (TCP), se recomienda para su disparos bajo-</a:t>
            </a:r>
            <a:endParaRPr lang="es-MX" dirty="0">
              <a:latin typeface="Arial" panose="020B0604020202020204" pitchFamily="34" charset="0"/>
              <a:cs typeface="Arial" panose="020B0604020202020204" pitchFamily="34" charset="0"/>
            </a:endParaRPr>
          </a:p>
        </p:txBody>
      </p:sp>
      <p:sp>
        <p:nvSpPr>
          <p:cNvPr id="5" name="Marcador de número de diapositiva 4">
            <a:extLst>
              <a:ext uri="{FF2B5EF4-FFF2-40B4-BE49-F238E27FC236}">
                <a16:creationId xmlns:a16="http://schemas.microsoft.com/office/drawing/2014/main" id="{AF691281-2D96-4985-A2AA-EFA079A0F5C2}"/>
              </a:ext>
            </a:extLst>
          </p:cNvPr>
          <p:cNvSpPr>
            <a:spLocks noGrp="1"/>
          </p:cNvSpPr>
          <p:nvPr>
            <p:ph type="sldNum" sz="quarter" idx="4"/>
          </p:nvPr>
        </p:nvSpPr>
        <p:spPr/>
        <p:txBody>
          <a:bodyPr/>
          <a:lstStyle/>
          <a:p>
            <a:pPr rtl="0"/>
            <a:fld id="{C3DB2ADC-AF19-4574-8C10-79B5B04FCA27}" type="slidenum">
              <a:rPr lang="es-ES" smtClean="0"/>
              <a:pPr rtl="0"/>
              <a:t>31</a:t>
            </a:fld>
            <a:endParaRPr lang="es-ES" dirty="0"/>
          </a:p>
        </p:txBody>
      </p:sp>
    </p:spTree>
    <p:extLst>
      <p:ext uri="{BB962C8B-B14F-4D97-AF65-F5344CB8AC3E}">
        <p14:creationId xmlns:p14="http://schemas.microsoft.com/office/powerpoint/2010/main" val="13766921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D58F4F3-0ACA-4B0F-8360-867800B1046A}"/>
              </a:ext>
            </a:extLst>
          </p:cNvPr>
          <p:cNvSpPr>
            <a:spLocks noGrp="1"/>
          </p:cNvSpPr>
          <p:nvPr>
            <p:ph type="title"/>
          </p:nvPr>
        </p:nvSpPr>
        <p:spPr/>
        <p:txBody>
          <a:bodyPr/>
          <a:lstStyle/>
          <a:p>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12.- Estimación de la Relación de Productividad</a:t>
            </a:r>
            <a:br>
              <a:rPr lang="es-MX" sz="1800" b="1" dirty="0">
                <a:effectLst/>
                <a:latin typeface="Arial" panose="020B0604020202020204" pitchFamily="34" charset="0"/>
                <a:ea typeface="Times New Roman" panose="02020603050405020304" pitchFamily="18" charset="0"/>
                <a:cs typeface="Times New Roman" panose="02020603050405020304" pitchFamily="18" charset="0"/>
              </a:rPr>
            </a:br>
            <a:endParaRPr lang="es-MX" dirty="0"/>
          </a:p>
        </p:txBody>
      </p:sp>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D2048898-15F8-471A-9CB2-9CA96233474C}"/>
                  </a:ext>
                </a:extLst>
              </p:cNvPr>
              <p:cNvSpPr>
                <a:spLocks noGrp="1"/>
              </p:cNvSpPr>
              <p:nvPr>
                <p:ph sz="quarter" idx="10"/>
              </p:nvPr>
            </p:nvSpPr>
            <p:spPr>
              <a:xfrm>
                <a:off x="734593" y="1334531"/>
                <a:ext cx="5322496" cy="5143908"/>
              </a:xfrm>
            </p:spPr>
            <p:txBody>
              <a:bodyPr/>
              <a:lstStyle/>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Para finalizar la metodología procederemos al calculo de la relación de productividad, esto debido a que el uso de ecuaciones como la del índice de productividad muchas veces no es factible de determinar en una zona, por lo que para el diseño de disparos puede ser evaluado usando la relación de productividad.</a:t>
                </a:r>
              </a:p>
              <a:p>
                <a:pPr algn="just">
                  <a:lnSpc>
                    <a:spcPct val="115000"/>
                  </a:lnSpc>
                  <a:spcAft>
                    <a:spcPts val="800"/>
                  </a:spcAft>
                </a:pPr>
                <a14:m>
                  <m:oMath xmlns:m="http://schemas.openxmlformats.org/officeDocument/2006/math">
                    <m:r>
                      <a:rPr lang="es-MX" sz="1800" i="1">
                        <a:effectLst/>
                        <a:latin typeface="Cambria Math" panose="02040503050406030204" pitchFamily="18" charset="0"/>
                        <a:ea typeface="Calibri" panose="020F0502020204030204" pitchFamily="34" charset="0"/>
                        <a:cs typeface="Times New Roman" panose="02020603050405020304" pitchFamily="18" charset="0"/>
                      </a:rPr>
                      <m:t>𝑅𝑃</m:t>
                    </m:r>
                    <m:r>
                      <a:rPr lang="es-MX"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MX" sz="1800" i="1">
                            <a:effectLst/>
                            <a:latin typeface="Cambria Math" panose="02040503050406030204" pitchFamily="18" charset="0"/>
                            <a:ea typeface="Calibri" panose="020F0502020204030204" pitchFamily="34" charset="0"/>
                            <a:cs typeface="Times New Roman" panose="02020603050405020304" pitchFamily="18" charset="0"/>
                          </a:rPr>
                          <m:t>𝑃𝑟𝑜𝑑𝑢𝑐𝑐𝑖</m:t>
                        </m:r>
                        <m:r>
                          <a:rPr lang="es-MX" sz="1800" i="1">
                            <a:effectLst/>
                            <a:latin typeface="Cambria Math" panose="02040503050406030204" pitchFamily="18" charset="0"/>
                            <a:ea typeface="Calibri" panose="020F0502020204030204" pitchFamily="34" charset="0"/>
                            <a:cs typeface="Times New Roman" panose="02020603050405020304" pitchFamily="18" charset="0"/>
                          </a:rPr>
                          <m:t>ó</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𝑛</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𝑑𝑒</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𝑢𝑛𝑎</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𝑧𝑜𝑛𝑎</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𝑒𝑛𝑡𝑢𝑏𝑎𝑑𝑎</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𝑦</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𝑑𝑖𝑠𝑝𝑎𝑟𝑎𝑑𝑎</m:t>
                        </m:r>
                      </m:num>
                      <m:den>
                        <m:r>
                          <a:rPr lang="es-MX" sz="1800" i="1">
                            <a:effectLst/>
                            <a:latin typeface="Cambria Math" panose="02040503050406030204" pitchFamily="18" charset="0"/>
                            <a:ea typeface="Calibri" panose="020F0502020204030204" pitchFamily="34" charset="0"/>
                            <a:cs typeface="Times New Roman" panose="02020603050405020304" pitchFamily="18" charset="0"/>
                          </a:rPr>
                          <m:t>𝑃𝑟𝑜𝑑𝑢𝑐𝑐𝑖</m:t>
                        </m:r>
                        <m:r>
                          <a:rPr lang="es-MX" sz="1800" i="1">
                            <a:effectLst/>
                            <a:latin typeface="Cambria Math" panose="02040503050406030204" pitchFamily="18" charset="0"/>
                            <a:ea typeface="Calibri" panose="020F0502020204030204" pitchFamily="34" charset="0"/>
                            <a:cs typeface="Times New Roman" panose="02020603050405020304" pitchFamily="18" charset="0"/>
                          </a:rPr>
                          <m:t>ó</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𝑛</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𝑑𝑒</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𝑙𝑎</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𝑚𝑖𝑠𝑚𝑎</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𝑧𝑜𝑛𝑎</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𝑒𝑛</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𝑎𝑔𝑢𝑗𝑒𝑟𝑜</m:t>
                        </m:r>
                        <m:r>
                          <a:rPr lang="es-MX" sz="1800" i="1">
                            <a:effectLst/>
                            <a:latin typeface="Cambria Math" panose="02040503050406030204" pitchFamily="18" charset="0"/>
                            <a:ea typeface="Calibri" panose="020F0502020204030204" pitchFamily="34" charset="0"/>
                            <a:cs typeface="Times New Roman" panose="02020603050405020304" pitchFamily="18" charset="0"/>
                          </a:rPr>
                          <m:t> </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𝑎𝑏𝑖𝑒𝑟𝑡𝑜</m:t>
                        </m:r>
                      </m:den>
                    </m:f>
                  </m:oMath>
                </a14:m>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pPr marL="0" indent="0" algn="ctr">
                  <a:spcAft>
                    <a:spcPts val="1000"/>
                  </a:spcAft>
                  <a:buNone/>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Ecuación 30: Relación de productividad</a:t>
                </a:r>
              </a:p>
              <a:p>
                <a:endParaRPr lang="es-MX" dirty="0"/>
              </a:p>
            </p:txBody>
          </p:sp>
        </mc:Choice>
        <mc:Fallback>
          <p:sp>
            <p:nvSpPr>
              <p:cNvPr id="3" name="Marcador de contenido 2">
                <a:extLst>
                  <a:ext uri="{FF2B5EF4-FFF2-40B4-BE49-F238E27FC236}">
                    <a16:creationId xmlns:a16="http://schemas.microsoft.com/office/drawing/2014/main" id="{D2048898-15F8-471A-9CB2-9CA96233474C}"/>
                  </a:ext>
                </a:extLst>
              </p:cNvPr>
              <p:cNvSpPr>
                <a:spLocks noGrp="1" noRot="1" noChangeAspect="1" noMove="1" noResize="1" noEditPoints="1" noAdjustHandles="1" noChangeArrowheads="1" noChangeShapeType="1" noTextEdit="1"/>
              </p:cNvSpPr>
              <p:nvPr>
                <p:ph sz="quarter" idx="10"/>
              </p:nvPr>
            </p:nvSpPr>
            <p:spPr>
              <a:xfrm>
                <a:off x="734593" y="1334531"/>
                <a:ext cx="5322496" cy="5143908"/>
              </a:xfrm>
              <a:blipFill>
                <a:blip r:embed="rId2"/>
                <a:stretch>
                  <a:fillRect l="-1031" t="-355" r="-916"/>
                </a:stretch>
              </a:blipFill>
            </p:spPr>
            <p:txBody>
              <a:bodyPr/>
              <a:lstStyle/>
              <a:p>
                <a:r>
                  <a:rPr lang="es-MX">
                    <a:noFill/>
                  </a:rPr>
                  <a:t> </a:t>
                </a:r>
              </a:p>
            </p:txBody>
          </p:sp>
        </mc:Fallback>
      </mc:AlternateContent>
      <mc:AlternateContent xmlns:mc="http://schemas.openxmlformats.org/markup-compatibility/2006">
        <mc:Choice xmlns:a14="http://schemas.microsoft.com/office/drawing/2010/main" Requires="a14">
          <p:sp>
            <p:nvSpPr>
              <p:cNvPr id="4" name="Marcador de contenido 3">
                <a:extLst>
                  <a:ext uri="{FF2B5EF4-FFF2-40B4-BE49-F238E27FC236}">
                    <a16:creationId xmlns:a16="http://schemas.microsoft.com/office/drawing/2014/main" id="{936CC0CA-E2B5-4651-BD78-E7557EB5FC60}"/>
                  </a:ext>
                </a:extLst>
              </p:cNvPr>
              <p:cNvSpPr>
                <a:spLocks noGrp="1"/>
              </p:cNvSpPr>
              <p:nvPr>
                <p:ph sz="quarter" idx="11"/>
              </p:nvPr>
            </p:nvSpPr>
            <p:spPr>
              <a:xfrm>
                <a:off x="6412304" y="1334531"/>
                <a:ext cx="5322496" cy="5143907"/>
              </a:xfrm>
            </p:spPr>
            <p:txBody>
              <a:bodyPr/>
              <a:lstStyle/>
              <a:p>
                <a:pPr algn="just">
                  <a:lnSpc>
                    <a:spcPct val="115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Podemos usar dos “métodos”, el que nos presenta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Behrmann</a:t>
                </a:r>
                <a:r>
                  <a:rPr lang="es-MX" sz="1800" dirty="0">
                    <a:effectLst/>
                    <a:latin typeface="Arial" panose="020B0604020202020204" pitchFamily="34" charset="0"/>
                    <a:ea typeface="Calibri" panose="020F0502020204030204" pitchFamily="34" charset="0"/>
                    <a:cs typeface="Times New Roman" panose="02020603050405020304" pitchFamily="18" charset="0"/>
                  </a:rPr>
                  <a:t> et al. ( 2000) que al establecer que la productividad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teorica</a:t>
                </a:r>
                <a:r>
                  <a:rPr lang="es-MX" sz="1800" dirty="0">
                    <a:effectLst/>
                    <a:latin typeface="Arial" panose="020B0604020202020204" pitchFamily="34" charset="0"/>
                    <a:ea typeface="Calibri" panose="020F0502020204030204" pitchFamily="34" charset="0"/>
                    <a:cs typeface="Times New Roman" panose="02020603050405020304" pitchFamily="18" charset="0"/>
                  </a:rPr>
                  <a:t> se puede definir su eficiencia en base al factor adimensional </a:t>
                </a:r>
                <a:r>
                  <a:rPr lang="es-MX" sz="1800" dirty="0">
                    <a:effectLst/>
                    <a:latin typeface="Arial" panose="020B0604020202020204" pitchFamily="34" charset="0"/>
                    <a:ea typeface="Calibri" panose="020F0502020204030204" pitchFamily="34" charset="0"/>
                    <a:cs typeface="Arial" panose="020B0604020202020204" pitchFamily="34" charset="0"/>
                  </a:rPr>
                  <a:t>β</a:t>
                </a:r>
                <a:r>
                  <a:rPr lang="es-MX" sz="1800" dirty="0">
                    <a:effectLst/>
                    <a:latin typeface="Arial" panose="020B0604020202020204" pitchFamily="34" charset="0"/>
                    <a:ea typeface="Calibri" panose="020F0502020204030204" pitchFamily="34" charset="0"/>
                    <a:cs typeface="Times New Roman" panose="02020603050405020304" pitchFamily="18" charset="0"/>
                  </a:rPr>
                  <a:t>o.</a:t>
                </a:r>
              </a:p>
              <a:p>
                <a:pPr marL="0" indent="0" algn="just">
                  <a:lnSpc>
                    <a:spcPct val="115000"/>
                  </a:lnSpc>
                  <a:spcAft>
                    <a:spcPts val="800"/>
                  </a:spcAft>
                  <a:buNone/>
                </a:pPr>
                <a14:m>
                  <m:oMathPara xmlns:m="http://schemas.openxmlformats.org/officeDocument/2006/math">
                    <m:oMathParaPr>
                      <m:jc m:val="centerGroup"/>
                    </m:oMathParaPr>
                    <m:oMath xmlns:m="http://schemas.openxmlformats.org/officeDocument/2006/math">
                      <m:r>
                        <a:rPr lang="es-MX" sz="1800" i="1">
                          <a:effectLst/>
                          <a:latin typeface="Cambria Math" panose="02040503050406030204" pitchFamily="18" charset="0"/>
                          <a:ea typeface="Calibri" panose="020F0502020204030204" pitchFamily="34" charset="0"/>
                          <a:cs typeface="Times New Roman" panose="02020603050405020304" pitchFamily="18" charset="0"/>
                        </a:rPr>
                        <m:t>𝛽</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𝑜</m:t>
                      </m:r>
                      <m:r>
                        <a:rPr lang="es-MX" sz="1800" i="1">
                          <a:effectLst/>
                          <a:latin typeface="Cambria Math" panose="02040503050406030204" pitchFamily="18" charset="0"/>
                          <a:ea typeface="Calibri" panose="020F0502020204030204" pitchFamily="34" charset="0"/>
                          <a:cs typeface="Times New Roman" panose="02020603050405020304" pitchFamily="18" charset="0"/>
                        </a:rPr>
                        <m:t>=</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𝑃</m:t>
                      </m:r>
                      <m:sSup>
                        <m:sSup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MX" sz="1800" i="1">
                              <a:effectLst/>
                              <a:latin typeface="Cambria Math" panose="02040503050406030204" pitchFamily="18" charset="0"/>
                              <a:ea typeface="Calibri" panose="020F0502020204030204" pitchFamily="34" charset="0"/>
                              <a:cs typeface="Times New Roman" panose="02020603050405020304" pitchFamily="18" charset="0"/>
                            </a:rPr>
                            <m:t>𝑁</m:t>
                          </m:r>
                        </m:e>
                        <m:sup>
                          <m:f>
                            <m:f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MX" sz="1800" i="1">
                                  <a:effectLst/>
                                  <a:latin typeface="Cambria Math" panose="02040503050406030204" pitchFamily="18" charset="0"/>
                                  <a:ea typeface="Calibri" panose="020F0502020204030204" pitchFamily="34" charset="0"/>
                                  <a:cs typeface="Times New Roman" panose="02020603050405020304" pitchFamily="18" charset="0"/>
                                </a:rPr>
                                <m:t>3</m:t>
                              </m:r>
                            </m:num>
                            <m:den>
                              <m:r>
                                <a:rPr lang="es-MX" sz="1800" i="1">
                                  <a:effectLst/>
                                  <a:latin typeface="Cambria Math" panose="02040503050406030204" pitchFamily="18" charset="0"/>
                                  <a:ea typeface="Calibri" panose="020F0502020204030204" pitchFamily="34" charset="0"/>
                                  <a:cs typeface="Times New Roman" panose="02020603050405020304" pitchFamily="18" charset="0"/>
                                </a:rPr>
                                <m:t>2</m:t>
                              </m:r>
                            </m:den>
                          </m:f>
                        </m:sup>
                      </m:sSup>
                      <m:sSup>
                        <m:sSup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MX" sz="1800" i="1">
                              <a:effectLst/>
                              <a:latin typeface="Cambria Math" panose="02040503050406030204" pitchFamily="18" charset="0"/>
                              <a:ea typeface="Calibri" panose="020F0502020204030204" pitchFamily="34" charset="0"/>
                              <a:cs typeface="Times New Roman" panose="02020603050405020304" pitchFamily="18" charset="0"/>
                            </a:rPr>
                            <m:t>𝑑</m:t>
                          </m:r>
                        </m:e>
                        <m:sup>
                          <m:f>
                            <m:f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MX" sz="1800" i="1">
                                  <a:effectLst/>
                                  <a:latin typeface="Cambria Math" panose="02040503050406030204" pitchFamily="18" charset="0"/>
                                  <a:ea typeface="Calibri" panose="020F0502020204030204" pitchFamily="34" charset="0"/>
                                  <a:cs typeface="Times New Roman" panose="02020603050405020304" pitchFamily="18" charset="0"/>
                                </a:rPr>
                                <m:t>1</m:t>
                              </m:r>
                            </m:num>
                            <m:den>
                              <m:r>
                                <a:rPr lang="es-MX" sz="1800" i="1">
                                  <a:effectLst/>
                                  <a:latin typeface="Cambria Math" panose="02040503050406030204" pitchFamily="18" charset="0"/>
                                  <a:ea typeface="Calibri" panose="020F0502020204030204" pitchFamily="34" charset="0"/>
                                  <a:cs typeface="Times New Roman" panose="02020603050405020304" pitchFamily="18" charset="0"/>
                                </a:rPr>
                                <m:t>2</m:t>
                              </m:r>
                            </m:den>
                          </m:f>
                        </m:sup>
                      </m:sSup>
                      <m:sSup>
                        <m:sSup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s-MX" sz="1800" i="1">
                              <a:effectLst/>
                              <a:latin typeface="Cambria Math" panose="02040503050406030204" pitchFamily="18" charset="0"/>
                              <a:ea typeface="Calibri" panose="020F0502020204030204" pitchFamily="34" charset="0"/>
                              <a:cs typeface="Times New Roman" panose="02020603050405020304" pitchFamily="18" charset="0"/>
                            </a:rPr>
                            <m:t>𝛼</m:t>
                          </m:r>
                        </m:e>
                        <m:sup>
                          <m:f>
                            <m:f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MX" sz="1800" i="1">
                                  <a:effectLst/>
                                  <a:latin typeface="Cambria Math" panose="02040503050406030204" pitchFamily="18" charset="0"/>
                                  <a:ea typeface="Calibri" panose="020F0502020204030204" pitchFamily="34" charset="0"/>
                                  <a:cs typeface="Times New Roman" panose="02020603050405020304" pitchFamily="18" charset="0"/>
                                </a:rPr>
                                <m:t>5</m:t>
                              </m:r>
                            </m:num>
                            <m:den>
                              <m:r>
                                <a:rPr lang="es-MX" sz="1800" i="1">
                                  <a:effectLst/>
                                  <a:latin typeface="Cambria Math" panose="02040503050406030204" pitchFamily="18" charset="0"/>
                                  <a:ea typeface="Calibri" panose="020F0502020204030204" pitchFamily="34" charset="0"/>
                                  <a:cs typeface="Times New Roman" panose="02020603050405020304" pitchFamily="18" charset="0"/>
                                </a:rPr>
                                <m:t>8</m:t>
                              </m:r>
                            </m:den>
                          </m:f>
                        </m:sup>
                      </m:sSup>
                    </m:oMath>
                  </m:oMathPara>
                </a14:m>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pPr marL="0" indent="0" algn="ctr">
                  <a:spcAft>
                    <a:spcPts val="1000"/>
                  </a:spcAft>
                  <a:buNone/>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Ecuación 31: Factor adimensional </a:t>
                </a:r>
                <a:r>
                  <a:rPr lang="es-MX" sz="1800" i="1" dirty="0">
                    <a:solidFill>
                      <a:srgbClr val="44546A"/>
                    </a:solidFill>
                    <a:effectLst/>
                    <a:latin typeface="Calibri" panose="020F0502020204030204" pitchFamily="34" charset="0"/>
                    <a:ea typeface="Calibri" panose="020F0502020204030204" pitchFamily="34" charset="0"/>
                    <a:cs typeface="Calibri" panose="020F0502020204030204" pitchFamily="34" charset="0"/>
                  </a:rPr>
                  <a:t>β</a:t>
                </a: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o</a:t>
                </a:r>
              </a:p>
              <a:p>
                <a:pPr algn="just">
                  <a:lnSpc>
                    <a:spcPct val="115000"/>
                  </a:lnSpc>
                  <a:spcAft>
                    <a:spcPts val="800"/>
                  </a:spcAft>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Nuevamente con el uso de una grafica que se presenta a continuación</a:t>
                </a:r>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endParaRPr lang="es-MX" dirty="0"/>
              </a:p>
            </p:txBody>
          </p:sp>
        </mc:Choice>
        <mc:Fallback>
          <p:sp>
            <p:nvSpPr>
              <p:cNvPr id="4" name="Marcador de contenido 3">
                <a:extLst>
                  <a:ext uri="{FF2B5EF4-FFF2-40B4-BE49-F238E27FC236}">
                    <a16:creationId xmlns:a16="http://schemas.microsoft.com/office/drawing/2014/main" id="{936CC0CA-E2B5-4651-BD78-E7557EB5FC60}"/>
                  </a:ext>
                </a:extLst>
              </p:cNvPr>
              <p:cNvSpPr>
                <a:spLocks noGrp="1" noRot="1" noChangeAspect="1" noMove="1" noResize="1" noEditPoints="1" noAdjustHandles="1" noChangeArrowheads="1" noChangeShapeType="1" noTextEdit="1"/>
              </p:cNvSpPr>
              <p:nvPr>
                <p:ph sz="quarter" idx="11"/>
              </p:nvPr>
            </p:nvSpPr>
            <p:spPr>
              <a:xfrm>
                <a:off x="6412304" y="1334531"/>
                <a:ext cx="5322496" cy="5143907"/>
              </a:xfrm>
              <a:blipFill>
                <a:blip r:embed="rId3"/>
                <a:stretch>
                  <a:fillRect l="-802" t="-355" r="-916"/>
                </a:stretch>
              </a:blipFill>
            </p:spPr>
            <p:txBody>
              <a:bodyPr/>
              <a:lstStyle/>
              <a:p>
                <a:r>
                  <a:rPr lang="es-MX">
                    <a:noFill/>
                  </a:rPr>
                  <a:t> </a:t>
                </a:r>
              </a:p>
            </p:txBody>
          </p:sp>
        </mc:Fallback>
      </mc:AlternateContent>
      <p:sp>
        <p:nvSpPr>
          <p:cNvPr id="5" name="Marcador de número de diapositiva 4">
            <a:extLst>
              <a:ext uri="{FF2B5EF4-FFF2-40B4-BE49-F238E27FC236}">
                <a16:creationId xmlns:a16="http://schemas.microsoft.com/office/drawing/2014/main" id="{BA6FA564-8C0F-4A1A-AD7A-625C4A9BC88B}"/>
              </a:ext>
            </a:extLst>
          </p:cNvPr>
          <p:cNvSpPr>
            <a:spLocks noGrp="1"/>
          </p:cNvSpPr>
          <p:nvPr>
            <p:ph type="sldNum" sz="quarter" idx="4"/>
          </p:nvPr>
        </p:nvSpPr>
        <p:spPr/>
        <p:txBody>
          <a:bodyPr/>
          <a:lstStyle/>
          <a:p>
            <a:pPr rtl="0"/>
            <a:fld id="{C3DB2ADC-AF19-4574-8C10-79B5B04FCA27}" type="slidenum">
              <a:rPr lang="es-ES" smtClean="0"/>
              <a:pPr rtl="0"/>
              <a:t>32</a:t>
            </a:fld>
            <a:endParaRPr lang="es-ES" dirty="0"/>
          </a:p>
        </p:txBody>
      </p:sp>
      <p:pic>
        <p:nvPicPr>
          <p:cNvPr id="9" name="Imagen 8">
            <a:extLst>
              <a:ext uri="{FF2B5EF4-FFF2-40B4-BE49-F238E27FC236}">
                <a16:creationId xmlns:a16="http://schemas.microsoft.com/office/drawing/2014/main" id="{45742E5F-A202-4B65-B1D2-7E51E9D89D5F}"/>
              </a:ext>
            </a:extLst>
          </p:cNvPr>
          <p:cNvPicPr/>
          <p:nvPr/>
        </p:nvPicPr>
        <p:blipFill>
          <a:blip r:embed="rId4"/>
          <a:stretch>
            <a:fillRect/>
          </a:stretch>
        </p:blipFill>
        <p:spPr>
          <a:xfrm>
            <a:off x="7291906" y="4692777"/>
            <a:ext cx="4165501" cy="1849868"/>
          </a:xfrm>
          <a:prstGeom prst="rect">
            <a:avLst/>
          </a:prstGeom>
        </p:spPr>
      </p:pic>
    </p:spTree>
    <p:extLst>
      <p:ext uri="{BB962C8B-B14F-4D97-AF65-F5344CB8AC3E}">
        <p14:creationId xmlns:p14="http://schemas.microsoft.com/office/powerpoint/2010/main" val="27031496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Marcador de contenido 2">
                <a:extLst>
                  <a:ext uri="{FF2B5EF4-FFF2-40B4-BE49-F238E27FC236}">
                    <a16:creationId xmlns:a16="http://schemas.microsoft.com/office/drawing/2014/main" id="{8805E44F-A9CC-4BF4-9229-F2400400091D}"/>
                  </a:ext>
                </a:extLst>
              </p:cNvPr>
              <p:cNvSpPr>
                <a:spLocks noGrp="1"/>
              </p:cNvSpPr>
              <p:nvPr>
                <p:ph sz="quarter" idx="10"/>
              </p:nvPr>
            </p:nvSpPr>
            <p:spPr>
              <a:xfrm>
                <a:off x="734593" y="1050325"/>
                <a:ext cx="10398845" cy="5428114"/>
              </a:xfrm>
            </p:spPr>
            <p:txBody>
              <a:bodyPr/>
              <a:lstStyle/>
              <a:p>
                <a:pPr algn="just">
                  <a:lnSpc>
                    <a:spcPct val="115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Y el siguiente método proporcionado por Schlumberger (2008) que dice que RP es la relación del índice productividad actual (con daño) sobre el índice de productividad sin daño y permite determinar el RP con la siguiente formula a base de los radios de pozo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rw</a:t>
                </a:r>
                <a:r>
                  <a:rPr lang="es-MX" sz="1800" dirty="0">
                    <a:effectLst/>
                    <a:latin typeface="Arial" panose="020B0604020202020204" pitchFamily="34" charset="0"/>
                    <a:ea typeface="Calibri" panose="020F0502020204030204" pitchFamily="34" charset="0"/>
                    <a:cs typeface="Times New Roman" panose="02020603050405020304" pitchFamily="18" charset="0"/>
                  </a:rPr>
                  <a:t>) como el de drene (re)</a:t>
                </a:r>
              </a:p>
              <a:p>
                <a:pPr marL="0" indent="0" algn="just">
                  <a:lnSpc>
                    <a:spcPct val="115000"/>
                  </a:lnSpc>
                  <a:spcAft>
                    <a:spcPts val="800"/>
                  </a:spcAft>
                  <a:buNone/>
                </a:pPr>
                <a14:m>
                  <m:oMathPara xmlns:m="http://schemas.openxmlformats.org/officeDocument/2006/math">
                    <m:oMathParaPr>
                      <m:jc m:val="centerGroup"/>
                    </m:oMathParaPr>
                    <m:oMath xmlns:m="http://schemas.openxmlformats.org/officeDocument/2006/math">
                      <m:r>
                        <a:rPr lang="es-MX" sz="1800" i="1">
                          <a:effectLst/>
                          <a:latin typeface="Cambria Math" panose="02040503050406030204" pitchFamily="18" charset="0"/>
                          <a:ea typeface="Calibri" panose="020F0502020204030204" pitchFamily="34" charset="0"/>
                          <a:cs typeface="Times New Roman" panose="02020603050405020304" pitchFamily="18" charset="0"/>
                        </a:rPr>
                        <m:t>𝑃𝑅</m:t>
                      </m:r>
                      <m:r>
                        <a:rPr lang="es-MX" sz="18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fPr>
                        <m:num>
                          <m:func>
                            <m:func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s-MX" sz="1800">
                                  <a:effectLst/>
                                  <a:latin typeface="Cambria Math" panose="02040503050406030204" pitchFamily="18" charset="0"/>
                                  <a:ea typeface="Calibri" panose="020F0502020204030204" pitchFamily="34" charset="0"/>
                                  <a:cs typeface="Times New Roman" panose="02020603050405020304" pitchFamily="18" charset="0"/>
                                </a:rPr>
                                <m:t>ln</m:t>
                              </m:r>
                            </m:fName>
                            <m:e>
                              <m:d>
                                <m:d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MX" sz="1800" i="1">
                                          <a:effectLst/>
                                          <a:latin typeface="Cambria Math" panose="02040503050406030204" pitchFamily="18" charset="0"/>
                                          <a:ea typeface="Calibri" panose="020F0502020204030204" pitchFamily="34" charset="0"/>
                                          <a:cs typeface="Times New Roman" panose="02020603050405020304" pitchFamily="18" charset="0"/>
                                        </a:rPr>
                                        <m:t>𝑟𝑒</m:t>
                                      </m:r>
                                    </m:num>
                                    <m:den>
                                      <m:r>
                                        <a:rPr lang="es-MX" sz="1800" i="1">
                                          <a:effectLst/>
                                          <a:latin typeface="Cambria Math" panose="02040503050406030204" pitchFamily="18" charset="0"/>
                                          <a:ea typeface="Calibri" panose="020F0502020204030204" pitchFamily="34" charset="0"/>
                                          <a:cs typeface="Times New Roman" panose="02020603050405020304" pitchFamily="18" charset="0"/>
                                        </a:rPr>
                                        <m:t>𝑟𝑤</m:t>
                                      </m:r>
                                    </m:den>
                                  </m:f>
                                </m:e>
                              </m:d>
                            </m:e>
                          </m:func>
                        </m:num>
                        <m:den>
                          <m:func>
                            <m:func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funcPr>
                            <m:fName>
                              <m:r>
                                <m:rPr>
                                  <m:sty m:val="p"/>
                                </m:rPr>
                                <a:rPr lang="es-MX" sz="1800">
                                  <a:effectLst/>
                                  <a:latin typeface="Cambria Math" panose="02040503050406030204" pitchFamily="18" charset="0"/>
                                  <a:ea typeface="Calibri" panose="020F0502020204030204" pitchFamily="34" charset="0"/>
                                  <a:cs typeface="Times New Roman" panose="02020603050405020304" pitchFamily="18" charset="0"/>
                                </a:rPr>
                                <m:t>ln</m:t>
                              </m:r>
                            </m:fName>
                            <m:e>
                              <m:d>
                                <m:d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dPr>
                                <m:e>
                                  <m:f>
                                    <m:fPr>
                                      <m:ctrlPr>
                                        <a:rPr lang="es-MX" sz="1800" i="1">
                                          <a:effectLst/>
                                          <a:latin typeface="Cambria Math" panose="02040503050406030204" pitchFamily="18" charset="0"/>
                                          <a:ea typeface="Calibri" panose="020F0502020204030204" pitchFamily="34" charset="0"/>
                                          <a:cs typeface="Times New Roman" panose="02020603050405020304" pitchFamily="18" charset="0"/>
                                        </a:rPr>
                                      </m:ctrlPr>
                                    </m:fPr>
                                    <m:num>
                                      <m:r>
                                        <a:rPr lang="es-MX" sz="1800" i="1">
                                          <a:effectLst/>
                                          <a:latin typeface="Cambria Math" panose="02040503050406030204" pitchFamily="18" charset="0"/>
                                          <a:ea typeface="Calibri" panose="020F0502020204030204" pitchFamily="34" charset="0"/>
                                          <a:cs typeface="Times New Roman" panose="02020603050405020304" pitchFamily="18" charset="0"/>
                                        </a:rPr>
                                        <m:t>𝑟𝑒</m:t>
                                      </m:r>
                                    </m:num>
                                    <m:den>
                                      <m:r>
                                        <a:rPr lang="es-MX" sz="1800" i="1">
                                          <a:effectLst/>
                                          <a:latin typeface="Cambria Math" panose="02040503050406030204" pitchFamily="18" charset="0"/>
                                          <a:ea typeface="Calibri" panose="020F0502020204030204" pitchFamily="34" charset="0"/>
                                          <a:cs typeface="Times New Roman" panose="02020603050405020304" pitchFamily="18" charset="0"/>
                                        </a:rPr>
                                        <m:t>𝑟𝑤</m:t>
                                      </m:r>
                                    </m:den>
                                  </m:f>
                                </m:e>
                              </m:d>
                            </m:e>
                          </m:func>
                          <m:r>
                            <a:rPr lang="es-MX" sz="1800" i="1">
                              <a:effectLst/>
                              <a:latin typeface="Cambria Math" panose="02040503050406030204" pitchFamily="18" charset="0"/>
                              <a:ea typeface="Calibri" panose="020F0502020204030204" pitchFamily="34" charset="0"/>
                              <a:cs typeface="Times New Roman" panose="02020603050405020304" pitchFamily="18" charset="0"/>
                            </a:rPr>
                            <m:t>+</m:t>
                          </m:r>
                          <m:r>
                            <a:rPr lang="es-MX" sz="1800" i="1">
                              <a:effectLst/>
                              <a:latin typeface="Cambria Math" panose="02040503050406030204" pitchFamily="18" charset="0"/>
                              <a:ea typeface="Calibri" panose="020F0502020204030204" pitchFamily="34" charset="0"/>
                              <a:cs typeface="Times New Roman" panose="02020603050405020304" pitchFamily="18" charset="0"/>
                            </a:rPr>
                            <m:t>𝑆𝑡</m:t>
                          </m:r>
                        </m:den>
                      </m:f>
                    </m:oMath>
                  </m:oMathPara>
                </a14:m>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pPr marL="0" indent="0" algn="ctr">
                  <a:spcAft>
                    <a:spcPts val="1000"/>
                  </a:spcAft>
                  <a:buNone/>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Ecuación 32:Formula Relación de productividad</a:t>
                </a:r>
              </a:p>
              <a:p>
                <a:endParaRPr lang="es-MX" dirty="0"/>
              </a:p>
            </p:txBody>
          </p:sp>
        </mc:Choice>
        <mc:Fallback>
          <p:sp>
            <p:nvSpPr>
              <p:cNvPr id="3" name="Marcador de contenido 2">
                <a:extLst>
                  <a:ext uri="{FF2B5EF4-FFF2-40B4-BE49-F238E27FC236}">
                    <a16:creationId xmlns:a16="http://schemas.microsoft.com/office/drawing/2014/main" id="{8805E44F-A9CC-4BF4-9229-F2400400091D}"/>
                  </a:ext>
                </a:extLst>
              </p:cNvPr>
              <p:cNvSpPr>
                <a:spLocks noGrp="1" noRot="1" noChangeAspect="1" noMove="1" noResize="1" noEditPoints="1" noAdjustHandles="1" noChangeArrowheads="1" noChangeShapeType="1" noTextEdit="1"/>
              </p:cNvSpPr>
              <p:nvPr>
                <p:ph sz="quarter" idx="10"/>
              </p:nvPr>
            </p:nvSpPr>
            <p:spPr>
              <a:xfrm>
                <a:off x="734593" y="1050325"/>
                <a:ext cx="10398845" cy="5428114"/>
              </a:xfrm>
              <a:blipFill>
                <a:blip r:embed="rId2"/>
                <a:stretch>
                  <a:fillRect l="-411" t="-224" r="-528"/>
                </a:stretch>
              </a:blipFill>
            </p:spPr>
            <p:txBody>
              <a:bodyPr/>
              <a:lstStyle/>
              <a:p>
                <a:r>
                  <a:rPr lang="es-MX">
                    <a:noFill/>
                  </a:rPr>
                  <a:t> </a:t>
                </a:r>
              </a:p>
            </p:txBody>
          </p:sp>
        </mc:Fallback>
      </mc:AlternateContent>
      <p:sp>
        <p:nvSpPr>
          <p:cNvPr id="5" name="Marcador de número de diapositiva 4">
            <a:extLst>
              <a:ext uri="{FF2B5EF4-FFF2-40B4-BE49-F238E27FC236}">
                <a16:creationId xmlns:a16="http://schemas.microsoft.com/office/drawing/2014/main" id="{19F460B2-7369-48CC-B1FD-786CCB187122}"/>
              </a:ext>
            </a:extLst>
          </p:cNvPr>
          <p:cNvSpPr>
            <a:spLocks noGrp="1"/>
          </p:cNvSpPr>
          <p:nvPr>
            <p:ph type="sldNum" sz="quarter" idx="4"/>
          </p:nvPr>
        </p:nvSpPr>
        <p:spPr/>
        <p:txBody>
          <a:bodyPr/>
          <a:lstStyle/>
          <a:p>
            <a:pPr rtl="0"/>
            <a:fld id="{C3DB2ADC-AF19-4574-8C10-79B5B04FCA27}" type="slidenum">
              <a:rPr lang="es-ES" smtClean="0"/>
              <a:pPr rtl="0"/>
              <a:t>33</a:t>
            </a:fld>
            <a:endParaRPr lang="es-ES" dirty="0"/>
          </a:p>
        </p:txBody>
      </p:sp>
    </p:spTree>
    <p:extLst>
      <p:ext uri="{BB962C8B-B14F-4D97-AF65-F5344CB8AC3E}">
        <p14:creationId xmlns:p14="http://schemas.microsoft.com/office/powerpoint/2010/main" val="12289109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D7873B-48EC-45A3-AD67-564867417284}"/>
              </a:ext>
            </a:extLst>
          </p:cNvPr>
          <p:cNvSpPr>
            <a:spLocks noGrp="1"/>
          </p:cNvSpPr>
          <p:nvPr>
            <p:ph type="title"/>
          </p:nvPr>
        </p:nvSpPr>
        <p:spPr/>
        <p:txBody>
          <a:bodyPr/>
          <a:lstStyle/>
          <a:p>
            <a:r>
              <a:rPr lang="es-MX" dirty="0"/>
              <a:t>Desarrollo de software</a:t>
            </a:r>
          </a:p>
        </p:txBody>
      </p:sp>
      <p:sp>
        <p:nvSpPr>
          <p:cNvPr id="3" name="Marcador de contenido 2">
            <a:extLst>
              <a:ext uri="{FF2B5EF4-FFF2-40B4-BE49-F238E27FC236}">
                <a16:creationId xmlns:a16="http://schemas.microsoft.com/office/drawing/2014/main" id="{F034C86C-4DC5-4A23-9C65-C6AE1E74C913}"/>
              </a:ext>
            </a:extLst>
          </p:cNvPr>
          <p:cNvSpPr>
            <a:spLocks noGrp="1"/>
          </p:cNvSpPr>
          <p:nvPr>
            <p:ph sz="quarter" idx="11"/>
          </p:nvPr>
        </p:nvSpPr>
        <p:spPr/>
        <p:txBody>
          <a:bodyPr>
            <a:normAutofit fontScale="92500" lnSpcReduction="20000"/>
          </a:bodyPr>
          <a:lstStyle/>
          <a:p>
            <a:pPr algn="just"/>
            <a:r>
              <a:rPr lang="es-MX" sz="1800" dirty="0">
                <a:effectLst/>
                <a:latin typeface="Arial" panose="020B0604020202020204" pitchFamily="34" charset="0"/>
                <a:ea typeface="Calibri" panose="020F0502020204030204" pitchFamily="34" charset="0"/>
                <a:cs typeface="Arial" panose="020B0604020202020204" pitchFamily="34" charset="0"/>
              </a:rPr>
              <a:t>Basado en la teoría y metodología planteada en el capitulo 8 de Pemex (2008) y Celis (2020), el propósito principal de este trabajo es el desarrollo de un software que logre automatizar el proceso del diseño de disparos en pozos petroleros, integrando diferentes factores que intervienen en el diseño de disparos.  </a:t>
            </a:r>
            <a:endParaRPr lang="es-MX" dirty="0">
              <a:latin typeface="Arial" panose="020B0604020202020204" pitchFamily="34" charset="0"/>
              <a:cs typeface="Arial" panose="020B0604020202020204" pitchFamily="34" charset="0"/>
            </a:endParaRPr>
          </a:p>
        </p:txBody>
      </p:sp>
      <p:sp>
        <p:nvSpPr>
          <p:cNvPr id="5" name="Marcador de número de diapositiva 4">
            <a:extLst>
              <a:ext uri="{FF2B5EF4-FFF2-40B4-BE49-F238E27FC236}">
                <a16:creationId xmlns:a16="http://schemas.microsoft.com/office/drawing/2014/main" id="{4F60A424-D6A9-4EA0-A1B7-B64C87BDCE10}"/>
              </a:ext>
            </a:extLst>
          </p:cNvPr>
          <p:cNvSpPr>
            <a:spLocks noGrp="1"/>
          </p:cNvSpPr>
          <p:nvPr>
            <p:ph type="sldNum" sz="quarter" idx="4"/>
          </p:nvPr>
        </p:nvSpPr>
        <p:spPr/>
        <p:txBody>
          <a:bodyPr/>
          <a:lstStyle/>
          <a:p>
            <a:pPr rtl="0"/>
            <a:fld id="{C3DB2ADC-AF19-4574-8C10-79B5B04FCA27}" type="slidenum">
              <a:rPr lang="es-ES" smtClean="0"/>
              <a:pPr rtl="0"/>
              <a:t>34</a:t>
            </a:fld>
            <a:endParaRPr lang="es-ES" dirty="0"/>
          </a:p>
        </p:txBody>
      </p:sp>
    </p:spTree>
    <p:extLst>
      <p:ext uri="{BB962C8B-B14F-4D97-AF65-F5344CB8AC3E}">
        <p14:creationId xmlns:p14="http://schemas.microsoft.com/office/powerpoint/2010/main" val="30672183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ítulo 2">
            <a:extLst>
              <a:ext uri="{FF2B5EF4-FFF2-40B4-BE49-F238E27FC236}">
                <a16:creationId xmlns:a16="http://schemas.microsoft.com/office/drawing/2014/main" id="{3101F60F-1D09-4B8A-804F-0DF98871D5BD}"/>
              </a:ext>
            </a:extLst>
          </p:cNvPr>
          <p:cNvSpPr>
            <a:spLocks noGrp="1"/>
          </p:cNvSpPr>
          <p:nvPr>
            <p:ph type="subTitle" idx="1"/>
          </p:nvPr>
        </p:nvSpPr>
        <p:spPr>
          <a:xfrm>
            <a:off x="721201" y="889686"/>
            <a:ext cx="4332713" cy="4028303"/>
          </a:xfrm>
        </p:spPr>
        <p:txBody>
          <a:bodyPr>
            <a:normAutofit/>
          </a:bodyPr>
          <a:lstStyle/>
          <a:p>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Estructura del código</a:t>
            </a:r>
          </a:p>
          <a:p>
            <a:pPr algn="just">
              <a:lnSpc>
                <a:spcPct val="115000"/>
              </a:lnSpc>
              <a:spcAft>
                <a:spcPts val="800"/>
              </a:spcAft>
            </a:pPr>
            <a:r>
              <a:rPr lang="es-MX" sz="1800" dirty="0">
                <a:effectLst/>
                <a:latin typeface="Arial" panose="020B0604020202020204" pitchFamily="34" charset="0"/>
                <a:ea typeface="Calibri" panose="020F0502020204030204" pitchFamily="34" charset="0"/>
                <a:cs typeface="Times New Roman" panose="02020603050405020304" pitchFamily="18" charset="0"/>
              </a:rPr>
              <a:t>El software tiene un enfoque modular, esto se debe a que al dividirlo de esta forma busca seguir un enfoque lógico que haga que sea de fácil entendimiento el código y que los módulos representen los pasos de la metodología planteada en el capitulo anterior para que se facilite la unificación del trabajo de la metodología con el desarrollo del software.</a:t>
            </a:r>
          </a:p>
          <a:p>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endParaRPr lang="es-MX" dirty="0"/>
          </a:p>
        </p:txBody>
      </p:sp>
      <p:sp>
        <p:nvSpPr>
          <p:cNvPr id="10" name="Marcador de contenido 3">
            <a:extLst>
              <a:ext uri="{FF2B5EF4-FFF2-40B4-BE49-F238E27FC236}">
                <a16:creationId xmlns:a16="http://schemas.microsoft.com/office/drawing/2014/main" id="{9EF768FD-A9C2-403D-9F40-BC3C7A022195}"/>
              </a:ext>
            </a:extLst>
          </p:cNvPr>
          <p:cNvSpPr txBox="1">
            <a:spLocks/>
          </p:cNvSpPr>
          <p:nvPr/>
        </p:nvSpPr>
        <p:spPr>
          <a:xfrm>
            <a:off x="5782110" y="889686"/>
            <a:ext cx="5322496" cy="4233713"/>
          </a:xfrm>
          <a:prstGeom prst="rect">
            <a:avLst/>
          </a:prstGeom>
        </p:spPr>
        <p:txBody>
          <a:bodyPr>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lang="es-ES"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lang="es-ES"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lang="es-ES"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lang="es-ES"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lang="es-E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pPr marL="0" indent="0" algn="just">
              <a:lnSpc>
                <a:spcPct val="115000"/>
              </a:lnSpc>
              <a:spcAft>
                <a:spcPts val="800"/>
              </a:spcAft>
              <a:buFont typeface="Arial" panose="020B0604020202020204" pitchFamily="34" charset="0"/>
              <a:buNone/>
            </a:pPr>
            <a:r>
              <a:rPr lang="es-MX" sz="1800">
                <a:latin typeface="Arial" panose="020B0604020202020204" pitchFamily="34" charset="0"/>
                <a:ea typeface="Calibri" panose="020F0502020204030204" pitchFamily="34" charset="0"/>
                <a:cs typeface="Times New Roman" panose="02020603050405020304" pitchFamily="18" charset="0"/>
              </a:rPr>
              <a:t>El funcionamiento del código depende de inputs donde le pregunta al usuario específicamente los datos requeridos, datos en las unidades correctas para un correcto funcionamiento, considerando dentro del código las conversiones necesarias de unidades para su manejo en las formulas, usando validación robusta con el uso de ciclos while y excepciones para evitar que a la hora de introducir datos se cometa un error y esto genere errores en el código.</a:t>
            </a:r>
          </a:p>
          <a:p>
            <a:endParaRPr lang="es-MX" dirty="0"/>
          </a:p>
        </p:txBody>
      </p:sp>
      <p:pic>
        <p:nvPicPr>
          <p:cNvPr id="11" name="Imagen 10">
            <a:extLst>
              <a:ext uri="{FF2B5EF4-FFF2-40B4-BE49-F238E27FC236}">
                <a16:creationId xmlns:a16="http://schemas.microsoft.com/office/drawing/2014/main" id="{7DF07486-7B05-4FF7-954B-7CB7FDEA1FC1}"/>
              </a:ext>
            </a:extLst>
          </p:cNvPr>
          <p:cNvPicPr/>
          <p:nvPr/>
        </p:nvPicPr>
        <p:blipFill>
          <a:blip r:embed="rId2"/>
          <a:stretch>
            <a:fillRect/>
          </a:stretch>
        </p:blipFill>
        <p:spPr>
          <a:xfrm>
            <a:off x="5782110" y="4107729"/>
            <a:ext cx="5612130" cy="1620520"/>
          </a:xfrm>
          <a:prstGeom prst="rect">
            <a:avLst/>
          </a:prstGeom>
        </p:spPr>
      </p:pic>
      <p:sp>
        <p:nvSpPr>
          <p:cNvPr id="12" name="CuadroTexto 11">
            <a:extLst>
              <a:ext uri="{FF2B5EF4-FFF2-40B4-BE49-F238E27FC236}">
                <a16:creationId xmlns:a16="http://schemas.microsoft.com/office/drawing/2014/main" id="{6A42B6CF-1113-470F-9DBC-E8B91DB69A18}"/>
              </a:ext>
            </a:extLst>
          </p:cNvPr>
          <p:cNvSpPr txBox="1"/>
          <p:nvPr/>
        </p:nvSpPr>
        <p:spPr>
          <a:xfrm>
            <a:off x="5539146" y="5783648"/>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33: Uso de Validación robusta</a:t>
            </a:r>
          </a:p>
        </p:txBody>
      </p:sp>
    </p:spTree>
    <p:extLst>
      <p:ext uri="{BB962C8B-B14F-4D97-AF65-F5344CB8AC3E}">
        <p14:creationId xmlns:p14="http://schemas.microsoft.com/office/powerpoint/2010/main" val="343827306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870F6A7-F8DE-4C9E-8648-667F2056DB3B}"/>
              </a:ext>
            </a:extLst>
          </p:cNvPr>
          <p:cNvSpPr>
            <a:spLocks noGrp="1"/>
          </p:cNvSpPr>
          <p:nvPr>
            <p:ph sz="quarter" idx="10"/>
          </p:nvPr>
        </p:nvSpPr>
        <p:spPr>
          <a:xfrm>
            <a:off x="734593" y="902044"/>
            <a:ext cx="5045105" cy="2332990"/>
          </a:xfrm>
        </p:spPr>
        <p:txBody>
          <a:bodyPr>
            <a:normAutofit lnSpcReduction="10000"/>
          </a:bodyPr>
          <a:lstStyle/>
          <a:p>
            <a:pPr marL="0" indent="0" algn="just">
              <a:lnSpc>
                <a:spcPct val="115000"/>
              </a:lnSpc>
              <a:spcAft>
                <a:spcPts val="800"/>
              </a:spcAft>
              <a:buNone/>
            </a:pPr>
            <a:r>
              <a:rPr lang="es-MX" sz="1900" dirty="0">
                <a:effectLst/>
                <a:latin typeface="Arial" panose="020B0604020202020204" pitchFamily="34" charset="0"/>
                <a:ea typeface="Calibri" panose="020F0502020204030204" pitchFamily="34" charset="0"/>
                <a:cs typeface="Times New Roman" panose="02020603050405020304" pitchFamily="18" charset="0"/>
              </a:rPr>
              <a:t>El código esta estructurado en 11 módulos que representa cada uno un paso de la metodología.</a:t>
            </a:r>
          </a:p>
          <a:p>
            <a:pPr marL="0" indent="0" algn="just">
              <a:lnSpc>
                <a:spcPct val="115000"/>
              </a:lnSpc>
              <a:spcAft>
                <a:spcPts val="800"/>
              </a:spcAft>
              <a:buNone/>
            </a:pPr>
            <a:r>
              <a:rPr lang="es-MX" sz="1900" b="1" dirty="0">
                <a:effectLst/>
                <a:latin typeface="Arial" panose="020B0604020202020204" pitchFamily="34" charset="0"/>
                <a:ea typeface="Times New Roman" panose="02020603050405020304" pitchFamily="18" charset="0"/>
                <a:cs typeface="Times New Roman" panose="02020603050405020304" pitchFamily="18" charset="0"/>
              </a:rPr>
              <a:t>Modulo 1 </a:t>
            </a:r>
          </a:p>
          <a:p>
            <a:pPr marL="0" indent="0" algn="just">
              <a:lnSpc>
                <a:spcPct val="115000"/>
              </a:lnSpc>
              <a:spcAft>
                <a:spcPts val="800"/>
              </a:spcAft>
              <a:buNone/>
            </a:pPr>
            <a:r>
              <a:rPr lang="es-MX" sz="1900" dirty="0">
                <a:effectLst/>
                <a:latin typeface="Arial" panose="020B0604020202020204" pitchFamily="34" charset="0"/>
                <a:ea typeface="Calibri" panose="020F0502020204030204" pitchFamily="34" charset="0"/>
                <a:cs typeface="Times New Roman" panose="02020603050405020304" pitchFamily="18" charset="0"/>
              </a:rPr>
              <a:t>En este modulo se representa el determinar el tipo de formación.</a:t>
            </a:r>
          </a:p>
          <a:p>
            <a:endParaRPr lang="es-MX" dirty="0"/>
          </a:p>
        </p:txBody>
      </p:sp>
      <p:sp>
        <p:nvSpPr>
          <p:cNvPr id="4" name="Marcador de contenido 3">
            <a:extLst>
              <a:ext uri="{FF2B5EF4-FFF2-40B4-BE49-F238E27FC236}">
                <a16:creationId xmlns:a16="http://schemas.microsoft.com/office/drawing/2014/main" id="{56656184-728D-4E33-816F-590AD8E0D381}"/>
              </a:ext>
            </a:extLst>
          </p:cNvPr>
          <p:cNvSpPr>
            <a:spLocks noGrp="1"/>
          </p:cNvSpPr>
          <p:nvPr>
            <p:ph sz="quarter" idx="11"/>
          </p:nvPr>
        </p:nvSpPr>
        <p:spPr>
          <a:xfrm>
            <a:off x="6412304" y="1000898"/>
            <a:ext cx="5322496" cy="5477540"/>
          </a:xfrm>
        </p:spPr>
        <p:txBody>
          <a:bodyPr/>
          <a:lstStyle/>
          <a:p>
            <a:pPr marL="0" lvl="0" indent="0">
              <a:lnSpc>
                <a:spcPct val="107000"/>
              </a:lnSpc>
              <a:spcBef>
                <a:spcPts val="200"/>
              </a:spcBef>
              <a:buNone/>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Modulo 2</a:t>
            </a:r>
          </a:p>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El siguiente modulo sirve para determinar la permeabilidad.</a:t>
            </a:r>
            <a:endParaRPr lang="es-MX" dirty="0"/>
          </a:p>
        </p:txBody>
      </p:sp>
      <p:sp>
        <p:nvSpPr>
          <p:cNvPr id="5" name="Marcador de número de diapositiva 4">
            <a:extLst>
              <a:ext uri="{FF2B5EF4-FFF2-40B4-BE49-F238E27FC236}">
                <a16:creationId xmlns:a16="http://schemas.microsoft.com/office/drawing/2014/main" id="{547C911E-205D-499B-A49D-FB023AD90C5C}"/>
              </a:ext>
            </a:extLst>
          </p:cNvPr>
          <p:cNvSpPr>
            <a:spLocks noGrp="1"/>
          </p:cNvSpPr>
          <p:nvPr>
            <p:ph type="sldNum" sz="quarter" idx="4"/>
          </p:nvPr>
        </p:nvSpPr>
        <p:spPr/>
        <p:txBody>
          <a:bodyPr/>
          <a:lstStyle/>
          <a:p>
            <a:pPr rtl="0"/>
            <a:fld id="{C3DB2ADC-AF19-4574-8C10-79B5B04FCA27}" type="slidenum">
              <a:rPr lang="es-ES" smtClean="0"/>
              <a:pPr rtl="0"/>
              <a:t>36</a:t>
            </a:fld>
            <a:endParaRPr lang="es-ES" dirty="0"/>
          </a:p>
        </p:txBody>
      </p:sp>
      <p:pic>
        <p:nvPicPr>
          <p:cNvPr id="6" name="Imagen 5">
            <a:extLst>
              <a:ext uri="{FF2B5EF4-FFF2-40B4-BE49-F238E27FC236}">
                <a16:creationId xmlns:a16="http://schemas.microsoft.com/office/drawing/2014/main" id="{9987CD9E-767D-40C5-81A3-7B49F269FADC}"/>
              </a:ext>
            </a:extLst>
          </p:cNvPr>
          <p:cNvPicPr/>
          <p:nvPr/>
        </p:nvPicPr>
        <p:blipFill>
          <a:blip r:embed="rId2"/>
          <a:stretch>
            <a:fillRect/>
          </a:stretch>
        </p:blipFill>
        <p:spPr>
          <a:xfrm>
            <a:off x="590145" y="3326008"/>
            <a:ext cx="5334000" cy="2332990"/>
          </a:xfrm>
          <a:prstGeom prst="rect">
            <a:avLst/>
          </a:prstGeom>
        </p:spPr>
      </p:pic>
      <p:pic>
        <p:nvPicPr>
          <p:cNvPr id="7" name="Imagen 6">
            <a:extLst>
              <a:ext uri="{FF2B5EF4-FFF2-40B4-BE49-F238E27FC236}">
                <a16:creationId xmlns:a16="http://schemas.microsoft.com/office/drawing/2014/main" id="{61769AE1-B90C-48A5-B259-C1E9CBED1381}"/>
              </a:ext>
            </a:extLst>
          </p:cNvPr>
          <p:cNvPicPr/>
          <p:nvPr/>
        </p:nvPicPr>
        <p:blipFill>
          <a:blip r:embed="rId3"/>
          <a:stretch>
            <a:fillRect/>
          </a:stretch>
        </p:blipFill>
        <p:spPr>
          <a:xfrm>
            <a:off x="6412304" y="3579373"/>
            <a:ext cx="5054600" cy="2079625"/>
          </a:xfrm>
          <a:prstGeom prst="rect">
            <a:avLst/>
          </a:prstGeom>
        </p:spPr>
      </p:pic>
      <p:sp>
        <p:nvSpPr>
          <p:cNvPr id="9" name="CuadroTexto 8">
            <a:extLst>
              <a:ext uri="{FF2B5EF4-FFF2-40B4-BE49-F238E27FC236}">
                <a16:creationId xmlns:a16="http://schemas.microsoft.com/office/drawing/2014/main" id="{6DB21DC8-9DDD-4519-950E-466E0E984027}"/>
              </a:ext>
            </a:extLst>
          </p:cNvPr>
          <p:cNvSpPr txBox="1"/>
          <p:nvPr/>
        </p:nvSpPr>
        <p:spPr>
          <a:xfrm>
            <a:off x="6024523" y="5867609"/>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35: Modulo 2 del código</a:t>
            </a:r>
          </a:p>
        </p:txBody>
      </p:sp>
      <p:sp>
        <p:nvSpPr>
          <p:cNvPr id="11" name="CuadroTexto 10">
            <a:extLst>
              <a:ext uri="{FF2B5EF4-FFF2-40B4-BE49-F238E27FC236}">
                <a16:creationId xmlns:a16="http://schemas.microsoft.com/office/drawing/2014/main" id="{E47F7048-29B0-428E-99C3-E86D0DFFA3ED}"/>
              </a:ext>
            </a:extLst>
          </p:cNvPr>
          <p:cNvSpPr txBox="1"/>
          <p:nvPr/>
        </p:nvSpPr>
        <p:spPr>
          <a:xfrm>
            <a:off x="208116" y="5867609"/>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34: Modulo 1 del código</a:t>
            </a:r>
          </a:p>
        </p:txBody>
      </p:sp>
    </p:spTree>
    <p:extLst>
      <p:ext uri="{BB962C8B-B14F-4D97-AF65-F5344CB8AC3E}">
        <p14:creationId xmlns:p14="http://schemas.microsoft.com/office/powerpoint/2010/main" val="13025310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ED688D5-F817-4C64-9290-81051A07B0DC}"/>
              </a:ext>
            </a:extLst>
          </p:cNvPr>
          <p:cNvSpPr>
            <a:spLocks noGrp="1"/>
          </p:cNvSpPr>
          <p:nvPr>
            <p:ph sz="quarter" idx="10"/>
          </p:nvPr>
        </p:nvSpPr>
        <p:spPr>
          <a:xfrm>
            <a:off x="665758" y="1012096"/>
            <a:ext cx="5045105" cy="4233713"/>
          </a:xfrm>
        </p:spPr>
        <p:txBody>
          <a:bodyPr/>
          <a:lstStyle/>
          <a:p>
            <a:pPr marL="0" lvl="0" indent="0">
              <a:lnSpc>
                <a:spcPct val="107000"/>
              </a:lnSpc>
              <a:spcBef>
                <a:spcPts val="200"/>
              </a:spcBef>
              <a:buNone/>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Modulo 3</a:t>
            </a:r>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A partir del modulo 3 empezamos a ocupar datos establecidos en puntos anteriores, para que en este modulo determinemos el mínimo desbalance.</a:t>
            </a:r>
          </a:p>
          <a:p>
            <a:endParaRPr lang="es-MX" dirty="0"/>
          </a:p>
        </p:txBody>
      </p:sp>
      <p:sp>
        <p:nvSpPr>
          <p:cNvPr id="4" name="Marcador de contenido 3">
            <a:extLst>
              <a:ext uri="{FF2B5EF4-FFF2-40B4-BE49-F238E27FC236}">
                <a16:creationId xmlns:a16="http://schemas.microsoft.com/office/drawing/2014/main" id="{A38FD28E-7471-446E-9B1D-25A2D14BD893}"/>
              </a:ext>
            </a:extLst>
          </p:cNvPr>
          <p:cNvSpPr>
            <a:spLocks noGrp="1"/>
          </p:cNvSpPr>
          <p:nvPr>
            <p:ph sz="quarter" idx="11"/>
          </p:nvPr>
        </p:nvSpPr>
        <p:spPr>
          <a:xfrm>
            <a:off x="6338964" y="1012096"/>
            <a:ext cx="5322496" cy="4233713"/>
          </a:xfrm>
        </p:spPr>
        <p:txBody>
          <a:bodyPr/>
          <a:lstStyle/>
          <a:p>
            <a:pPr marL="0" lvl="0" indent="0">
              <a:lnSpc>
                <a:spcPct val="107000"/>
              </a:lnSpc>
              <a:spcBef>
                <a:spcPts val="200"/>
              </a:spcBef>
              <a:buNone/>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Modulo 4</a:t>
            </a:r>
            <a:r>
              <a:rPr lang="es-MX" sz="1800" dirty="0">
                <a:effectLst/>
                <a:latin typeface="Arial" panose="020B0604020202020204" pitchFamily="34" charset="0"/>
                <a:ea typeface="Calibri" panose="020F0502020204030204" pitchFamily="34" charset="0"/>
                <a:cs typeface="Times New Roman" panose="02020603050405020304" pitchFamily="18" charset="0"/>
              </a:rPr>
              <a:t> </a:t>
            </a:r>
          </a:p>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El modulo 4 determinara el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Umax</a:t>
            </a:r>
            <a:r>
              <a:rPr lang="es-MX" sz="1800" dirty="0">
                <a:effectLst/>
                <a:latin typeface="Arial" panose="020B0604020202020204" pitchFamily="34" charset="0"/>
                <a:ea typeface="Calibri" panose="020F0502020204030204" pitchFamily="34" charset="0"/>
                <a:cs typeface="Times New Roman" panose="02020603050405020304" pitchFamily="18" charset="0"/>
              </a:rPr>
              <a:t> solicitando información a través de input y cálculos según sea el escenario posible.</a:t>
            </a:r>
          </a:p>
          <a:p>
            <a:endParaRPr lang="es-MX" dirty="0"/>
          </a:p>
        </p:txBody>
      </p:sp>
      <p:sp>
        <p:nvSpPr>
          <p:cNvPr id="5" name="Marcador de número de diapositiva 4">
            <a:extLst>
              <a:ext uri="{FF2B5EF4-FFF2-40B4-BE49-F238E27FC236}">
                <a16:creationId xmlns:a16="http://schemas.microsoft.com/office/drawing/2014/main" id="{BC9DB991-3AD8-4A69-9EA7-119E531BE296}"/>
              </a:ext>
            </a:extLst>
          </p:cNvPr>
          <p:cNvSpPr>
            <a:spLocks noGrp="1"/>
          </p:cNvSpPr>
          <p:nvPr>
            <p:ph type="sldNum" sz="quarter" idx="4"/>
          </p:nvPr>
        </p:nvSpPr>
        <p:spPr/>
        <p:txBody>
          <a:bodyPr/>
          <a:lstStyle/>
          <a:p>
            <a:pPr rtl="0"/>
            <a:fld id="{C3DB2ADC-AF19-4574-8C10-79B5B04FCA27}" type="slidenum">
              <a:rPr lang="es-ES" smtClean="0"/>
              <a:pPr rtl="0"/>
              <a:t>37</a:t>
            </a:fld>
            <a:endParaRPr lang="es-ES" dirty="0"/>
          </a:p>
        </p:txBody>
      </p:sp>
      <p:pic>
        <p:nvPicPr>
          <p:cNvPr id="6" name="Imagen 5">
            <a:extLst>
              <a:ext uri="{FF2B5EF4-FFF2-40B4-BE49-F238E27FC236}">
                <a16:creationId xmlns:a16="http://schemas.microsoft.com/office/drawing/2014/main" id="{210FA31B-0E39-4D5B-A28E-C96773CEE794}"/>
              </a:ext>
            </a:extLst>
          </p:cNvPr>
          <p:cNvPicPr/>
          <p:nvPr/>
        </p:nvPicPr>
        <p:blipFill>
          <a:blip r:embed="rId2"/>
          <a:stretch>
            <a:fillRect/>
          </a:stretch>
        </p:blipFill>
        <p:spPr>
          <a:xfrm>
            <a:off x="483870" y="3202297"/>
            <a:ext cx="5612130" cy="1607820"/>
          </a:xfrm>
          <a:prstGeom prst="rect">
            <a:avLst/>
          </a:prstGeom>
        </p:spPr>
      </p:pic>
      <p:sp>
        <p:nvSpPr>
          <p:cNvPr id="8" name="CuadroTexto 7">
            <a:extLst>
              <a:ext uri="{FF2B5EF4-FFF2-40B4-BE49-F238E27FC236}">
                <a16:creationId xmlns:a16="http://schemas.microsoft.com/office/drawing/2014/main" id="{1801B0EE-77B3-47DF-BFEA-89499540A020}"/>
              </a:ext>
            </a:extLst>
          </p:cNvPr>
          <p:cNvSpPr txBox="1"/>
          <p:nvPr/>
        </p:nvSpPr>
        <p:spPr>
          <a:xfrm>
            <a:off x="240906" y="5094323"/>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36: Modulo 3 del código</a:t>
            </a:r>
          </a:p>
        </p:txBody>
      </p:sp>
      <p:pic>
        <p:nvPicPr>
          <p:cNvPr id="9" name="Imagen 8">
            <a:extLst>
              <a:ext uri="{FF2B5EF4-FFF2-40B4-BE49-F238E27FC236}">
                <a16:creationId xmlns:a16="http://schemas.microsoft.com/office/drawing/2014/main" id="{AE13C0DB-314D-4A4B-86C5-45AE13ABAF64}"/>
              </a:ext>
            </a:extLst>
          </p:cNvPr>
          <p:cNvPicPr/>
          <p:nvPr/>
        </p:nvPicPr>
        <p:blipFill>
          <a:blip r:embed="rId3"/>
          <a:stretch>
            <a:fillRect/>
          </a:stretch>
        </p:blipFill>
        <p:spPr>
          <a:xfrm>
            <a:off x="6338964" y="2482207"/>
            <a:ext cx="5612130" cy="2327910"/>
          </a:xfrm>
          <a:prstGeom prst="rect">
            <a:avLst/>
          </a:prstGeom>
        </p:spPr>
      </p:pic>
      <p:sp>
        <p:nvSpPr>
          <p:cNvPr id="11" name="CuadroTexto 10">
            <a:extLst>
              <a:ext uri="{FF2B5EF4-FFF2-40B4-BE49-F238E27FC236}">
                <a16:creationId xmlns:a16="http://schemas.microsoft.com/office/drawing/2014/main" id="{1A13BA68-9563-4C25-A6D2-8E669445144F}"/>
              </a:ext>
            </a:extLst>
          </p:cNvPr>
          <p:cNvSpPr txBox="1"/>
          <p:nvPr/>
        </p:nvSpPr>
        <p:spPr>
          <a:xfrm>
            <a:off x="5710863" y="5094323"/>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37: Modulo 4 del </a:t>
            </a:r>
            <a:r>
              <a:rPr lang="es-MX" sz="1800" i="1" dirty="0" err="1">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codigo</a:t>
            </a:r>
            <a:endPar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284041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DCF01F7-1CE8-4C40-A2FE-7B0BA3D3D5BD}"/>
              </a:ext>
            </a:extLst>
          </p:cNvPr>
          <p:cNvSpPr>
            <a:spLocks noGrp="1"/>
          </p:cNvSpPr>
          <p:nvPr>
            <p:ph sz="quarter" idx="10"/>
          </p:nvPr>
        </p:nvSpPr>
        <p:spPr>
          <a:xfrm>
            <a:off x="734592" y="939115"/>
            <a:ext cx="5045105" cy="4606742"/>
          </a:xfrm>
        </p:spPr>
        <p:txBody>
          <a:bodyPr/>
          <a:lstStyle/>
          <a:p>
            <a:pPr marL="0" lvl="0" indent="0">
              <a:lnSpc>
                <a:spcPct val="107000"/>
              </a:lnSpc>
              <a:spcBef>
                <a:spcPts val="200"/>
              </a:spcBef>
              <a:buNone/>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Modulo 5</a:t>
            </a:r>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El modulo 5 ocupara los valores de los dos módulos anteriores para calcular el diferencial de presión así como la altura de la columna y el nivel de fluido.</a:t>
            </a:r>
          </a:p>
          <a:p>
            <a:endParaRPr lang="es-MX" dirty="0"/>
          </a:p>
        </p:txBody>
      </p:sp>
      <p:sp>
        <p:nvSpPr>
          <p:cNvPr id="4" name="Marcador de contenido 3">
            <a:extLst>
              <a:ext uri="{FF2B5EF4-FFF2-40B4-BE49-F238E27FC236}">
                <a16:creationId xmlns:a16="http://schemas.microsoft.com/office/drawing/2014/main" id="{E15EFD45-FBE9-4917-B86F-93876A119BAC}"/>
              </a:ext>
            </a:extLst>
          </p:cNvPr>
          <p:cNvSpPr>
            <a:spLocks noGrp="1"/>
          </p:cNvSpPr>
          <p:nvPr>
            <p:ph sz="quarter" idx="11"/>
          </p:nvPr>
        </p:nvSpPr>
        <p:spPr>
          <a:xfrm>
            <a:off x="6268870" y="939115"/>
            <a:ext cx="5322496" cy="4233713"/>
          </a:xfrm>
        </p:spPr>
        <p:txBody>
          <a:bodyPr/>
          <a:lstStyle/>
          <a:p>
            <a:pPr marL="0" lvl="0" indent="0">
              <a:lnSpc>
                <a:spcPct val="107000"/>
              </a:lnSpc>
              <a:spcBef>
                <a:spcPts val="200"/>
              </a:spcBef>
              <a:buNone/>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Modulo 6</a:t>
            </a:r>
            <a:r>
              <a:rPr lang="es-MX" sz="1800" dirty="0">
                <a:effectLst/>
                <a:latin typeface="Arial" panose="020B0604020202020204" pitchFamily="34" charset="0"/>
                <a:ea typeface="Calibri" panose="020F0502020204030204" pitchFamily="34" charset="0"/>
                <a:cs typeface="Times New Roman" panose="02020603050405020304" pitchFamily="18" charset="0"/>
              </a:rPr>
              <a:t> </a:t>
            </a:r>
          </a:p>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El modulo 6 sirve para calcular la longitud de la penetración mediante la ecuación de Thompson.</a:t>
            </a:r>
            <a:endParaRPr lang="es-MX" dirty="0"/>
          </a:p>
        </p:txBody>
      </p:sp>
      <p:sp>
        <p:nvSpPr>
          <p:cNvPr id="5" name="Marcador de número de diapositiva 4">
            <a:extLst>
              <a:ext uri="{FF2B5EF4-FFF2-40B4-BE49-F238E27FC236}">
                <a16:creationId xmlns:a16="http://schemas.microsoft.com/office/drawing/2014/main" id="{41C104D7-1363-442A-BB99-EB4692C57DF1}"/>
              </a:ext>
            </a:extLst>
          </p:cNvPr>
          <p:cNvSpPr>
            <a:spLocks noGrp="1"/>
          </p:cNvSpPr>
          <p:nvPr>
            <p:ph type="sldNum" sz="quarter" idx="4"/>
          </p:nvPr>
        </p:nvSpPr>
        <p:spPr/>
        <p:txBody>
          <a:bodyPr/>
          <a:lstStyle/>
          <a:p>
            <a:pPr rtl="0"/>
            <a:fld id="{C3DB2ADC-AF19-4574-8C10-79B5B04FCA27}" type="slidenum">
              <a:rPr lang="es-ES" smtClean="0"/>
              <a:pPr rtl="0"/>
              <a:t>38</a:t>
            </a:fld>
            <a:endParaRPr lang="es-ES" dirty="0"/>
          </a:p>
        </p:txBody>
      </p:sp>
      <p:pic>
        <p:nvPicPr>
          <p:cNvPr id="6" name="Imagen 5">
            <a:extLst>
              <a:ext uri="{FF2B5EF4-FFF2-40B4-BE49-F238E27FC236}">
                <a16:creationId xmlns:a16="http://schemas.microsoft.com/office/drawing/2014/main" id="{73467F34-103C-4A77-A9E7-7839BD9A6263}"/>
              </a:ext>
            </a:extLst>
          </p:cNvPr>
          <p:cNvPicPr/>
          <p:nvPr/>
        </p:nvPicPr>
        <p:blipFill>
          <a:blip r:embed="rId2"/>
          <a:stretch>
            <a:fillRect/>
          </a:stretch>
        </p:blipFill>
        <p:spPr>
          <a:xfrm>
            <a:off x="451079" y="2721738"/>
            <a:ext cx="5612130" cy="2205355"/>
          </a:xfrm>
          <a:prstGeom prst="rect">
            <a:avLst/>
          </a:prstGeom>
        </p:spPr>
      </p:pic>
      <p:sp>
        <p:nvSpPr>
          <p:cNvPr id="8" name="CuadroTexto 7">
            <a:extLst>
              <a:ext uri="{FF2B5EF4-FFF2-40B4-BE49-F238E27FC236}">
                <a16:creationId xmlns:a16="http://schemas.microsoft.com/office/drawing/2014/main" id="{FF029C5D-7173-48A0-9996-09ECCBE15542}"/>
              </a:ext>
            </a:extLst>
          </p:cNvPr>
          <p:cNvSpPr txBox="1"/>
          <p:nvPr/>
        </p:nvSpPr>
        <p:spPr>
          <a:xfrm>
            <a:off x="139699" y="5051809"/>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38: Modulo 5 del código</a:t>
            </a:r>
          </a:p>
        </p:txBody>
      </p:sp>
      <p:pic>
        <p:nvPicPr>
          <p:cNvPr id="9" name="Imagen 8">
            <a:extLst>
              <a:ext uri="{FF2B5EF4-FFF2-40B4-BE49-F238E27FC236}">
                <a16:creationId xmlns:a16="http://schemas.microsoft.com/office/drawing/2014/main" id="{3111E897-271D-458F-87A6-29FB7BDE3E62}"/>
              </a:ext>
            </a:extLst>
          </p:cNvPr>
          <p:cNvPicPr/>
          <p:nvPr/>
        </p:nvPicPr>
        <p:blipFill>
          <a:blip r:embed="rId3"/>
          <a:stretch>
            <a:fillRect/>
          </a:stretch>
        </p:blipFill>
        <p:spPr>
          <a:xfrm>
            <a:off x="6237757" y="2747138"/>
            <a:ext cx="5612130" cy="2179955"/>
          </a:xfrm>
          <a:prstGeom prst="rect">
            <a:avLst/>
          </a:prstGeom>
        </p:spPr>
      </p:pic>
      <p:sp>
        <p:nvSpPr>
          <p:cNvPr id="11" name="CuadroTexto 10">
            <a:extLst>
              <a:ext uri="{FF2B5EF4-FFF2-40B4-BE49-F238E27FC236}">
                <a16:creationId xmlns:a16="http://schemas.microsoft.com/office/drawing/2014/main" id="{ADA977CC-56A0-46A0-A6EA-904B0AD130B2}"/>
              </a:ext>
            </a:extLst>
          </p:cNvPr>
          <p:cNvSpPr txBox="1"/>
          <p:nvPr/>
        </p:nvSpPr>
        <p:spPr>
          <a:xfrm>
            <a:off x="5751829" y="5050520"/>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39: Modulo 6 del código</a:t>
            </a:r>
          </a:p>
        </p:txBody>
      </p:sp>
    </p:spTree>
    <p:extLst>
      <p:ext uri="{BB962C8B-B14F-4D97-AF65-F5344CB8AC3E}">
        <p14:creationId xmlns:p14="http://schemas.microsoft.com/office/powerpoint/2010/main" val="256465183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1F2B2DB-3D32-4E22-947B-35F9B3747182}"/>
              </a:ext>
            </a:extLst>
          </p:cNvPr>
          <p:cNvSpPr>
            <a:spLocks noGrp="1"/>
          </p:cNvSpPr>
          <p:nvPr>
            <p:ph sz="quarter" idx="10"/>
          </p:nvPr>
        </p:nvSpPr>
        <p:spPr>
          <a:xfrm>
            <a:off x="734593" y="914401"/>
            <a:ext cx="5045105" cy="1655445"/>
          </a:xfrm>
        </p:spPr>
        <p:txBody>
          <a:bodyPr>
            <a:normAutofit/>
          </a:bodyPr>
          <a:lstStyle/>
          <a:p>
            <a:pPr marL="0" lvl="0" indent="0">
              <a:lnSpc>
                <a:spcPct val="107000"/>
              </a:lnSpc>
              <a:spcBef>
                <a:spcPts val="200"/>
              </a:spcBef>
              <a:buNone/>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Modulo 7</a:t>
            </a:r>
          </a:p>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En el modulo 7 hace el uso de diccionarios basándose en el método empírico para determinar la densidad. </a:t>
            </a:r>
            <a:endParaRPr lang="es-MX" dirty="0"/>
          </a:p>
        </p:txBody>
      </p:sp>
      <p:sp>
        <p:nvSpPr>
          <p:cNvPr id="5" name="Marcador de número de diapositiva 4">
            <a:extLst>
              <a:ext uri="{FF2B5EF4-FFF2-40B4-BE49-F238E27FC236}">
                <a16:creationId xmlns:a16="http://schemas.microsoft.com/office/drawing/2014/main" id="{41DF3123-499A-4FA1-BC15-ED7BA05F2BD2}"/>
              </a:ext>
            </a:extLst>
          </p:cNvPr>
          <p:cNvSpPr>
            <a:spLocks noGrp="1"/>
          </p:cNvSpPr>
          <p:nvPr>
            <p:ph type="sldNum" sz="quarter" idx="4"/>
          </p:nvPr>
        </p:nvSpPr>
        <p:spPr/>
        <p:txBody>
          <a:bodyPr/>
          <a:lstStyle/>
          <a:p>
            <a:pPr rtl="0"/>
            <a:fld id="{C3DB2ADC-AF19-4574-8C10-79B5B04FCA27}" type="slidenum">
              <a:rPr lang="es-ES" smtClean="0"/>
              <a:pPr rtl="0"/>
              <a:t>39</a:t>
            </a:fld>
            <a:endParaRPr lang="es-ES" dirty="0"/>
          </a:p>
        </p:txBody>
      </p:sp>
      <p:pic>
        <p:nvPicPr>
          <p:cNvPr id="6" name="Imagen 5">
            <a:extLst>
              <a:ext uri="{FF2B5EF4-FFF2-40B4-BE49-F238E27FC236}">
                <a16:creationId xmlns:a16="http://schemas.microsoft.com/office/drawing/2014/main" id="{B36E13E7-C3C3-4F8E-B397-898212611351}"/>
              </a:ext>
            </a:extLst>
          </p:cNvPr>
          <p:cNvPicPr/>
          <p:nvPr/>
        </p:nvPicPr>
        <p:blipFill>
          <a:blip r:embed="rId2"/>
          <a:stretch>
            <a:fillRect/>
          </a:stretch>
        </p:blipFill>
        <p:spPr>
          <a:xfrm>
            <a:off x="734593" y="2738573"/>
            <a:ext cx="5612130" cy="1655445"/>
          </a:xfrm>
          <a:prstGeom prst="rect">
            <a:avLst/>
          </a:prstGeom>
        </p:spPr>
      </p:pic>
      <p:sp>
        <p:nvSpPr>
          <p:cNvPr id="8" name="CuadroTexto 7">
            <a:extLst>
              <a:ext uri="{FF2B5EF4-FFF2-40B4-BE49-F238E27FC236}">
                <a16:creationId xmlns:a16="http://schemas.microsoft.com/office/drawing/2014/main" id="{70A52319-D3D7-48B7-A1EC-9E5BB1526007}"/>
              </a:ext>
            </a:extLst>
          </p:cNvPr>
          <p:cNvSpPr txBox="1"/>
          <p:nvPr/>
        </p:nvSpPr>
        <p:spPr>
          <a:xfrm>
            <a:off x="0" y="4394018"/>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40: Modulo 7 del código</a:t>
            </a:r>
          </a:p>
        </p:txBody>
      </p:sp>
      <p:sp>
        <p:nvSpPr>
          <p:cNvPr id="9" name="Marcador de contenido 2">
            <a:extLst>
              <a:ext uri="{FF2B5EF4-FFF2-40B4-BE49-F238E27FC236}">
                <a16:creationId xmlns:a16="http://schemas.microsoft.com/office/drawing/2014/main" id="{6CD8B373-CBA6-40FF-B399-BFF34C98FF6A}"/>
              </a:ext>
            </a:extLst>
          </p:cNvPr>
          <p:cNvSpPr txBox="1">
            <a:spLocks/>
          </p:cNvSpPr>
          <p:nvPr/>
        </p:nvSpPr>
        <p:spPr>
          <a:xfrm>
            <a:off x="6412304" y="963829"/>
            <a:ext cx="5045105" cy="1865869"/>
          </a:xfrm>
          <a:prstGeom prst="rect">
            <a:avLst/>
          </a:prstGeom>
        </p:spPr>
        <p:txBody>
          <a:bodyPr vert="horz" lIns="91440" tIns="45720" rIns="91440" bIns="45720" rtlCol="0">
            <a:normAutofit lnSpcReduction="10000"/>
          </a:bodyPr>
          <a:lstStyle>
            <a:defPPr>
              <a:defRPr lang="es-ES"/>
            </a:defPPr>
            <a:lvl1pPr marL="228600" indent="-228600" algn="l" defTabSz="914400" rtl="0" eaLnBrk="1" latinLnBrk="0" hangingPunct="1">
              <a:lnSpc>
                <a:spcPct val="120000"/>
              </a:lnSpc>
              <a:spcBef>
                <a:spcPts val="0"/>
              </a:spcBef>
              <a:spcAft>
                <a:spcPts val="1200"/>
              </a:spcAft>
              <a:buFont typeface="Arial" panose="020B0604020202020204" pitchFamily="34" charset="0"/>
              <a:buChar char="•"/>
              <a:defRPr lang="es-ES" sz="1800" kern="1200">
                <a:solidFill>
                  <a:schemeClr val="tx1"/>
                </a:solidFill>
                <a:latin typeface="+mn-lt"/>
                <a:ea typeface="+mn-ea"/>
                <a:cs typeface="+mn-cs"/>
              </a:defRPr>
            </a:lvl1pPr>
            <a:lvl2pPr marL="685800" indent="-228600" algn="l" defTabSz="914400" rtl="0" eaLnBrk="1" latinLnBrk="0" hangingPunct="1">
              <a:lnSpc>
                <a:spcPct val="120000"/>
              </a:lnSpc>
              <a:spcBef>
                <a:spcPts val="0"/>
              </a:spcBef>
              <a:spcAft>
                <a:spcPts val="1200"/>
              </a:spcAft>
              <a:buFont typeface="Arial" panose="020B0604020202020204" pitchFamily="34" charset="0"/>
              <a:buChar char="•"/>
              <a:defRPr lang="es-ES" sz="1600" kern="1200">
                <a:solidFill>
                  <a:schemeClr val="tx1"/>
                </a:solidFill>
                <a:latin typeface="+mn-lt"/>
                <a:ea typeface="+mn-ea"/>
                <a:cs typeface="+mn-cs"/>
              </a:defRPr>
            </a:lvl2pPr>
            <a:lvl3pPr marL="1143000" indent="-228600" algn="l" defTabSz="914400" rtl="0" eaLnBrk="1" latinLnBrk="0" hangingPunct="1">
              <a:lnSpc>
                <a:spcPct val="120000"/>
              </a:lnSpc>
              <a:spcBef>
                <a:spcPts val="0"/>
              </a:spcBef>
              <a:spcAft>
                <a:spcPts val="1200"/>
              </a:spcAft>
              <a:buFont typeface="Arial" panose="020B0604020202020204" pitchFamily="34" charset="0"/>
              <a:buChar char="•"/>
              <a:defRPr lang="es-ES" sz="1400" kern="1200">
                <a:solidFill>
                  <a:schemeClr val="tx1"/>
                </a:solidFill>
                <a:latin typeface="+mn-lt"/>
                <a:ea typeface="+mn-ea"/>
                <a:cs typeface="+mn-cs"/>
              </a:defRPr>
            </a:lvl3pPr>
            <a:lvl4pPr marL="1600200" indent="-228600" algn="l" defTabSz="914400" rtl="0" eaLnBrk="1" latinLnBrk="0" hangingPunct="1">
              <a:lnSpc>
                <a:spcPct val="120000"/>
              </a:lnSpc>
              <a:spcBef>
                <a:spcPts val="0"/>
              </a:spcBef>
              <a:spcAft>
                <a:spcPts val="1200"/>
              </a:spcAft>
              <a:buFont typeface="Arial" panose="020B0604020202020204" pitchFamily="34" charset="0"/>
              <a:buChar char="•"/>
              <a:defRPr lang="es-ES" sz="1200" kern="1200">
                <a:solidFill>
                  <a:schemeClr val="tx1"/>
                </a:solidFill>
                <a:latin typeface="+mn-lt"/>
                <a:ea typeface="+mn-ea"/>
                <a:cs typeface="+mn-cs"/>
              </a:defRPr>
            </a:lvl4pPr>
            <a:lvl5pPr marL="2057400" indent="-228600" algn="l" defTabSz="914400" rtl="0" eaLnBrk="1" latinLnBrk="0" hangingPunct="1">
              <a:lnSpc>
                <a:spcPct val="120000"/>
              </a:lnSpc>
              <a:spcBef>
                <a:spcPts val="0"/>
              </a:spcBef>
              <a:spcAft>
                <a:spcPts val="1200"/>
              </a:spcAft>
              <a:buFont typeface="Arial" panose="020B0604020202020204" pitchFamily="34" charset="0"/>
              <a:buChar char="•"/>
              <a:defRPr lang="es-ES"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pPr marL="0" indent="0">
              <a:lnSpc>
                <a:spcPct val="107000"/>
              </a:lnSpc>
              <a:spcBef>
                <a:spcPts val="200"/>
              </a:spcBef>
              <a:buFont typeface="Arial" panose="020B0604020202020204" pitchFamily="34" charset="0"/>
              <a:buNone/>
            </a:pPr>
            <a:r>
              <a:rPr lang="es-MX" b="1">
                <a:latin typeface="Arial" panose="020B0604020202020204" pitchFamily="34" charset="0"/>
                <a:ea typeface="Times New Roman" panose="02020603050405020304" pitchFamily="18" charset="0"/>
                <a:cs typeface="Times New Roman" panose="02020603050405020304" pitchFamily="18" charset="0"/>
              </a:rPr>
              <a:t>Modulo 8</a:t>
            </a:r>
          </a:p>
          <a:p>
            <a:pPr marL="0" indent="0" algn="just">
              <a:lnSpc>
                <a:spcPct val="115000"/>
              </a:lnSpc>
              <a:spcAft>
                <a:spcPts val="800"/>
              </a:spcAft>
              <a:buFont typeface="Arial" panose="020B0604020202020204" pitchFamily="34" charset="0"/>
              <a:buNone/>
            </a:pPr>
            <a:r>
              <a:rPr lang="es-MX">
                <a:latin typeface="Arial" panose="020B0604020202020204" pitchFamily="34" charset="0"/>
                <a:ea typeface="Calibri" panose="020F0502020204030204" pitchFamily="34" charset="0"/>
                <a:cs typeface="Times New Roman" panose="02020603050405020304" pitchFamily="18" charset="0"/>
              </a:rPr>
              <a:t>El modulo 8 Sirve para saber el tiempo de exposición y finaliza con la función que nos ayudara a determinar el tipo de explosivo, igual con la ayuda de diccionarios.</a:t>
            </a:r>
          </a:p>
          <a:p>
            <a:endParaRPr lang="es-MX" dirty="0"/>
          </a:p>
        </p:txBody>
      </p:sp>
      <p:pic>
        <p:nvPicPr>
          <p:cNvPr id="10" name="Imagen 9">
            <a:extLst>
              <a:ext uri="{FF2B5EF4-FFF2-40B4-BE49-F238E27FC236}">
                <a16:creationId xmlns:a16="http://schemas.microsoft.com/office/drawing/2014/main" id="{B88A0D8D-C27A-496C-BF93-3D101C520F50}"/>
              </a:ext>
            </a:extLst>
          </p:cNvPr>
          <p:cNvPicPr/>
          <p:nvPr/>
        </p:nvPicPr>
        <p:blipFill>
          <a:blip r:embed="rId3"/>
          <a:stretch>
            <a:fillRect/>
          </a:stretch>
        </p:blipFill>
        <p:spPr>
          <a:xfrm>
            <a:off x="6514506" y="2738573"/>
            <a:ext cx="5248910" cy="2158365"/>
          </a:xfrm>
          <a:prstGeom prst="rect">
            <a:avLst/>
          </a:prstGeom>
        </p:spPr>
      </p:pic>
      <p:sp>
        <p:nvSpPr>
          <p:cNvPr id="11" name="CuadroTexto 10">
            <a:extLst>
              <a:ext uri="{FF2B5EF4-FFF2-40B4-BE49-F238E27FC236}">
                <a16:creationId xmlns:a16="http://schemas.microsoft.com/office/drawing/2014/main" id="{4BC47FA7-3892-4D31-8D72-DE3C81004975}"/>
              </a:ext>
            </a:extLst>
          </p:cNvPr>
          <p:cNvSpPr txBox="1"/>
          <p:nvPr/>
        </p:nvSpPr>
        <p:spPr>
          <a:xfrm>
            <a:off x="6096000" y="5072646"/>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41: Modulo 8 del código</a:t>
            </a:r>
          </a:p>
        </p:txBody>
      </p:sp>
    </p:spTree>
    <p:extLst>
      <p:ext uri="{BB962C8B-B14F-4D97-AF65-F5344CB8AC3E}">
        <p14:creationId xmlns:p14="http://schemas.microsoft.com/office/powerpoint/2010/main" val="9565537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Marcador de número de diapositiva 4">
            <a:extLst>
              <a:ext uri="{FF2B5EF4-FFF2-40B4-BE49-F238E27FC236}">
                <a16:creationId xmlns:a16="http://schemas.microsoft.com/office/drawing/2014/main" id="{DB3E5294-2E21-49E7-B63E-BACE2A3E4975}"/>
              </a:ext>
            </a:extLst>
          </p:cNvPr>
          <p:cNvSpPr>
            <a:spLocks noGrp="1"/>
          </p:cNvSpPr>
          <p:nvPr>
            <p:ph type="sldNum" sz="quarter" idx="4"/>
          </p:nvPr>
        </p:nvSpPr>
        <p:spPr/>
        <p:txBody>
          <a:bodyPr/>
          <a:lstStyle/>
          <a:p>
            <a:pPr rtl="0"/>
            <a:fld id="{C3DB2ADC-AF19-4574-8C10-79B5B04FCA27}" type="slidenum">
              <a:rPr lang="es-ES" smtClean="0"/>
              <a:pPr rtl="0"/>
              <a:t>40</a:t>
            </a:fld>
            <a:endParaRPr lang="es-ES" dirty="0"/>
          </a:p>
        </p:txBody>
      </p:sp>
      <p:sp>
        <p:nvSpPr>
          <p:cNvPr id="9" name="Marcador de contenido 2">
            <a:extLst>
              <a:ext uri="{FF2B5EF4-FFF2-40B4-BE49-F238E27FC236}">
                <a16:creationId xmlns:a16="http://schemas.microsoft.com/office/drawing/2014/main" id="{761FB9AB-CA56-4668-B71B-D9D740F7C4F4}"/>
              </a:ext>
            </a:extLst>
          </p:cNvPr>
          <p:cNvSpPr txBox="1">
            <a:spLocks/>
          </p:cNvSpPr>
          <p:nvPr/>
        </p:nvSpPr>
        <p:spPr>
          <a:xfrm>
            <a:off x="836495" y="1009697"/>
            <a:ext cx="5045105" cy="3327524"/>
          </a:xfrm>
          <a:prstGeom prst="rect">
            <a:avLst/>
          </a:prstGeom>
        </p:spPr>
        <p:txBody>
          <a:bodyPr vert="horz" lIns="91440" tIns="45720" rIns="91440" bIns="45720" rtlCol="0">
            <a:normAutofit/>
          </a:bodyPr>
          <a:lstStyle>
            <a:defPPr>
              <a:defRPr lang="es-ES"/>
            </a:defPPr>
            <a:lvl1pPr marL="228600" indent="-228600" algn="l" defTabSz="914400" rtl="0" eaLnBrk="1" latinLnBrk="0" hangingPunct="1">
              <a:lnSpc>
                <a:spcPct val="120000"/>
              </a:lnSpc>
              <a:spcBef>
                <a:spcPts val="0"/>
              </a:spcBef>
              <a:spcAft>
                <a:spcPts val="1200"/>
              </a:spcAft>
              <a:buFont typeface="Arial" panose="020B0604020202020204" pitchFamily="34" charset="0"/>
              <a:buChar char="•"/>
              <a:defRPr lang="es-ES" sz="1800" kern="1200">
                <a:solidFill>
                  <a:schemeClr val="tx1"/>
                </a:solidFill>
                <a:latin typeface="+mn-lt"/>
                <a:ea typeface="+mn-ea"/>
                <a:cs typeface="+mn-cs"/>
              </a:defRPr>
            </a:lvl1pPr>
            <a:lvl2pPr marL="685800" indent="-228600" algn="l" defTabSz="914400" rtl="0" eaLnBrk="1" latinLnBrk="0" hangingPunct="1">
              <a:lnSpc>
                <a:spcPct val="120000"/>
              </a:lnSpc>
              <a:spcBef>
                <a:spcPts val="0"/>
              </a:spcBef>
              <a:spcAft>
                <a:spcPts val="1200"/>
              </a:spcAft>
              <a:buFont typeface="Arial" panose="020B0604020202020204" pitchFamily="34" charset="0"/>
              <a:buChar char="•"/>
              <a:defRPr lang="es-ES" sz="1600" kern="1200">
                <a:solidFill>
                  <a:schemeClr val="tx1"/>
                </a:solidFill>
                <a:latin typeface="+mn-lt"/>
                <a:ea typeface="+mn-ea"/>
                <a:cs typeface="+mn-cs"/>
              </a:defRPr>
            </a:lvl2pPr>
            <a:lvl3pPr marL="1143000" indent="-228600" algn="l" defTabSz="914400" rtl="0" eaLnBrk="1" latinLnBrk="0" hangingPunct="1">
              <a:lnSpc>
                <a:spcPct val="120000"/>
              </a:lnSpc>
              <a:spcBef>
                <a:spcPts val="0"/>
              </a:spcBef>
              <a:spcAft>
                <a:spcPts val="1200"/>
              </a:spcAft>
              <a:buFont typeface="Arial" panose="020B0604020202020204" pitchFamily="34" charset="0"/>
              <a:buChar char="•"/>
              <a:defRPr lang="es-ES" sz="1400" kern="1200">
                <a:solidFill>
                  <a:schemeClr val="tx1"/>
                </a:solidFill>
                <a:latin typeface="+mn-lt"/>
                <a:ea typeface="+mn-ea"/>
                <a:cs typeface="+mn-cs"/>
              </a:defRPr>
            </a:lvl3pPr>
            <a:lvl4pPr marL="1600200" indent="-228600" algn="l" defTabSz="914400" rtl="0" eaLnBrk="1" latinLnBrk="0" hangingPunct="1">
              <a:lnSpc>
                <a:spcPct val="120000"/>
              </a:lnSpc>
              <a:spcBef>
                <a:spcPts val="0"/>
              </a:spcBef>
              <a:spcAft>
                <a:spcPts val="1200"/>
              </a:spcAft>
              <a:buFont typeface="Arial" panose="020B0604020202020204" pitchFamily="34" charset="0"/>
              <a:buChar char="•"/>
              <a:defRPr lang="es-ES" sz="1200" kern="1200">
                <a:solidFill>
                  <a:schemeClr val="tx1"/>
                </a:solidFill>
                <a:latin typeface="+mn-lt"/>
                <a:ea typeface="+mn-ea"/>
                <a:cs typeface="+mn-cs"/>
              </a:defRPr>
            </a:lvl4pPr>
            <a:lvl5pPr marL="2057400" indent="-228600" algn="l" defTabSz="914400" rtl="0" eaLnBrk="1" latinLnBrk="0" hangingPunct="1">
              <a:lnSpc>
                <a:spcPct val="120000"/>
              </a:lnSpc>
              <a:spcBef>
                <a:spcPts val="0"/>
              </a:spcBef>
              <a:spcAft>
                <a:spcPts val="1200"/>
              </a:spcAft>
              <a:buFont typeface="Arial" panose="020B0604020202020204" pitchFamily="34" charset="0"/>
              <a:buChar char="•"/>
              <a:defRPr lang="es-ES"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pPr marL="0" indent="0">
              <a:lnSpc>
                <a:spcPct val="107000"/>
              </a:lnSpc>
              <a:spcBef>
                <a:spcPts val="200"/>
              </a:spcBef>
              <a:buFont typeface="Arial" panose="020B0604020202020204" pitchFamily="34" charset="0"/>
              <a:buNone/>
            </a:pPr>
            <a:r>
              <a:rPr lang="es-MX" b="1" dirty="0">
                <a:latin typeface="Arial" panose="020B0604020202020204" pitchFamily="34" charset="0"/>
                <a:ea typeface="Times New Roman" panose="02020603050405020304" pitchFamily="18" charset="0"/>
                <a:cs typeface="Times New Roman" panose="02020603050405020304" pitchFamily="18" charset="0"/>
              </a:rPr>
              <a:t>Modulo 9</a:t>
            </a:r>
          </a:p>
          <a:p>
            <a:pPr marL="0" indent="0" algn="just">
              <a:lnSpc>
                <a:spcPct val="115000"/>
              </a:lnSpc>
              <a:spcAft>
                <a:spcPts val="800"/>
              </a:spcAft>
              <a:buFont typeface="Arial" panose="020B0604020202020204" pitchFamily="34" charset="0"/>
              <a:buNone/>
            </a:pPr>
            <a:r>
              <a:rPr lang="es-MX" dirty="0">
                <a:latin typeface="Arial" panose="020B0604020202020204" pitchFamily="34" charset="0"/>
                <a:ea typeface="Calibri" panose="020F0502020204030204" pitchFamily="34" charset="0"/>
                <a:cs typeface="Times New Roman" panose="02020603050405020304" pitchFamily="18" charset="0"/>
              </a:rPr>
              <a:t>El modulo 9 sirve para calcular el daño a la formación sigue las mismas base que los módulos anteriores se basa en el uso de funciones con diccionarios.</a:t>
            </a:r>
            <a:endParaRPr lang="es-MX" dirty="0"/>
          </a:p>
        </p:txBody>
      </p:sp>
      <p:pic>
        <p:nvPicPr>
          <p:cNvPr id="10" name="Imagen 9">
            <a:extLst>
              <a:ext uri="{FF2B5EF4-FFF2-40B4-BE49-F238E27FC236}">
                <a16:creationId xmlns:a16="http://schemas.microsoft.com/office/drawing/2014/main" id="{80600204-EA34-4B0B-9A69-A1E2EE65165B}"/>
              </a:ext>
            </a:extLst>
          </p:cNvPr>
          <p:cNvPicPr/>
          <p:nvPr/>
        </p:nvPicPr>
        <p:blipFill>
          <a:blip r:embed="rId2"/>
          <a:stretch>
            <a:fillRect/>
          </a:stretch>
        </p:blipFill>
        <p:spPr>
          <a:xfrm>
            <a:off x="674586" y="2934215"/>
            <a:ext cx="5421414" cy="2253906"/>
          </a:xfrm>
          <a:prstGeom prst="rect">
            <a:avLst/>
          </a:prstGeom>
        </p:spPr>
      </p:pic>
      <p:sp>
        <p:nvSpPr>
          <p:cNvPr id="11" name="CuadroTexto 10">
            <a:extLst>
              <a:ext uri="{FF2B5EF4-FFF2-40B4-BE49-F238E27FC236}">
                <a16:creationId xmlns:a16="http://schemas.microsoft.com/office/drawing/2014/main" id="{39B7CAD1-D943-41B6-9670-D207C30AC4EA}"/>
              </a:ext>
            </a:extLst>
          </p:cNvPr>
          <p:cNvSpPr txBox="1"/>
          <p:nvPr/>
        </p:nvSpPr>
        <p:spPr>
          <a:xfrm>
            <a:off x="98638" y="5188121"/>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42: Modulo 9 del código</a:t>
            </a:r>
          </a:p>
        </p:txBody>
      </p:sp>
      <p:sp>
        <p:nvSpPr>
          <p:cNvPr id="14" name="Marcador de contenido 2">
            <a:extLst>
              <a:ext uri="{FF2B5EF4-FFF2-40B4-BE49-F238E27FC236}">
                <a16:creationId xmlns:a16="http://schemas.microsoft.com/office/drawing/2014/main" id="{D402BD24-948A-4FB1-A410-8C3FB75D0E5F}"/>
              </a:ext>
            </a:extLst>
          </p:cNvPr>
          <p:cNvSpPr>
            <a:spLocks noGrp="1"/>
          </p:cNvSpPr>
          <p:nvPr>
            <p:ph sz="quarter" idx="10"/>
          </p:nvPr>
        </p:nvSpPr>
        <p:spPr>
          <a:xfrm>
            <a:off x="6671948" y="1030734"/>
            <a:ext cx="5045105" cy="1903481"/>
          </a:xfrm>
        </p:spPr>
        <p:txBody>
          <a:bodyPr/>
          <a:lstStyle/>
          <a:p>
            <a:pPr marL="0" lvl="0" indent="0" algn="just">
              <a:lnSpc>
                <a:spcPct val="107000"/>
              </a:lnSpc>
              <a:spcBef>
                <a:spcPts val="200"/>
              </a:spcBef>
              <a:buNone/>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Modulo 10</a:t>
            </a:r>
          </a:p>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El modulo 10 determina el tipo de disparo refiriéndose a si es bajado por cable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wireline</a:t>
            </a:r>
            <a:r>
              <a:rPr lang="es-MX" sz="1800" dirty="0">
                <a:effectLst/>
                <a:latin typeface="Arial" panose="020B0604020202020204" pitchFamily="34" charset="0"/>
                <a:ea typeface="Calibri" panose="020F0502020204030204" pitchFamily="34" charset="0"/>
                <a:cs typeface="Times New Roman" panose="02020603050405020304" pitchFamily="18" charset="0"/>
              </a:rPr>
              <a:t>) o por tubería (TCP).</a:t>
            </a:r>
          </a:p>
        </p:txBody>
      </p:sp>
      <p:pic>
        <p:nvPicPr>
          <p:cNvPr id="15" name="Imagen 14">
            <a:extLst>
              <a:ext uri="{FF2B5EF4-FFF2-40B4-BE49-F238E27FC236}">
                <a16:creationId xmlns:a16="http://schemas.microsoft.com/office/drawing/2014/main" id="{047F3170-8116-4F30-B845-148AF360125E}"/>
              </a:ext>
            </a:extLst>
          </p:cNvPr>
          <p:cNvPicPr/>
          <p:nvPr/>
        </p:nvPicPr>
        <p:blipFill>
          <a:blip r:embed="rId2"/>
          <a:stretch>
            <a:fillRect/>
          </a:stretch>
        </p:blipFill>
        <p:spPr>
          <a:xfrm>
            <a:off x="6785789" y="2934215"/>
            <a:ext cx="4731625" cy="1931318"/>
          </a:xfrm>
          <a:prstGeom prst="rect">
            <a:avLst/>
          </a:prstGeom>
        </p:spPr>
      </p:pic>
      <p:sp>
        <p:nvSpPr>
          <p:cNvPr id="16" name="CuadroTexto 15">
            <a:extLst>
              <a:ext uri="{FF2B5EF4-FFF2-40B4-BE49-F238E27FC236}">
                <a16:creationId xmlns:a16="http://schemas.microsoft.com/office/drawing/2014/main" id="{FA0A1660-5D68-4414-836D-B99B74C9990F}"/>
              </a:ext>
            </a:extLst>
          </p:cNvPr>
          <p:cNvSpPr txBox="1"/>
          <p:nvPr/>
        </p:nvSpPr>
        <p:spPr>
          <a:xfrm>
            <a:off x="5788290" y="5000426"/>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43: Modulo 10 del código</a:t>
            </a:r>
          </a:p>
        </p:txBody>
      </p:sp>
    </p:spTree>
    <p:extLst>
      <p:ext uri="{BB962C8B-B14F-4D97-AF65-F5344CB8AC3E}">
        <p14:creationId xmlns:p14="http://schemas.microsoft.com/office/powerpoint/2010/main" val="22398707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6A7787C3-6F31-4628-85BB-0B6370B8DC99}"/>
              </a:ext>
            </a:extLst>
          </p:cNvPr>
          <p:cNvSpPr>
            <a:spLocks noGrp="1"/>
          </p:cNvSpPr>
          <p:nvPr>
            <p:ph sz="quarter" idx="11"/>
          </p:nvPr>
        </p:nvSpPr>
        <p:spPr>
          <a:xfrm>
            <a:off x="773504" y="1009050"/>
            <a:ext cx="10817862" cy="3204604"/>
          </a:xfrm>
        </p:spPr>
        <p:txBody>
          <a:bodyPr>
            <a:normAutofit/>
          </a:bodyPr>
          <a:lstStyle/>
          <a:p>
            <a:pPr marL="0" lvl="0" indent="0">
              <a:lnSpc>
                <a:spcPct val="107000"/>
              </a:lnSpc>
              <a:spcBef>
                <a:spcPts val="200"/>
              </a:spcBef>
              <a:buNone/>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Modulo 11</a:t>
            </a:r>
          </a:p>
          <a:p>
            <a:pPr marL="0" indent="0" algn="jus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En el modulo finalmente con los datos reunidos podremos definir el valor de la relación de productividad (RP) por los dos métodos comentados en la metodología, calculando el factor adimensional </a:t>
            </a:r>
            <a:r>
              <a:rPr lang="es-MX" sz="1800" dirty="0">
                <a:effectLst/>
                <a:latin typeface="Arial" panose="020B0604020202020204" pitchFamily="34" charset="0"/>
                <a:ea typeface="Calibri" panose="020F0502020204030204" pitchFamily="34" charset="0"/>
                <a:cs typeface="Arial" panose="020B0604020202020204" pitchFamily="34" charset="0"/>
              </a:rPr>
              <a:t>β</a:t>
            </a:r>
            <a:r>
              <a:rPr lang="es-MX" sz="1800" dirty="0">
                <a:effectLst/>
                <a:latin typeface="Arial" panose="020B0604020202020204" pitchFamily="34" charset="0"/>
                <a:ea typeface="Calibri" panose="020F0502020204030204" pitchFamily="34" charset="0"/>
                <a:cs typeface="Times New Roman" panose="02020603050405020304" pitchFamily="18" charset="0"/>
              </a:rPr>
              <a:t>o y mediante la grafica sacada del estudio de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Behrmann</a:t>
            </a:r>
            <a:r>
              <a:rPr lang="es-MX" sz="1800" dirty="0">
                <a:effectLst/>
                <a:latin typeface="Arial" panose="020B0604020202020204" pitchFamily="34" charset="0"/>
                <a:ea typeface="Calibri" panose="020F0502020204030204" pitchFamily="34" charset="0"/>
                <a:cs typeface="Times New Roman" panose="02020603050405020304" pitchFamily="18" charset="0"/>
              </a:rPr>
              <a:t> (2000), y después calcularla con la formula de la relación entre la actual productividad y la productividad considerando el daño a la formación de Schlumberger (2008)</a:t>
            </a:r>
          </a:p>
          <a:p>
            <a:endParaRPr lang="es-MX" dirty="0"/>
          </a:p>
        </p:txBody>
      </p:sp>
      <p:sp>
        <p:nvSpPr>
          <p:cNvPr id="5" name="Marcador de número de diapositiva 4">
            <a:extLst>
              <a:ext uri="{FF2B5EF4-FFF2-40B4-BE49-F238E27FC236}">
                <a16:creationId xmlns:a16="http://schemas.microsoft.com/office/drawing/2014/main" id="{F3037EF6-DDF7-4589-A3CA-641416794DFC}"/>
              </a:ext>
            </a:extLst>
          </p:cNvPr>
          <p:cNvSpPr>
            <a:spLocks noGrp="1"/>
          </p:cNvSpPr>
          <p:nvPr>
            <p:ph type="sldNum" sz="quarter" idx="4"/>
          </p:nvPr>
        </p:nvSpPr>
        <p:spPr/>
        <p:txBody>
          <a:bodyPr/>
          <a:lstStyle/>
          <a:p>
            <a:pPr rtl="0"/>
            <a:fld id="{C3DB2ADC-AF19-4574-8C10-79B5B04FCA27}" type="slidenum">
              <a:rPr lang="es-ES" smtClean="0"/>
              <a:pPr rtl="0"/>
              <a:t>41</a:t>
            </a:fld>
            <a:endParaRPr lang="es-ES" dirty="0"/>
          </a:p>
        </p:txBody>
      </p:sp>
      <p:pic>
        <p:nvPicPr>
          <p:cNvPr id="9" name="Imagen 8">
            <a:extLst>
              <a:ext uri="{FF2B5EF4-FFF2-40B4-BE49-F238E27FC236}">
                <a16:creationId xmlns:a16="http://schemas.microsoft.com/office/drawing/2014/main" id="{17D70592-D6CA-4F1A-B554-494249C70938}"/>
              </a:ext>
            </a:extLst>
          </p:cNvPr>
          <p:cNvPicPr/>
          <p:nvPr/>
        </p:nvPicPr>
        <p:blipFill>
          <a:blip r:embed="rId2"/>
          <a:stretch>
            <a:fillRect/>
          </a:stretch>
        </p:blipFill>
        <p:spPr>
          <a:xfrm>
            <a:off x="3289935" y="3032725"/>
            <a:ext cx="5940562" cy="3071513"/>
          </a:xfrm>
          <a:prstGeom prst="rect">
            <a:avLst/>
          </a:prstGeom>
        </p:spPr>
      </p:pic>
      <p:sp>
        <p:nvSpPr>
          <p:cNvPr id="11" name="CuadroTexto 10">
            <a:extLst>
              <a:ext uri="{FF2B5EF4-FFF2-40B4-BE49-F238E27FC236}">
                <a16:creationId xmlns:a16="http://schemas.microsoft.com/office/drawing/2014/main" id="{B9E554B7-C2B8-4895-A393-A49F1C1D0315}"/>
              </a:ext>
            </a:extLst>
          </p:cNvPr>
          <p:cNvSpPr txBox="1"/>
          <p:nvPr/>
        </p:nvSpPr>
        <p:spPr>
          <a:xfrm>
            <a:off x="2874257" y="6237329"/>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44: Modulo 11</a:t>
            </a:r>
          </a:p>
        </p:txBody>
      </p:sp>
    </p:spTree>
    <p:extLst>
      <p:ext uri="{BB962C8B-B14F-4D97-AF65-F5344CB8AC3E}">
        <p14:creationId xmlns:p14="http://schemas.microsoft.com/office/powerpoint/2010/main" val="23662135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1D2C031-FD0C-4D4E-B210-471D1FFE4E45}"/>
              </a:ext>
            </a:extLst>
          </p:cNvPr>
          <p:cNvSpPr>
            <a:spLocks noGrp="1"/>
          </p:cNvSpPr>
          <p:nvPr>
            <p:ph sz="quarter" idx="10"/>
          </p:nvPr>
        </p:nvSpPr>
        <p:spPr>
          <a:xfrm>
            <a:off x="734593" y="926757"/>
            <a:ext cx="5045105" cy="5551681"/>
          </a:xfrm>
        </p:spPr>
        <p:txBody>
          <a:bodyPr/>
          <a:lstStyle/>
          <a:p>
            <a:pPr marL="0" lvl="0" indent="0">
              <a:lnSpc>
                <a:spcPct val="107000"/>
              </a:lnSpc>
              <a:spcBef>
                <a:spcPts val="200"/>
              </a:spcBef>
              <a:buNone/>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12. Resultados</a:t>
            </a:r>
          </a:p>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Finalmente mediante un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print</a:t>
            </a:r>
            <a:r>
              <a:rPr lang="es-MX" sz="1800" dirty="0">
                <a:effectLst/>
                <a:latin typeface="Arial" panose="020B0604020202020204" pitchFamily="34" charset="0"/>
                <a:ea typeface="Calibri" panose="020F0502020204030204" pitchFamily="34" charset="0"/>
                <a:cs typeface="Times New Roman" panose="02020603050405020304" pitchFamily="18" charset="0"/>
              </a:rPr>
              <a:t> en consola se presentara un resumen general de los datos obtenidos, junto con una grafica que represente la RP obtenida por el factor adimensional </a:t>
            </a:r>
            <a:r>
              <a:rPr lang="es-MX" sz="1800" dirty="0">
                <a:effectLst/>
                <a:latin typeface="Arial" panose="020B0604020202020204" pitchFamily="34" charset="0"/>
                <a:ea typeface="Calibri" panose="020F0502020204030204" pitchFamily="34" charset="0"/>
                <a:cs typeface="Arial" panose="020B0604020202020204" pitchFamily="34" charset="0"/>
              </a:rPr>
              <a:t>β</a:t>
            </a:r>
            <a:r>
              <a:rPr lang="es-MX" sz="1800" dirty="0">
                <a:effectLst/>
                <a:latin typeface="Arial" panose="020B0604020202020204" pitchFamily="34" charset="0"/>
                <a:ea typeface="Calibri" panose="020F0502020204030204" pitchFamily="34" charset="0"/>
                <a:cs typeface="Times New Roman" panose="02020603050405020304" pitchFamily="18" charset="0"/>
              </a:rPr>
              <a:t>o y una tabla con el resultado final del diseño de disparos.</a:t>
            </a:r>
          </a:p>
          <a:p>
            <a:endParaRPr lang="es-MX" dirty="0"/>
          </a:p>
        </p:txBody>
      </p:sp>
      <p:sp>
        <p:nvSpPr>
          <p:cNvPr id="5" name="Marcador de número de diapositiva 4">
            <a:extLst>
              <a:ext uri="{FF2B5EF4-FFF2-40B4-BE49-F238E27FC236}">
                <a16:creationId xmlns:a16="http://schemas.microsoft.com/office/drawing/2014/main" id="{823AB999-E810-48B6-AF2B-350D5F0D4C64}"/>
              </a:ext>
            </a:extLst>
          </p:cNvPr>
          <p:cNvSpPr>
            <a:spLocks noGrp="1"/>
          </p:cNvSpPr>
          <p:nvPr>
            <p:ph type="sldNum" sz="quarter" idx="4"/>
          </p:nvPr>
        </p:nvSpPr>
        <p:spPr/>
        <p:txBody>
          <a:bodyPr/>
          <a:lstStyle/>
          <a:p>
            <a:pPr rtl="0"/>
            <a:fld id="{C3DB2ADC-AF19-4574-8C10-79B5B04FCA27}" type="slidenum">
              <a:rPr lang="es-ES" smtClean="0"/>
              <a:pPr rtl="0"/>
              <a:t>42</a:t>
            </a:fld>
            <a:endParaRPr lang="es-ES" dirty="0"/>
          </a:p>
        </p:txBody>
      </p:sp>
      <p:pic>
        <p:nvPicPr>
          <p:cNvPr id="6" name="Imagen 5">
            <a:extLst>
              <a:ext uri="{FF2B5EF4-FFF2-40B4-BE49-F238E27FC236}">
                <a16:creationId xmlns:a16="http://schemas.microsoft.com/office/drawing/2014/main" id="{1A851DB3-F7B3-4B4C-9297-3683B45958B6}"/>
              </a:ext>
            </a:extLst>
          </p:cNvPr>
          <p:cNvPicPr/>
          <p:nvPr/>
        </p:nvPicPr>
        <p:blipFill>
          <a:blip r:embed="rId2"/>
          <a:stretch>
            <a:fillRect/>
          </a:stretch>
        </p:blipFill>
        <p:spPr>
          <a:xfrm>
            <a:off x="734593" y="3429000"/>
            <a:ext cx="5612130" cy="2412365"/>
          </a:xfrm>
          <a:prstGeom prst="rect">
            <a:avLst/>
          </a:prstGeom>
        </p:spPr>
      </p:pic>
      <p:sp>
        <p:nvSpPr>
          <p:cNvPr id="8" name="CuadroTexto 7">
            <a:extLst>
              <a:ext uri="{FF2B5EF4-FFF2-40B4-BE49-F238E27FC236}">
                <a16:creationId xmlns:a16="http://schemas.microsoft.com/office/drawing/2014/main" id="{42D59B5C-69DB-444A-A6D2-20C6B5276C12}"/>
              </a:ext>
            </a:extLst>
          </p:cNvPr>
          <p:cNvSpPr txBox="1"/>
          <p:nvPr/>
        </p:nvSpPr>
        <p:spPr>
          <a:xfrm>
            <a:off x="314246" y="5892091"/>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45: Modulo 12, Resumen de resultados</a:t>
            </a:r>
          </a:p>
        </p:txBody>
      </p:sp>
      <p:pic>
        <p:nvPicPr>
          <p:cNvPr id="9" name="Imagen 8">
            <a:extLst>
              <a:ext uri="{FF2B5EF4-FFF2-40B4-BE49-F238E27FC236}">
                <a16:creationId xmlns:a16="http://schemas.microsoft.com/office/drawing/2014/main" id="{A36711D1-53FB-4D18-9BB4-CCCDF4BCE885}"/>
              </a:ext>
            </a:extLst>
          </p:cNvPr>
          <p:cNvPicPr/>
          <p:nvPr/>
        </p:nvPicPr>
        <p:blipFill>
          <a:blip r:embed="rId3"/>
          <a:stretch>
            <a:fillRect/>
          </a:stretch>
        </p:blipFill>
        <p:spPr>
          <a:xfrm>
            <a:off x="6406268" y="961746"/>
            <a:ext cx="5612130" cy="1517650"/>
          </a:xfrm>
          <a:prstGeom prst="rect">
            <a:avLst/>
          </a:prstGeom>
        </p:spPr>
      </p:pic>
      <p:sp>
        <p:nvSpPr>
          <p:cNvPr id="13" name="CuadroTexto 12">
            <a:extLst>
              <a:ext uri="{FF2B5EF4-FFF2-40B4-BE49-F238E27FC236}">
                <a16:creationId xmlns:a16="http://schemas.microsoft.com/office/drawing/2014/main" id="{3B820668-0AC5-4A92-BEDA-D1D456D4471E}"/>
              </a:ext>
            </a:extLst>
          </p:cNvPr>
          <p:cNvSpPr txBox="1"/>
          <p:nvPr/>
        </p:nvSpPr>
        <p:spPr>
          <a:xfrm>
            <a:off x="5920340" y="2530122"/>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46: Modulo 12, Grafica de RP vs. βo</a:t>
            </a:r>
          </a:p>
        </p:txBody>
      </p:sp>
      <p:pic>
        <p:nvPicPr>
          <p:cNvPr id="14" name="Imagen 13">
            <a:extLst>
              <a:ext uri="{FF2B5EF4-FFF2-40B4-BE49-F238E27FC236}">
                <a16:creationId xmlns:a16="http://schemas.microsoft.com/office/drawing/2014/main" id="{0E9CA5B4-7C38-473A-A46E-2CDF178C6882}"/>
              </a:ext>
            </a:extLst>
          </p:cNvPr>
          <p:cNvPicPr/>
          <p:nvPr/>
        </p:nvPicPr>
        <p:blipFill>
          <a:blip r:embed="rId4"/>
          <a:stretch>
            <a:fillRect/>
          </a:stretch>
        </p:blipFill>
        <p:spPr>
          <a:xfrm>
            <a:off x="6406268" y="3240405"/>
            <a:ext cx="5612130" cy="2600960"/>
          </a:xfrm>
          <a:prstGeom prst="rect">
            <a:avLst/>
          </a:prstGeom>
        </p:spPr>
      </p:pic>
      <p:sp>
        <p:nvSpPr>
          <p:cNvPr id="16" name="CuadroTexto 15">
            <a:extLst>
              <a:ext uri="{FF2B5EF4-FFF2-40B4-BE49-F238E27FC236}">
                <a16:creationId xmlns:a16="http://schemas.microsoft.com/office/drawing/2014/main" id="{28F15122-5FF7-4BA1-9616-D405D9E3EC8D}"/>
              </a:ext>
            </a:extLst>
          </p:cNvPr>
          <p:cNvSpPr txBox="1"/>
          <p:nvPr/>
        </p:nvSpPr>
        <p:spPr>
          <a:xfrm>
            <a:off x="6163304" y="5988983"/>
            <a:ext cx="6098058" cy="646331"/>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47: Modulo 12, tabla de resultados del diseño de disparos.</a:t>
            </a:r>
          </a:p>
        </p:txBody>
      </p:sp>
    </p:spTree>
    <p:extLst>
      <p:ext uri="{BB962C8B-B14F-4D97-AF65-F5344CB8AC3E}">
        <p14:creationId xmlns:p14="http://schemas.microsoft.com/office/powerpoint/2010/main" val="35785109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7F94F1F7-F40E-47E6-90A6-0A70DDF695B2}"/>
              </a:ext>
            </a:extLst>
          </p:cNvPr>
          <p:cNvSpPr>
            <a:spLocks noGrp="1"/>
          </p:cNvSpPr>
          <p:nvPr>
            <p:ph sz="quarter" idx="10"/>
          </p:nvPr>
        </p:nvSpPr>
        <p:spPr>
          <a:xfrm>
            <a:off x="734592" y="897839"/>
            <a:ext cx="5045105" cy="4233713"/>
          </a:xfrm>
        </p:spPr>
        <p:txBody>
          <a:bodyPr/>
          <a:lstStyle/>
          <a:p>
            <a:pPr marL="0" lvl="0" indent="0">
              <a:lnSpc>
                <a:spcPct val="107000"/>
              </a:lnSpc>
              <a:spcBef>
                <a:spcPts val="200"/>
              </a:spcBef>
              <a:buNone/>
            </a:pPr>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13. Ejecución del código en consola</a:t>
            </a:r>
          </a:p>
          <a:p>
            <a:pPr marL="0" indent="0">
              <a:lnSpc>
                <a:spcPct val="107000"/>
              </a:lnSpc>
              <a:spcAft>
                <a:spcPts val="800"/>
              </a:spcAft>
              <a:buNone/>
            </a:pP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Marcador de número de diapositiva 4">
            <a:extLst>
              <a:ext uri="{FF2B5EF4-FFF2-40B4-BE49-F238E27FC236}">
                <a16:creationId xmlns:a16="http://schemas.microsoft.com/office/drawing/2014/main" id="{27A8AF59-1897-4B0A-B8F8-F66F1DD5F807}"/>
              </a:ext>
            </a:extLst>
          </p:cNvPr>
          <p:cNvSpPr>
            <a:spLocks noGrp="1"/>
          </p:cNvSpPr>
          <p:nvPr>
            <p:ph type="sldNum" sz="quarter" idx="4"/>
          </p:nvPr>
        </p:nvSpPr>
        <p:spPr/>
        <p:txBody>
          <a:bodyPr/>
          <a:lstStyle/>
          <a:p>
            <a:pPr rtl="0"/>
            <a:fld id="{C3DB2ADC-AF19-4574-8C10-79B5B04FCA27}" type="slidenum">
              <a:rPr lang="es-ES" smtClean="0"/>
              <a:pPr rtl="0"/>
              <a:t>43</a:t>
            </a:fld>
            <a:endParaRPr lang="es-ES" dirty="0"/>
          </a:p>
        </p:txBody>
      </p:sp>
      <p:pic>
        <p:nvPicPr>
          <p:cNvPr id="6" name="Imagen 5">
            <a:extLst>
              <a:ext uri="{FF2B5EF4-FFF2-40B4-BE49-F238E27FC236}">
                <a16:creationId xmlns:a16="http://schemas.microsoft.com/office/drawing/2014/main" id="{1BA0F371-9EFB-46AB-8134-EEC47807E480}"/>
              </a:ext>
            </a:extLst>
          </p:cNvPr>
          <p:cNvPicPr/>
          <p:nvPr/>
        </p:nvPicPr>
        <p:blipFill>
          <a:blip r:embed="rId2"/>
          <a:stretch>
            <a:fillRect/>
          </a:stretch>
        </p:blipFill>
        <p:spPr>
          <a:xfrm>
            <a:off x="233149" y="1280264"/>
            <a:ext cx="5612130" cy="2242820"/>
          </a:xfrm>
          <a:prstGeom prst="rect">
            <a:avLst/>
          </a:prstGeom>
        </p:spPr>
      </p:pic>
      <p:sp>
        <p:nvSpPr>
          <p:cNvPr id="8" name="CuadroTexto 7">
            <a:extLst>
              <a:ext uri="{FF2B5EF4-FFF2-40B4-BE49-F238E27FC236}">
                <a16:creationId xmlns:a16="http://schemas.microsoft.com/office/drawing/2014/main" id="{D8B6E911-6226-41B3-BD11-0265B144426D}"/>
              </a:ext>
            </a:extLst>
          </p:cNvPr>
          <p:cNvSpPr txBox="1"/>
          <p:nvPr/>
        </p:nvSpPr>
        <p:spPr>
          <a:xfrm>
            <a:off x="0" y="3604807"/>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48: Muestra de los input para obtener información.</a:t>
            </a:r>
          </a:p>
        </p:txBody>
      </p:sp>
      <p:pic>
        <p:nvPicPr>
          <p:cNvPr id="9" name="Marcador de contenido 8">
            <a:extLst>
              <a:ext uri="{FF2B5EF4-FFF2-40B4-BE49-F238E27FC236}">
                <a16:creationId xmlns:a16="http://schemas.microsoft.com/office/drawing/2014/main" id="{C2285AC4-3792-446B-917B-CAA63A39532A}"/>
              </a:ext>
            </a:extLst>
          </p:cNvPr>
          <p:cNvPicPr>
            <a:picLocks noGrp="1"/>
          </p:cNvPicPr>
          <p:nvPr>
            <p:ph sz="quarter" idx="11"/>
          </p:nvPr>
        </p:nvPicPr>
        <p:blipFill>
          <a:blip r:embed="rId3"/>
          <a:stretch>
            <a:fillRect/>
          </a:stretch>
        </p:blipFill>
        <p:spPr>
          <a:xfrm>
            <a:off x="6346722" y="953445"/>
            <a:ext cx="5322887" cy="3814511"/>
          </a:xfrm>
          <a:prstGeom prst="rect">
            <a:avLst/>
          </a:prstGeom>
        </p:spPr>
      </p:pic>
      <p:sp>
        <p:nvSpPr>
          <p:cNvPr id="11" name="CuadroTexto 10">
            <a:extLst>
              <a:ext uri="{FF2B5EF4-FFF2-40B4-BE49-F238E27FC236}">
                <a16:creationId xmlns:a16="http://schemas.microsoft.com/office/drawing/2014/main" id="{9263467F-FBA6-4AFE-B0FF-30D455B5E21C}"/>
              </a:ext>
            </a:extLst>
          </p:cNvPr>
          <p:cNvSpPr txBox="1"/>
          <p:nvPr/>
        </p:nvSpPr>
        <p:spPr>
          <a:xfrm>
            <a:off x="5959136" y="4881619"/>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50: Grafica de la relación de RP vs βo</a:t>
            </a:r>
          </a:p>
        </p:txBody>
      </p:sp>
      <p:pic>
        <p:nvPicPr>
          <p:cNvPr id="12" name="Imagen 11">
            <a:extLst>
              <a:ext uri="{FF2B5EF4-FFF2-40B4-BE49-F238E27FC236}">
                <a16:creationId xmlns:a16="http://schemas.microsoft.com/office/drawing/2014/main" id="{380734B0-ED9A-4245-B089-33B6E66EC949}"/>
              </a:ext>
            </a:extLst>
          </p:cNvPr>
          <p:cNvPicPr/>
          <p:nvPr/>
        </p:nvPicPr>
        <p:blipFill>
          <a:blip r:embed="rId4"/>
          <a:stretch>
            <a:fillRect/>
          </a:stretch>
        </p:blipFill>
        <p:spPr>
          <a:xfrm>
            <a:off x="233149" y="4055862"/>
            <a:ext cx="5612130" cy="2151380"/>
          </a:xfrm>
          <a:prstGeom prst="rect">
            <a:avLst/>
          </a:prstGeom>
        </p:spPr>
      </p:pic>
      <p:sp>
        <p:nvSpPr>
          <p:cNvPr id="14" name="CuadroTexto 13">
            <a:extLst>
              <a:ext uri="{FF2B5EF4-FFF2-40B4-BE49-F238E27FC236}">
                <a16:creationId xmlns:a16="http://schemas.microsoft.com/office/drawing/2014/main" id="{2B1F8BEB-D1B6-4FA9-A97B-C3479AEA9593}"/>
              </a:ext>
            </a:extLst>
          </p:cNvPr>
          <p:cNvSpPr txBox="1"/>
          <p:nvPr/>
        </p:nvSpPr>
        <p:spPr>
          <a:xfrm>
            <a:off x="0" y="6288965"/>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49: </a:t>
            </a:r>
            <a:r>
              <a:rPr lang="es-MX" sz="1800" i="1" dirty="0" err="1">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Print</a:t>
            </a: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 del resumen de los resultados obtenidos</a:t>
            </a:r>
          </a:p>
        </p:txBody>
      </p:sp>
      <p:pic>
        <p:nvPicPr>
          <p:cNvPr id="15" name="Marcador de contenido 5">
            <a:extLst>
              <a:ext uri="{FF2B5EF4-FFF2-40B4-BE49-F238E27FC236}">
                <a16:creationId xmlns:a16="http://schemas.microsoft.com/office/drawing/2014/main" id="{A4688AF3-3E74-498B-A23D-F9A3F13C70BF}"/>
              </a:ext>
            </a:extLst>
          </p:cNvPr>
          <p:cNvPicPr>
            <a:picLocks/>
          </p:cNvPicPr>
          <p:nvPr/>
        </p:nvPicPr>
        <p:blipFill>
          <a:blip r:embed="rId5"/>
          <a:stretch>
            <a:fillRect/>
          </a:stretch>
        </p:blipFill>
        <p:spPr>
          <a:xfrm>
            <a:off x="6346722" y="5261346"/>
            <a:ext cx="5045075" cy="897085"/>
          </a:xfrm>
          <a:prstGeom prst="rect">
            <a:avLst/>
          </a:prstGeom>
        </p:spPr>
      </p:pic>
      <p:sp>
        <p:nvSpPr>
          <p:cNvPr id="16" name="CuadroTexto 15">
            <a:extLst>
              <a:ext uri="{FF2B5EF4-FFF2-40B4-BE49-F238E27FC236}">
                <a16:creationId xmlns:a16="http://schemas.microsoft.com/office/drawing/2014/main" id="{88656C81-453E-4202-8660-562D5ECACB4E}"/>
              </a:ext>
            </a:extLst>
          </p:cNvPr>
          <p:cNvSpPr txBox="1"/>
          <p:nvPr/>
        </p:nvSpPr>
        <p:spPr>
          <a:xfrm>
            <a:off x="5959136" y="6171684"/>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51: Tabla con resultado del diseño de los disparos</a:t>
            </a:r>
          </a:p>
        </p:txBody>
      </p:sp>
    </p:spTree>
    <p:extLst>
      <p:ext uri="{BB962C8B-B14F-4D97-AF65-F5344CB8AC3E}">
        <p14:creationId xmlns:p14="http://schemas.microsoft.com/office/powerpoint/2010/main" val="39026606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F73F7A-C95A-4491-8A2E-C187D3918482}"/>
              </a:ext>
            </a:extLst>
          </p:cNvPr>
          <p:cNvSpPr>
            <a:spLocks noGrp="1"/>
          </p:cNvSpPr>
          <p:nvPr>
            <p:ph type="title"/>
          </p:nvPr>
        </p:nvSpPr>
        <p:spPr/>
        <p:txBody>
          <a:bodyPr/>
          <a:lstStyle/>
          <a:p>
            <a:r>
              <a:rPr lang="es-MX" dirty="0"/>
              <a:t>Caso de estudio </a:t>
            </a:r>
          </a:p>
        </p:txBody>
      </p:sp>
      <p:sp>
        <p:nvSpPr>
          <p:cNvPr id="5" name="Marcador de número de diapositiva 4">
            <a:extLst>
              <a:ext uri="{FF2B5EF4-FFF2-40B4-BE49-F238E27FC236}">
                <a16:creationId xmlns:a16="http://schemas.microsoft.com/office/drawing/2014/main" id="{883C0C07-1DC6-4B5C-A7DD-F2B91CAC9229}"/>
              </a:ext>
            </a:extLst>
          </p:cNvPr>
          <p:cNvSpPr>
            <a:spLocks noGrp="1"/>
          </p:cNvSpPr>
          <p:nvPr>
            <p:ph type="sldNum" sz="quarter" idx="4"/>
          </p:nvPr>
        </p:nvSpPr>
        <p:spPr/>
        <p:txBody>
          <a:bodyPr/>
          <a:lstStyle/>
          <a:p>
            <a:pPr rtl="0"/>
            <a:fld id="{C3DB2ADC-AF19-4574-8C10-79B5B04FCA27}" type="slidenum">
              <a:rPr lang="es-ES" smtClean="0"/>
              <a:pPr rtl="0"/>
              <a:t>44</a:t>
            </a:fld>
            <a:endParaRPr lang="es-ES" dirty="0"/>
          </a:p>
        </p:txBody>
      </p:sp>
    </p:spTree>
    <p:extLst>
      <p:ext uri="{BB962C8B-B14F-4D97-AF65-F5344CB8AC3E}">
        <p14:creationId xmlns:p14="http://schemas.microsoft.com/office/powerpoint/2010/main" val="30886945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BCB83B4-5107-4E20-BAD4-74AF401F24F0}"/>
              </a:ext>
            </a:extLst>
          </p:cNvPr>
          <p:cNvSpPr>
            <a:spLocks noGrp="1"/>
          </p:cNvSpPr>
          <p:nvPr>
            <p:ph sz="quarter" idx="10"/>
          </p:nvPr>
        </p:nvSpPr>
        <p:spPr>
          <a:xfrm>
            <a:off x="734593" y="926757"/>
            <a:ext cx="10856773" cy="5551681"/>
          </a:xfrm>
        </p:spPr>
        <p:txBody>
          <a:bodyPr>
            <a:normAutofit/>
          </a:bodyPr>
          <a:lstStyle/>
          <a:p>
            <a:pPr marL="0" indent="0" algn="just">
              <a:buNone/>
            </a:pPr>
            <a:r>
              <a:rPr lang="es-MX" b="1" dirty="0">
                <a:effectLst/>
                <a:latin typeface="Arial" panose="020B0604020202020204" pitchFamily="34" charset="0"/>
                <a:ea typeface="Times New Roman" panose="02020603050405020304" pitchFamily="18" charset="0"/>
                <a:cs typeface="Times New Roman" panose="02020603050405020304" pitchFamily="18" charset="0"/>
              </a:rPr>
              <a:t>POZO ESIA TICOMAN 1 </a:t>
            </a:r>
          </a:p>
          <a:p>
            <a:pPr marL="0" indent="0" algn="just">
              <a:lnSpc>
                <a:spcPct val="107000"/>
              </a:lnSpc>
              <a:spcAft>
                <a:spcPts val="800"/>
              </a:spcAft>
              <a:buNone/>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El pozo terrestre </a:t>
            </a:r>
            <a:r>
              <a:rPr lang="es-MX" sz="1800" dirty="0" err="1">
                <a:effectLst/>
                <a:latin typeface="Arial" panose="020B0604020202020204" pitchFamily="34" charset="0"/>
                <a:ea typeface="Times New Roman" panose="02020603050405020304" pitchFamily="18" charset="0"/>
                <a:cs typeface="Times New Roman" panose="02020603050405020304" pitchFamily="18" charset="0"/>
              </a:rPr>
              <a:t>Esia</a:t>
            </a:r>
            <a:r>
              <a:rPr lang="es-MX" sz="1800" dirty="0">
                <a:effectLst/>
                <a:latin typeface="Arial" panose="020B0604020202020204" pitchFamily="34" charset="0"/>
                <a:ea typeface="Times New Roman" panose="02020603050405020304" pitchFamily="18" charset="0"/>
                <a:cs typeface="Times New Roman" panose="02020603050405020304" pitchFamily="18" charset="0"/>
              </a:rPr>
              <a:t> Ticomán 1 (ET-1) es un pozo que se clasifica como un proyecto exploratorio. El objetivo específico del pozo ET-1 es incorporar reservas de gas y condensados. </a:t>
            </a:r>
          </a:p>
          <a:p>
            <a:pPr marL="0" indent="0" algn="just">
              <a:lnSpc>
                <a:spcPct val="107000"/>
              </a:lnSpc>
              <a:spcAft>
                <a:spcPts val="800"/>
              </a:spcAft>
              <a:buNone/>
            </a:pPr>
            <a:r>
              <a:rPr lang="es-MX" sz="1800" dirty="0">
                <a:effectLst/>
                <a:latin typeface="Arial" panose="020B0604020202020204" pitchFamily="34" charset="0"/>
                <a:ea typeface="Times New Roman" panose="02020603050405020304" pitchFamily="18" charset="0"/>
                <a:cs typeface="Times New Roman" panose="02020603050405020304" pitchFamily="18" charset="0"/>
              </a:rPr>
              <a:t>La terminación del pozo se realizará en agujero descubierto de 7", con la instalación de un aparejo de producción definitivo compuesto por tubería de dimensiones 4" x 3 ½" x 2 7/8".</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A continuación, se presenta el estado mecánico del pozo con el objetivo de conocer las profundidades, acomodo de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TRs</a:t>
            </a:r>
            <a:r>
              <a:rPr lang="es-MX" sz="1800" dirty="0">
                <a:effectLst/>
                <a:latin typeface="Arial" panose="020B0604020202020204" pitchFamily="34" charset="0"/>
                <a:ea typeface="Calibri" panose="020F0502020204030204" pitchFamily="34" charset="0"/>
                <a:cs typeface="Times New Roman" panose="02020603050405020304" pitchFamily="18" charset="0"/>
              </a:rPr>
              <a:t> e intervalos de producción entre otros componentes importantes para el diseño de disparos. </a:t>
            </a:r>
            <a:endParaRPr lang="es-MX"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lgn="just">
              <a:lnSpc>
                <a:spcPct val="107000"/>
              </a:lnSpc>
              <a:spcAft>
                <a:spcPts val="800"/>
              </a:spcAft>
              <a:buNone/>
            </a:pPr>
            <a:endParaRPr lang="es-MX" dirty="0"/>
          </a:p>
        </p:txBody>
      </p:sp>
      <p:sp>
        <p:nvSpPr>
          <p:cNvPr id="5" name="Marcador de número de diapositiva 4">
            <a:extLst>
              <a:ext uri="{FF2B5EF4-FFF2-40B4-BE49-F238E27FC236}">
                <a16:creationId xmlns:a16="http://schemas.microsoft.com/office/drawing/2014/main" id="{5C7FEA99-029D-431A-ADE7-89211EE3DC5A}"/>
              </a:ext>
            </a:extLst>
          </p:cNvPr>
          <p:cNvSpPr>
            <a:spLocks noGrp="1"/>
          </p:cNvSpPr>
          <p:nvPr>
            <p:ph type="sldNum" sz="quarter" idx="4"/>
          </p:nvPr>
        </p:nvSpPr>
        <p:spPr/>
        <p:txBody>
          <a:bodyPr/>
          <a:lstStyle/>
          <a:p>
            <a:pPr rtl="0"/>
            <a:fld id="{C3DB2ADC-AF19-4574-8C10-79B5B04FCA27}" type="slidenum">
              <a:rPr lang="es-ES" smtClean="0"/>
              <a:pPr rtl="0"/>
              <a:t>45</a:t>
            </a:fld>
            <a:endParaRPr lang="es-ES" dirty="0"/>
          </a:p>
        </p:txBody>
      </p:sp>
    </p:spTree>
    <p:extLst>
      <p:ext uri="{BB962C8B-B14F-4D97-AF65-F5344CB8AC3E}">
        <p14:creationId xmlns:p14="http://schemas.microsoft.com/office/powerpoint/2010/main" val="229611104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a:extLst>
              <a:ext uri="{FF2B5EF4-FFF2-40B4-BE49-F238E27FC236}">
                <a16:creationId xmlns:a16="http://schemas.microsoft.com/office/drawing/2014/main" id="{F798ECD9-4383-4990-A01B-7A80BC250177}"/>
              </a:ext>
            </a:extLst>
          </p:cNvPr>
          <p:cNvSpPr>
            <a:spLocks noGrp="1"/>
          </p:cNvSpPr>
          <p:nvPr>
            <p:ph type="sldNum" sz="quarter" idx="4"/>
          </p:nvPr>
        </p:nvSpPr>
        <p:spPr/>
        <p:txBody>
          <a:bodyPr/>
          <a:lstStyle/>
          <a:p>
            <a:pPr rtl="0"/>
            <a:fld id="{C3DB2ADC-AF19-4574-8C10-79B5B04FCA27}" type="slidenum">
              <a:rPr lang="es-ES" smtClean="0"/>
              <a:pPr rtl="0"/>
              <a:t>46</a:t>
            </a:fld>
            <a:endParaRPr lang="es-ES" dirty="0"/>
          </a:p>
        </p:txBody>
      </p:sp>
      <p:pic>
        <p:nvPicPr>
          <p:cNvPr id="5" name="Imagen 4">
            <a:extLst>
              <a:ext uri="{FF2B5EF4-FFF2-40B4-BE49-F238E27FC236}">
                <a16:creationId xmlns:a16="http://schemas.microsoft.com/office/drawing/2014/main" id="{1BABEDC4-EC8E-4D60-8C2D-334485AC2E5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486359" y="401955"/>
            <a:ext cx="3953510" cy="6456045"/>
          </a:xfrm>
          <a:prstGeom prst="rect">
            <a:avLst/>
          </a:prstGeom>
          <a:noFill/>
          <a:ln>
            <a:noFill/>
          </a:ln>
        </p:spPr>
      </p:pic>
      <p:sp>
        <p:nvSpPr>
          <p:cNvPr id="6" name="Subtítulo 2">
            <a:extLst>
              <a:ext uri="{FF2B5EF4-FFF2-40B4-BE49-F238E27FC236}">
                <a16:creationId xmlns:a16="http://schemas.microsoft.com/office/drawing/2014/main" id="{5CB60985-40B7-441D-AA39-7C990B572212}"/>
              </a:ext>
            </a:extLst>
          </p:cNvPr>
          <p:cNvSpPr txBox="1">
            <a:spLocks/>
          </p:cNvSpPr>
          <p:nvPr/>
        </p:nvSpPr>
        <p:spPr>
          <a:xfrm>
            <a:off x="6096000" y="1018850"/>
            <a:ext cx="5842218" cy="1897346"/>
          </a:xfrm>
          <a:prstGeom prst="rect">
            <a:avLst/>
          </a:prstGeom>
        </p:spPr>
        <p:txBody>
          <a:bodyPr/>
          <a:lstStyle>
            <a:lvl1pPr marL="228600" indent="-228600" algn="l" defTabSz="914400" rtl="0" eaLnBrk="1" latinLnBrk="0" hangingPunct="1">
              <a:lnSpc>
                <a:spcPct val="120000"/>
              </a:lnSpc>
              <a:spcBef>
                <a:spcPts val="1000"/>
              </a:spcBef>
              <a:buFont typeface="Arial" panose="020B0604020202020204" pitchFamily="34" charset="0"/>
              <a:buChar char="•"/>
              <a:defRPr lang="es-ES" sz="20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lang="es-ES" sz="18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lang="es-ES" sz="16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lang="es-ES" sz="14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lang="es-ES"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pPr marL="0" indent="0">
              <a:buNone/>
            </a:pPr>
            <a:r>
              <a:rPr lang="es-MX" sz="1800" dirty="0">
                <a:latin typeface="Arial" panose="020B0604020202020204" pitchFamily="34" charset="0"/>
                <a:ea typeface="Calibri" panose="020F0502020204030204" pitchFamily="34" charset="0"/>
                <a:cs typeface="Times New Roman" panose="02020603050405020304" pitchFamily="18" charset="0"/>
              </a:rPr>
              <a:t>La siguiente tabla resume los datos necesarios con los que se obtuvo el resultado del diseño de disparos y que nosotros podemos ocupar para hacer la comparación de nuestro programa con el programa de la compañía de servicio.</a:t>
            </a:r>
          </a:p>
          <a:p>
            <a:endParaRPr lang="es-MX" dirty="0"/>
          </a:p>
        </p:txBody>
      </p:sp>
      <p:pic>
        <p:nvPicPr>
          <p:cNvPr id="7" name="Imagen 6">
            <a:extLst>
              <a:ext uri="{FF2B5EF4-FFF2-40B4-BE49-F238E27FC236}">
                <a16:creationId xmlns:a16="http://schemas.microsoft.com/office/drawing/2014/main" id="{05462B4D-3A1E-4AF4-9CE4-1A6B3DAEE92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577185" y="2775620"/>
            <a:ext cx="4054475" cy="3407410"/>
          </a:xfrm>
          <a:prstGeom prst="rect">
            <a:avLst/>
          </a:prstGeom>
          <a:noFill/>
          <a:ln>
            <a:noFill/>
          </a:ln>
        </p:spPr>
      </p:pic>
    </p:spTree>
    <p:extLst>
      <p:ext uri="{BB962C8B-B14F-4D97-AF65-F5344CB8AC3E}">
        <p14:creationId xmlns:p14="http://schemas.microsoft.com/office/powerpoint/2010/main" val="423342608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624E52-BC9C-45A5-9E9A-EE32B7D29E65}"/>
              </a:ext>
            </a:extLst>
          </p:cNvPr>
          <p:cNvSpPr>
            <a:spLocks noGrp="1"/>
          </p:cNvSpPr>
          <p:nvPr>
            <p:ph type="title"/>
          </p:nvPr>
        </p:nvSpPr>
        <p:spPr/>
        <p:txBody>
          <a:bodyPr/>
          <a:lstStyle/>
          <a:p>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Comparación de los resultados</a:t>
            </a:r>
            <a:br>
              <a:rPr lang="es-MX" sz="1800" b="1" dirty="0">
                <a:effectLst/>
                <a:latin typeface="Arial" panose="020B0604020202020204" pitchFamily="34" charset="0"/>
                <a:ea typeface="Times New Roman" panose="02020603050405020304" pitchFamily="18" charset="0"/>
                <a:cs typeface="Times New Roman" panose="02020603050405020304" pitchFamily="18" charset="0"/>
              </a:rPr>
            </a:br>
            <a:endParaRPr lang="es-MX" dirty="0"/>
          </a:p>
        </p:txBody>
      </p:sp>
      <p:sp>
        <p:nvSpPr>
          <p:cNvPr id="3" name="Marcador de contenido 2">
            <a:extLst>
              <a:ext uri="{FF2B5EF4-FFF2-40B4-BE49-F238E27FC236}">
                <a16:creationId xmlns:a16="http://schemas.microsoft.com/office/drawing/2014/main" id="{4680D6E4-6059-4EAF-9FA3-5CDB2636BB72}"/>
              </a:ext>
            </a:extLst>
          </p:cNvPr>
          <p:cNvSpPr>
            <a:spLocks noGrp="1"/>
          </p:cNvSpPr>
          <p:nvPr>
            <p:ph sz="quarter" idx="10"/>
          </p:nvPr>
        </p:nvSpPr>
        <p:spPr>
          <a:xfrm>
            <a:off x="734592" y="1382699"/>
            <a:ext cx="5045105" cy="1397571"/>
          </a:xfrm>
        </p:spPr>
        <p:txBody>
          <a:bodyPr>
            <a:normAutofit lnSpcReduction="10000"/>
          </a:bodyPr>
          <a:lstStyle/>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Para finalizar y comprobar la eficacia de nuestro programa se realizo una comparativa, se ejecuto el software desarrollado con los datos de la tabla de datos del pozo ET-1</a:t>
            </a:r>
          </a:p>
          <a:p>
            <a:pPr marL="0" indent="0">
              <a:buNone/>
            </a:pPr>
            <a:endParaRPr lang="es-MX" dirty="0"/>
          </a:p>
        </p:txBody>
      </p:sp>
      <p:sp>
        <p:nvSpPr>
          <p:cNvPr id="5" name="Marcador de número de diapositiva 4">
            <a:extLst>
              <a:ext uri="{FF2B5EF4-FFF2-40B4-BE49-F238E27FC236}">
                <a16:creationId xmlns:a16="http://schemas.microsoft.com/office/drawing/2014/main" id="{D96FC31B-65EE-41B9-8D37-E6D5B9D492B4}"/>
              </a:ext>
            </a:extLst>
          </p:cNvPr>
          <p:cNvSpPr>
            <a:spLocks noGrp="1"/>
          </p:cNvSpPr>
          <p:nvPr>
            <p:ph type="sldNum" sz="quarter" idx="4"/>
          </p:nvPr>
        </p:nvSpPr>
        <p:spPr/>
        <p:txBody>
          <a:bodyPr/>
          <a:lstStyle/>
          <a:p>
            <a:pPr rtl="0"/>
            <a:fld id="{C3DB2ADC-AF19-4574-8C10-79B5B04FCA27}" type="slidenum">
              <a:rPr lang="es-ES" smtClean="0"/>
              <a:pPr rtl="0"/>
              <a:t>47</a:t>
            </a:fld>
            <a:endParaRPr lang="es-ES" dirty="0"/>
          </a:p>
        </p:txBody>
      </p:sp>
      <p:pic>
        <p:nvPicPr>
          <p:cNvPr id="6" name="Imagen 5">
            <a:extLst>
              <a:ext uri="{FF2B5EF4-FFF2-40B4-BE49-F238E27FC236}">
                <a16:creationId xmlns:a16="http://schemas.microsoft.com/office/drawing/2014/main" id="{67B1ED69-77FE-4044-AE04-91C0599916A4}"/>
              </a:ext>
            </a:extLst>
          </p:cNvPr>
          <p:cNvPicPr/>
          <p:nvPr/>
        </p:nvPicPr>
        <p:blipFill>
          <a:blip r:embed="rId2"/>
          <a:stretch>
            <a:fillRect/>
          </a:stretch>
        </p:blipFill>
        <p:spPr>
          <a:xfrm>
            <a:off x="544102" y="2780270"/>
            <a:ext cx="5612130" cy="2238375"/>
          </a:xfrm>
          <a:prstGeom prst="rect">
            <a:avLst/>
          </a:prstGeom>
        </p:spPr>
      </p:pic>
      <p:sp>
        <p:nvSpPr>
          <p:cNvPr id="8" name="CuadroTexto 7">
            <a:extLst>
              <a:ext uri="{FF2B5EF4-FFF2-40B4-BE49-F238E27FC236}">
                <a16:creationId xmlns:a16="http://schemas.microsoft.com/office/drawing/2014/main" id="{85410F66-69A0-453B-B198-ACF1D141F7AD}"/>
              </a:ext>
            </a:extLst>
          </p:cNvPr>
          <p:cNvSpPr txBox="1"/>
          <p:nvPr/>
        </p:nvSpPr>
        <p:spPr>
          <a:xfrm>
            <a:off x="544102" y="5121928"/>
            <a:ext cx="6098058" cy="276999"/>
          </a:xfrm>
          <a:prstGeom prst="rect">
            <a:avLst/>
          </a:prstGeom>
          <a:noFill/>
        </p:spPr>
        <p:txBody>
          <a:bodyPr wrap="square">
            <a:spAutoFit/>
          </a:bodyPr>
          <a:lstStyle/>
          <a:p>
            <a:pPr algn="just">
              <a:spcAft>
                <a:spcPts val="1000"/>
              </a:spcAft>
            </a:pPr>
            <a:r>
              <a:rPr lang="es-MX" sz="12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68: Impresión en consola de la solicitud de datos por el programa. Parte 1</a:t>
            </a:r>
          </a:p>
        </p:txBody>
      </p:sp>
      <p:pic>
        <p:nvPicPr>
          <p:cNvPr id="9" name="Marcador de contenido 8">
            <a:extLst>
              <a:ext uri="{FF2B5EF4-FFF2-40B4-BE49-F238E27FC236}">
                <a16:creationId xmlns:a16="http://schemas.microsoft.com/office/drawing/2014/main" id="{98952371-325C-4DCE-BB6E-7B2E13FB96AD}"/>
              </a:ext>
            </a:extLst>
          </p:cNvPr>
          <p:cNvPicPr>
            <a:picLocks noGrp="1"/>
          </p:cNvPicPr>
          <p:nvPr>
            <p:ph sz="quarter" idx="11"/>
          </p:nvPr>
        </p:nvPicPr>
        <p:blipFill>
          <a:blip r:embed="rId3"/>
          <a:stretch>
            <a:fillRect/>
          </a:stretch>
        </p:blipFill>
        <p:spPr>
          <a:xfrm>
            <a:off x="6346721" y="889687"/>
            <a:ext cx="5322887" cy="1794320"/>
          </a:xfrm>
          <a:prstGeom prst="rect">
            <a:avLst/>
          </a:prstGeom>
        </p:spPr>
      </p:pic>
      <p:sp>
        <p:nvSpPr>
          <p:cNvPr id="11" name="CuadroTexto 10">
            <a:extLst>
              <a:ext uri="{FF2B5EF4-FFF2-40B4-BE49-F238E27FC236}">
                <a16:creationId xmlns:a16="http://schemas.microsoft.com/office/drawing/2014/main" id="{9DE3EFB5-4DF9-4DD6-9E61-606E8ACB480F}"/>
              </a:ext>
            </a:extLst>
          </p:cNvPr>
          <p:cNvSpPr txBox="1"/>
          <p:nvPr/>
        </p:nvSpPr>
        <p:spPr>
          <a:xfrm>
            <a:off x="6221701" y="2686596"/>
            <a:ext cx="6098058" cy="276999"/>
          </a:xfrm>
          <a:prstGeom prst="rect">
            <a:avLst/>
          </a:prstGeom>
          <a:noFill/>
        </p:spPr>
        <p:txBody>
          <a:bodyPr wrap="square">
            <a:spAutoFit/>
          </a:bodyPr>
          <a:lstStyle/>
          <a:p>
            <a:pPr algn="just">
              <a:spcAft>
                <a:spcPts val="1000"/>
              </a:spcAft>
            </a:pPr>
            <a:r>
              <a:rPr lang="es-MX" sz="12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69 Impresión en consola de la solicitud de datos por el programa. Parte 2</a:t>
            </a:r>
          </a:p>
        </p:txBody>
      </p:sp>
      <p:sp>
        <p:nvSpPr>
          <p:cNvPr id="12" name="Marcador de contenido 2">
            <a:extLst>
              <a:ext uri="{FF2B5EF4-FFF2-40B4-BE49-F238E27FC236}">
                <a16:creationId xmlns:a16="http://schemas.microsoft.com/office/drawing/2014/main" id="{973BA91E-1B4F-4EE4-8196-42105BDA73FD}"/>
              </a:ext>
            </a:extLst>
          </p:cNvPr>
          <p:cNvSpPr txBox="1">
            <a:spLocks/>
          </p:cNvSpPr>
          <p:nvPr/>
        </p:nvSpPr>
        <p:spPr>
          <a:xfrm>
            <a:off x="6451284" y="3205378"/>
            <a:ext cx="5303869" cy="1094773"/>
          </a:xfrm>
          <a:prstGeom prst="rect">
            <a:avLst/>
          </a:prstGeom>
        </p:spPr>
        <p:txBody>
          <a:bodyPr vert="horz" lIns="91440" tIns="45720" rIns="91440" bIns="45720" rtlCol="0">
            <a:normAutofit fontScale="92500" lnSpcReduction="20000"/>
          </a:bodyPr>
          <a:lstStyle>
            <a:defPPr>
              <a:defRPr lang="es-ES"/>
            </a:defPPr>
            <a:lvl1pPr marL="228600" indent="-228600" algn="l" defTabSz="914400" rtl="0" eaLnBrk="1" latinLnBrk="0" hangingPunct="1">
              <a:lnSpc>
                <a:spcPct val="120000"/>
              </a:lnSpc>
              <a:spcBef>
                <a:spcPts val="0"/>
              </a:spcBef>
              <a:spcAft>
                <a:spcPts val="1200"/>
              </a:spcAft>
              <a:buFont typeface="Arial" panose="020B0604020202020204" pitchFamily="34" charset="0"/>
              <a:buChar char="•"/>
              <a:defRPr lang="es-ES" sz="1800" kern="1200">
                <a:solidFill>
                  <a:schemeClr val="tx1"/>
                </a:solidFill>
                <a:latin typeface="+mn-lt"/>
                <a:ea typeface="+mn-ea"/>
                <a:cs typeface="+mn-cs"/>
              </a:defRPr>
            </a:lvl1pPr>
            <a:lvl2pPr marL="685800" indent="-228600" algn="l" defTabSz="914400" rtl="0" eaLnBrk="1" latinLnBrk="0" hangingPunct="1">
              <a:lnSpc>
                <a:spcPct val="120000"/>
              </a:lnSpc>
              <a:spcBef>
                <a:spcPts val="0"/>
              </a:spcBef>
              <a:spcAft>
                <a:spcPts val="1200"/>
              </a:spcAft>
              <a:buFont typeface="Arial" panose="020B0604020202020204" pitchFamily="34" charset="0"/>
              <a:buChar char="•"/>
              <a:defRPr lang="es-ES" sz="1600" kern="1200">
                <a:solidFill>
                  <a:schemeClr val="tx1"/>
                </a:solidFill>
                <a:latin typeface="+mn-lt"/>
                <a:ea typeface="+mn-ea"/>
                <a:cs typeface="+mn-cs"/>
              </a:defRPr>
            </a:lvl2pPr>
            <a:lvl3pPr marL="1143000" indent="-228600" algn="l" defTabSz="914400" rtl="0" eaLnBrk="1" latinLnBrk="0" hangingPunct="1">
              <a:lnSpc>
                <a:spcPct val="120000"/>
              </a:lnSpc>
              <a:spcBef>
                <a:spcPts val="0"/>
              </a:spcBef>
              <a:spcAft>
                <a:spcPts val="1200"/>
              </a:spcAft>
              <a:buFont typeface="Arial" panose="020B0604020202020204" pitchFamily="34" charset="0"/>
              <a:buChar char="•"/>
              <a:defRPr lang="es-ES" sz="1400" kern="1200">
                <a:solidFill>
                  <a:schemeClr val="tx1"/>
                </a:solidFill>
                <a:latin typeface="+mn-lt"/>
                <a:ea typeface="+mn-ea"/>
                <a:cs typeface="+mn-cs"/>
              </a:defRPr>
            </a:lvl3pPr>
            <a:lvl4pPr marL="1600200" indent="-228600" algn="l" defTabSz="914400" rtl="0" eaLnBrk="1" latinLnBrk="0" hangingPunct="1">
              <a:lnSpc>
                <a:spcPct val="120000"/>
              </a:lnSpc>
              <a:spcBef>
                <a:spcPts val="0"/>
              </a:spcBef>
              <a:spcAft>
                <a:spcPts val="1200"/>
              </a:spcAft>
              <a:buFont typeface="Arial" panose="020B0604020202020204" pitchFamily="34" charset="0"/>
              <a:buChar char="•"/>
              <a:defRPr lang="es-ES" sz="1200" kern="1200">
                <a:solidFill>
                  <a:schemeClr val="tx1"/>
                </a:solidFill>
                <a:latin typeface="+mn-lt"/>
                <a:ea typeface="+mn-ea"/>
                <a:cs typeface="+mn-cs"/>
              </a:defRPr>
            </a:lvl4pPr>
            <a:lvl5pPr marL="2057400" indent="-228600" algn="l" defTabSz="914400" rtl="0" eaLnBrk="1" latinLnBrk="0" hangingPunct="1">
              <a:lnSpc>
                <a:spcPct val="120000"/>
              </a:lnSpc>
              <a:spcBef>
                <a:spcPts val="0"/>
              </a:spcBef>
              <a:spcAft>
                <a:spcPts val="1200"/>
              </a:spcAft>
              <a:buFont typeface="Arial" panose="020B0604020202020204" pitchFamily="34" charset="0"/>
              <a:buChar char="•"/>
              <a:defRPr lang="es-ES"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es-ES" sz="1800" kern="1200">
                <a:solidFill>
                  <a:schemeClr val="tx1"/>
                </a:solidFill>
                <a:latin typeface="+mn-lt"/>
                <a:ea typeface="+mn-ea"/>
                <a:cs typeface="+mn-cs"/>
              </a:defRPr>
            </a:lvl9pPr>
          </a:lstStyle>
          <a:p>
            <a:pPr marL="0" indent="0">
              <a:buFont typeface="Arial" panose="020B0604020202020204" pitchFamily="34" charset="0"/>
              <a:buNone/>
            </a:pPr>
            <a:r>
              <a:rPr lang="es-MX" dirty="0">
                <a:latin typeface="Arial" panose="020B0604020202020204" pitchFamily="34" charset="0"/>
                <a:ea typeface="Calibri" panose="020F0502020204030204" pitchFamily="34" charset="0"/>
                <a:cs typeface="Times New Roman" panose="02020603050405020304" pitchFamily="18" charset="0"/>
              </a:rPr>
              <a:t>Después de ingresar todos los datos, el programa nos imprimirá en pantalla el resultado del diseño de disparos.</a:t>
            </a:r>
          </a:p>
          <a:p>
            <a:pPr marL="0" indent="0">
              <a:buFont typeface="Arial" panose="020B0604020202020204" pitchFamily="34" charset="0"/>
              <a:buNone/>
            </a:pPr>
            <a:endParaRPr lang="es-MX" dirty="0"/>
          </a:p>
        </p:txBody>
      </p:sp>
      <p:pic>
        <p:nvPicPr>
          <p:cNvPr id="13" name="Imagen 12">
            <a:extLst>
              <a:ext uri="{FF2B5EF4-FFF2-40B4-BE49-F238E27FC236}">
                <a16:creationId xmlns:a16="http://schemas.microsoft.com/office/drawing/2014/main" id="{B9C8F60D-F7E3-4C1D-9976-BE130E6D76C4}"/>
              </a:ext>
            </a:extLst>
          </p:cNvPr>
          <p:cNvPicPr/>
          <p:nvPr/>
        </p:nvPicPr>
        <p:blipFill>
          <a:blip r:embed="rId4"/>
          <a:stretch>
            <a:fillRect/>
          </a:stretch>
        </p:blipFill>
        <p:spPr>
          <a:xfrm>
            <a:off x="6477659" y="4348033"/>
            <a:ext cx="5612130" cy="2086610"/>
          </a:xfrm>
          <a:prstGeom prst="rect">
            <a:avLst/>
          </a:prstGeom>
        </p:spPr>
      </p:pic>
      <p:sp>
        <p:nvSpPr>
          <p:cNvPr id="14" name="CuadroTexto 13">
            <a:extLst>
              <a:ext uri="{FF2B5EF4-FFF2-40B4-BE49-F238E27FC236}">
                <a16:creationId xmlns:a16="http://schemas.microsoft.com/office/drawing/2014/main" id="{6E248D35-08C5-4EE4-B98F-9C7AB7921DEB}"/>
              </a:ext>
            </a:extLst>
          </p:cNvPr>
          <p:cNvSpPr txBox="1"/>
          <p:nvPr/>
        </p:nvSpPr>
        <p:spPr>
          <a:xfrm>
            <a:off x="6234695" y="6419437"/>
            <a:ext cx="6098058" cy="307777"/>
          </a:xfrm>
          <a:prstGeom prst="rect">
            <a:avLst/>
          </a:prstGeom>
          <a:noFill/>
        </p:spPr>
        <p:txBody>
          <a:bodyPr wrap="square">
            <a:spAutoFit/>
          </a:bodyPr>
          <a:lstStyle/>
          <a:p>
            <a:pPr algn="ctr">
              <a:spcAft>
                <a:spcPts val="1000"/>
              </a:spcAft>
            </a:pPr>
            <a:r>
              <a:rPr lang="es-MX" sz="14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70: Impresión en pantalla de los resultados del diseño</a:t>
            </a:r>
          </a:p>
        </p:txBody>
      </p:sp>
    </p:spTree>
    <p:extLst>
      <p:ext uri="{BB962C8B-B14F-4D97-AF65-F5344CB8AC3E}">
        <p14:creationId xmlns:p14="http://schemas.microsoft.com/office/powerpoint/2010/main" val="20753574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ECA2CF78-3471-434E-B09E-1F1AB3FED7B1}"/>
              </a:ext>
            </a:extLst>
          </p:cNvPr>
          <p:cNvSpPr>
            <a:spLocks noGrp="1"/>
          </p:cNvSpPr>
          <p:nvPr>
            <p:ph sz="quarter" idx="11"/>
          </p:nvPr>
        </p:nvSpPr>
        <p:spPr>
          <a:xfrm>
            <a:off x="773504" y="978510"/>
            <a:ext cx="5322496" cy="1146851"/>
          </a:xfrm>
        </p:spPr>
        <p:txBody>
          <a:bodyPr>
            <a:normAutofit/>
          </a:bodyPr>
          <a:lstStyle/>
          <a:p>
            <a:pPr marL="0" indent="0">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Seguido de la grafica que nos presenta la relación entre el factor adimensional y la RP.</a:t>
            </a:r>
          </a:p>
          <a:p>
            <a:endParaRPr lang="es-MX" dirty="0"/>
          </a:p>
        </p:txBody>
      </p:sp>
      <p:sp>
        <p:nvSpPr>
          <p:cNvPr id="5" name="Marcador de número de diapositiva 4">
            <a:extLst>
              <a:ext uri="{FF2B5EF4-FFF2-40B4-BE49-F238E27FC236}">
                <a16:creationId xmlns:a16="http://schemas.microsoft.com/office/drawing/2014/main" id="{10442322-F094-4E8E-82BC-6DFE3D766A0F}"/>
              </a:ext>
            </a:extLst>
          </p:cNvPr>
          <p:cNvSpPr>
            <a:spLocks noGrp="1"/>
          </p:cNvSpPr>
          <p:nvPr>
            <p:ph type="sldNum" sz="quarter" idx="4"/>
          </p:nvPr>
        </p:nvSpPr>
        <p:spPr/>
        <p:txBody>
          <a:bodyPr/>
          <a:lstStyle/>
          <a:p>
            <a:pPr rtl="0"/>
            <a:fld id="{C3DB2ADC-AF19-4574-8C10-79B5B04FCA27}" type="slidenum">
              <a:rPr lang="es-ES" smtClean="0"/>
              <a:pPr rtl="0"/>
              <a:t>48</a:t>
            </a:fld>
            <a:endParaRPr lang="es-ES" dirty="0"/>
          </a:p>
        </p:txBody>
      </p:sp>
      <p:pic>
        <p:nvPicPr>
          <p:cNvPr id="9" name="Imagen 8">
            <a:extLst>
              <a:ext uri="{FF2B5EF4-FFF2-40B4-BE49-F238E27FC236}">
                <a16:creationId xmlns:a16="http://schemas.microsoft.com/office/drawing/2014/main" id="{38CC7A71-894A-4389-83C2-D6BCD00E2235}"/>
              </a:ext>
            </a:extLst>
          </p:cNvPr>
          <p:cNvPicPr/>
          <p:nvPr/>
        </p:nvPicPr>
        <p:blipFill>
          <a:blip r:embed="rId2"/>
          <a:stretch>
            <a:fillRect/>
          </a:stretch>
        </p:blipFill>
        <p:spPr>
          <a:xfrm>
            <a:off x="496113" y="1951061"/>
            <a:ext cx="5492115" cy="3907155"/>
          </a:xfrm>
          <a:prstGeom prst="rect">
            <a:avLst/>
          </a:prstGeom>
        </p:spPr>
      </p:pic>
      <p:sp>
        <p:nvSpPr>
          <p:cNvPr id="11" name="CuadroTexto 10">
            <a:extLst>
              <a:ext uri="{FF2B5EF4-FFF2-40B4-BE49-F238E27FC236}">
                <a16:creationId xmlns:a16="http://schemas.microsoft.com/office/drawing/2014/main" id="{F7BC2485-27DC-4521-8439-38B073693AA5}"/>
              </a:ext>
            </a:extLst>
          </p:cNvPr>
          <p:cNvSpPr txBox="1"/>
          <p:nvPr/>
        </p:nvSpPr>
        <p:spPr>
          <a:xfrm>
            <a:off x="773504" y="5987018"/>
            <a:ext cx="6098058" cy="369332"/>
          </a:xfrm>
          <a:prstGeom prst="rect">
            <a:avLst/>
          </a:prstGeom>
          <a:noFill/>
        </p:spPr>
        <p:txBody>
          <a:bodyPr wrap="square">
            <a:spAutoFit/>
          </a:bodyPr>
          <a:lstStyle/>
          <a:p>
            <a:pPr algn="ct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71: Grafica RP contra Bo</a:t>
            </a:r>
          </a:p>
        </p:txBody>
      </p:sp>
      <p:sp>
        <p:nvSpPr>
          <p:cNvPr id="14" name="Marcador de contenido 2">
            <a:extLst>
              <a:ext uri="{FF2B5EF4-FFF2-40B4-BE49-F238E27FC236}">
                <a16:creationId xmlns:a16="http://schemas.microsoft.com/office/drawing/2014/main" id="{C3693AC1-B586-4FAE-8DCC-49439826AB86}"/>
              </a:ext>
            </a:extLst>
          </p:cNvPr>
          <p:cNvSpPr>
            <a:spLocks noGrp="1"/>
          </p:cNvSpPr>
          <p:nvPr>
            <p:ph sz="quarter" idx="10"/>
          </p:nvPr>
        </p:nvSpPr>
        <p:spPr>
          <a:xfrm>
            <a:off x="6373391" y="978510"/>
            <a:ext cx="5045105" cy="1466400"/>
          </a:xfrm>
        </p:spPr>
        <p:txBody>
          <a:bodyPr/>
          <a:lstStyle/>
          <a:p>
            <a:pPr marL="0" indent="0" algn="jus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Para finalmente imprimir una tabla con el diseño de disparos lo más similar al que nos presentan en los datos del diseño de disparos generado por el software privado.</a:t>
            </a:r>
          </a:p>
        </p:txBody>
      </p:sp>
      <p:pic>
        <p:nvPicPr>
          <p:cNvPr id="16" name="Imagen 15">
            <a:extLst>
              <a:ext uri="{FF2B5EF4-FFF2-40B4-BE49-F238E27FC236}">
                <a16:creationId xmlns:a16="http://schemas.microsoft.com/office/drawing/2014/main" id="{4DEE1270-EA78-4C39-AD2D-6E62257765AE}"/>
              </a:ext>
            </a:extLst>
          </p:cNvPr>
          <p:cNvPicPr/>
          <p:nvPr/>
        </p:nvPicPr>
        <p:blipFill>
          <a:blip r:embed="rId3"/>
          <a:stretch>
            <a:fillRect/>
          </a:stretch>
        </p:blipFill>
        <p:spPr>
          <a:xfrm>
            <a:off x="5947263" y="2473383"/>
            <a:ext cx="6244737" cy="1607697"/>
          </a:xfrm>
          <a:prstGeom prst="rect">
            <a:avLst/>
          </a:prstGeom>
        </p:spPr>
      </p:pic>
      <p:pic>
        <p:nvPicPr>
          <p:cNvPr id="17" name="Imagen 16">
            <a:extLst>
              <a:ext uri="{FF2B5EF4-FFF2-40B4-BE49-F238E27FC236}">
                <a16:creationId xmlns:a16="http://schemas.microsoft.com/office/drawing/2014/main" id="{874CC837-9006-4E34-B186-15F8083317E4}"/>
              </a:ext>
            </a:extLst>
          </p:cNvPr>
          <p:cNvPicPr/>
          <p:nvPr/>
        </p:nvPicPr>
        <p:blipFill>
          <a:blip r:embed="rId4"/>
          <a:stretch>
            <a:fillRect/>
          </a:stretch>
        </p:blipFill>
        <p:spPr>
          <a:xfrm>
            <a:off x="5947262" y="4081080"/>
            <a:ext cx="6244738" cy="820734"/>
          </a:xfrm>
          <a:prstGeom prst="rect">
            <a:avLst/>
          </a:prstGeom>
        </p:spPr>
      </p:pic>
      <p:pic>
        <p:nvPicPr>
          <p:cNvPr id="18" name="Imagen 17">
            <a:extLst>
              <a:ext uri="{FF2B5EF4-FFF2-40B4-BE49-F238E27FC236}">
                <a16:creationId xmlns:a16="http://schemas.microsoft.com/office/drawing/2014/main" id="{92E4F167-F6B3-4685-9CBF-D991B5026073}"/>
              </a:ext>
            </a:extLst>
          </p:cNvPr>
          <p:cNvPicPr/>
          <p:nvPr/>
        </p:nvPicPr>
        <p:blipFill>
          <a:blip r:embed="rId5"/>
          <a:stretch>
            <a:fillRect/>
          </a:stretch>
        </p:blipFill>
        <p:spPr>
          <a:xfrm>
            <a:off x="5947262" y="4901814"/>
            <a:ext cx="6244738" cy="956402"/>
          </a:xfrm>
          <a:prstGeom prst="rect">
            <a:avLst/>
          </a:prstGeom>
        </p:spPr>
      </p:pic>
      <p:sp>
        <p:nvSpPr>
          <p:cNvPr id="19" name="CuadroTexto 18">
            <a:extLst>
              <a:ext uri="{FF2B5EF4-FFF2-40B4-BE49-F238E27FC236}">
                <a16:creationId xmlns:a16="http://schemas.microsoft.com/office/drawing/2014/main" id="{66526924-9FB7-46E3-AE99-B1DCC33B4811}"/>
              </a:ext>
            </a:extLst>
          </p:cNvPr>
          <p:cNvSpPr txBox="1"/>
          <p:nvPr/>
        </p:nvSpPr>
        <p:spPr>
          <a:xfrm>
            <a:off x="6303299" y="5916181"/>
            <a:ext cx="5288067" cy="369332"/>
          </a:xfrm>
          <a:prstGeom prst="rect">
            <a:avLst/>
          </a:prstGeom>
          <a:noFill/>
        </p:spPr>
        <p:txBody>
          <a:bodyPr wrap="square">
            <a:spAutoFit/>
          </a:bodyPr>
          <a:lstStyle/>
          <a:p>
            <a:pPr>
              <a:spcAft>
                <a:spcPts val="1000"/>
              </a:spcAft>
            </a:pPr>
            <a:r>
              <a:rPr lang="es-MX" sz="1800" i="1" dirty="0">
                <a:solidFill>
                  <a:srgbClr val="44546A"/>
                </a:solidFill>
                <a:effectLst/>
                <a:latin typeface="Calibri" panose="020F0502020204030204" pitchFamily="34" charset="0"/>
                <a:ea typeface="Calibri" panose="020F0502020204030204" pitchFamily="34" charset="0"/>
                <a:cs typeface="Times New Roman" panose="02020603050405020304" pitchFamily="18" charset="0"/>
              </a:rPr>
              <a:t>Ilustración 74: Tabla resultados diseño de disparo</a:t>
            </a:r>
          </a:p>
        </p:txBody>
      </p:sp>
    </p:spTree>
    <p:extLst>
      <p:ext uri="{BB962C8B-B14F-4D97-AF65-F5344CB8AC3E}">
        <p14:creationId xmlns:p14="http://schemas.microsoft.com/office/powerpoint/2010/main" val="28147041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699719D-AE41-408E-9F88-DA352A47726D}"/>
              </a:ext>
            </a:extLst>
          </p:cNvPr>
          <p:cNvSpPr>
            <a:spLocks noGrp="1"/>
          </p:cNvSpPr>
          <p:nvPr>
            <p:ph sz="quarter" idx="10"/>
          </p:nvPr>
        </p:nvSpPr>
        <p:spPr>
          <a:xfrm>
            <a:off x="734592" y="897839"/>
            <a:ext cx="10856774" cy="4662702"/>
          </a:xfrm>
        </p:spPr>
        <p:txBody>
          <a:bodyPr>
            <a:normAutofit fontScale="92500" lnSpcReduction="20000"/>
          </a:bodyPr>
          <a:lstStyle/>
          <a:p>
            <a:pPr marL="0" indent="0" algn="just">
              <a:buNone/>
            </a:pPr>
            <a:r>
              <a:rPr lang="es-MX" sz="2000" dirty="0">
                <a:effectLst/>
                <a:latin typeface="Arial" panose="020B0604020202020204" pitchFamily="34" charset="0"/>
                <a:ea typeface="Calibri" panose="020F0502020204030204" pitchFamily="34" charset="0"/>
                <a:cs typeface="Times New Roman" panose="02020603050405020304" pitchFamily="18" charset="0"/>
              </a:rPr>
              <a:t>Finalmente con la tabla de resultados generados por el programa podemos hacer la comparación final de la eficacia de nuestro programa desarrollado contra la información que se proporciono en el reporte del pozo ET-1.</a:t>
            </a:r>
          </a:p>
          <a:p>
            <a:pPr marL="0" indent="0" algn="just">
              <a:buNone/>
            </a:pPr>
            <a:endParaRPr lang="es-MX" sz="2000" dirty="0">
              <a:effectLst/>
              <a:latin typeface="Arial" panose="020B0604020202020204" pitchFamily="34" charset="0"/>
              <a:ea typeface="Calibri" panose="020F0502020204030204" pitchFamily="34" charset="0"/>
              <a:cs typeface="Times New Roman" panose="02020603050405020304" pitchFamily="18" charset="0"/>
            </a:endParaRPr>
          </a:p>
          <a:p>
            <a:pPr marL="0" indent="0" algn="just">
              <a:lnSpc>
                <a:spcPct val="115000"/>
              </a:lnSpc>
              <a:spcAft>
                <a:spcPts val="800"/>
              </a:spcAft>
              <a:buNone/>
            </a:pPr>
            <a:r>
              <a:rPr lang="es-MX" sz="2000" b="1" dirty="0">
                <a:effectLst/>
                <a:latin typeface="Arial" panose="020B0604020202020204" pitchFamily="34" charset="0"/>
                <a:ea typeface="Calibri" panose="020F0502020204030204" pitchFamily="34" charset="0"/>
                <a:cs typeface="Times New Roman" panose="02020603050405020304" pitchFamily="18" charset="0"/>
              </a:rPr>
              <a:t>1. Densidad de tiro</a:t>
            </a:r>
          </a:p>
          <a:p>
            <a:pPr marL="0" indent="0" algn="just">
              <a:lnSpc>
                <a:spcPct val="115000"/>
              </a:lnSpc>
              <a:spcAft>
                <a:spcPts val="800"/>
              </a:spcAft>
              <a:buNone/>
            </a:pPr>
            <a:r>
              <a:rPr lang="es-MX" sz="2000" dirty="0">
                <a:effectLst/>
                <a:latin typeface="Arial" panose="020B0604020202020204" pitchFamily="34" charset="0"/>
                <a:ea typeface="Calibri" panose="020F0502020204030204" pitchFamily="34" charset="0"/>
                <a:cs typeface="Times New Roman" panose="02020603050405020304" pitchFamily="18" charset="0"/>
              </a:rPr>
              <a:t>En el informe podemos ver que obtenemos una densidad de tiro de 20 cargas metro o c/m (</a:t>
            </a:r>
            <a:r>
              <a:rPr lang="es-MX" sz="2000" dirty="0" err="1">
                <a:effectLst/>
                <a:latin typeface="Arial" panose="020B0604020202020204" pitchFamily="34" charset="0"/>
                <a:ea typeface="Calibri" panose="020F0502020204030204" pitchFamily="34" charset="0"/>
                <a:cs typeface="Times New Roman" panose="02020603050405020304" pitchFamily="18" charset="0"/>
              </a:rPr>
              <a:t>spm</a:t>
            </a:r>
            <a:r>
              <a:rPr lang="es-MX" sz="2000" dirty="0">
                <a:effectLst/>
                <a:latin typeface="Arial" panose="020B0604020202020204" pitchFamily="34" charset="0"/>
                <a:ea typeface="Calibri" panose="020F0502020204030204" pitchFamily="34" charset="0"/>
                <a:cs typeface="Times New Roman" panose="02020603050405020304" pitchFamily="18" charset="0"/>
              </a:rPr>
              <a:t>), el programa nos da el resultado en tiros pie, pero una densidad de 6 tiros pie (</a:t>
            </a:r>
            <a:r>
              <a:rPr lang="es-MX" sz="2000" dirty="0" err="1">
                <a:effectLst/>
                <a:latin typeface="Arial" panose="020B0604020202020204" pitchFamily="34" charset="0"/>
                <a:ea typeface="Calibri" panose="020F0502020204030204" pitchFamily="34" charset="0"/>
                <a:cs typeface="Times New Roman" panose="02020603050405020304" pitchFamily="18" charset="0"/>
              </a:rPr>
              <a:t>spf</a:t>
            </a:r>
            <a:r>
              <a:rPr lang="es-MX" sz="2000" dirty="0">
                <a:effectLst/>
                <a:latin typeface="Arial" panose="020B0604020202020204" pitchFamily="34" charset="0"/>
                <a:ea typeface="Calibri" panose="020F0502020204030204" pitchFamily="34" charset="0"/>
                <a:cs typeface="Times New Roman" panose="02020603050405020304" pitchFamily="18" charset="0"/>
              </a:rPr>
              <a:t>) es equivalente a una densidad de 20 tiros por metro (</a:t>
            </a:r>
            <a:r>
              <a:rPr lang="es-MX" sz="2000" dirty="0" err="1">
                <a:effectLst/>
                <a:latin typeface="Arial" panose="020B0604020202020204" pitchFamily="34" charset="0"/>
                <a:ea typeface="Calibri" panose="020F0502020204030204" pitchFamily="34" charset="0"/>
                <a:cs typeface="Times New Roman" panose="02020603050405020304" pitchFamily="18" charset="0"/>
              </a:rPr>
              <a:t>spm</a:t>
            </a:r>
            <a:r>
              <a:rPr lang="es-MX" sz="2000" dirty="0">
                <a:effectLst/>
                <a:latin typeface="Arial" panose="020B0604020202020204" pitchFamily="34" charset="0"/>
                <a:ea typeface="Calibri" panose="020F0502020204030204" pitchFamily="34" charset="0"/>
                <a:cs typeface="Times New Roman" panose="02020603050405020304" pitchFamily="18" charset="0"/>
              </a:rPr>
              <a:t>). </a:t>
            </a:r>
          </a:p>
          <a:p>
            <a:pPr marL="0" indent="0" algn="just">
              <a:buNone/>
            </a:pPr>
            <a:r>
              <a:rPr lang="es-MX" sz="2000" b="1" dirty="0">
                <a:effectLst/>
                <a:latin typeface="Arial" panose="020B0604020202020204" pitchFamily="34" charset="0"/>
                <a:ea typeface="Calibri" panose="020F0502020204030204" pitchFamily="34" charset="0"/>
                <a:cs typeface="Times New Roman" panose="02020603050405020304" pitchFamily="18" charset="0"/>
              </a:rPr>
              <a:t>2. FASE</a:t>
            </a:r>
          </a:p>
          <a:p>
            <a:pPr marL="0" indent="0" algn="just">
              <a:buNone/>
            </a:pPr>
            <a:r>
              <a:rPr lang="es-MX" sz="2000" dirty="0">
                <a:effectLst/>
                <a:latin typeface="Arial" panose="020B0604020202020204" pitchFamily="34" charset="0"/>
                <a:ea typeface="Calibri" panose="020F0502020204030204" pitchFamily="34" charset="0"/>
                <a:cs typeface="Times New Roman" panose="02020603050405020304" pitchFamily="18" charset="0"/>
              </a:rPr>
              <a:t>De igual forma comparando los resultados del ángulo de la fase entre el informe y el programa podemos observar que ambos son de 60° por lo que se realizo el calculo correcto del ángulo de la fase.</a:t>
            </a:r>
          </a:p>
          <a:p>
            <a:pPr marL="0" indent="0" algn="just">
              <a:lnSpc>
                <a:spcPct val="115000"/>
              </a:lnSpc>
              <a:spcAft>
                <a:spcPts val="800"/>
              </a:spcAft>
              <a:buNone/>
            </a:pPr>
            <a:endParaRPr lang="es-MX" sz="2000" dirty="0">
              <a:effectLst/>
              <a:latin typeface="Arial" panose="020B0604020202020204" pitchFamily="34" charset="0"/>
              <a:ea typeface="Calibri" panose="020F0502020204030204" pitchFamily="34" charset="0"/>
              <a:cs typeface="Times New Roman" panose="02020603050405020304" pitchFamily="18" charset="0"/>
            </a:endParaRPr>
          </a:p>
        </p:txBody>
      </p:sp>
      <p:sp>
        <p:nvSpPr>
          <p:cNvPr id="5" name="Marcador de número de diapositiva 4">
            <a:extLst>
              <a:ext uri="{FF2B5EF4-FFF2-40B4-BE49-F238E27FC236}">
                <a16:creationId xmlns:a16="http://schemas.microsoft.com/office/drawing/2014/main" id="{C4410119-055C-4355-8063-CB074F9F5AFC}"/>
              </a:ext>
            </a:extLst>
          </p:cNvPr>
          <p:cNvSpPr>
            <a:spLocks noGrp="1"/>
          </p:cNvSpPr>
          <p:nvPr>
            <p:ph type="sldNum" sz="quarter" idx="4"/>
          </p:nvPr>
        </p:nvSpPr>
        <p:spPr/>
        <p:txBody>
          <a:bodyPr/>
          <a:lstStyle/>
          <a:p>
            <a:pPr rtl="0"/>
            <a:fld id="{C3DB2ADC-AF19-4574-8C10-79B5B04FCA27}" type="slidenum">
              <a:rPr lang="es-ES" smtClean="0"/>
              <a:pPr rtl="0"/>
              <a:t>49</a:t>
            </a:fld>
            <a:endParaRPr lang="es-ES" dirty="0"/>
          </a:p>
        </p:txBody>
      </p:sp>
    </p:spTree>
    <p:extLst>
      <p:ext uri="{BB962C8B-B14F-4D97-AF65-F5344CB8AC3E}">
        <p14:creationId xmlns:p14="http://schemas.microsoft.com/office/powerpoint/2010/main" val="87844991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5C2B1A7F-FFDB-4F96-9DC8-C34B6E905609}"/>
              </a:ext>
            </a:extLst>
          </p:cNvPr>
          <p:cNvSpPr>
            <a:spLocks noGrp="1"/>
          </p:cNvSpPr>
          <p:nvPr>
            <p:ph sz="quarter" idx="11"/>
          </p:nvPr>
        </p:nvSpPr>
        <p:spPr>
          <a:xfrm>
            <a:off x="600634" y="926757"/>
            <a:ext cx="11134166" cy="5539324"/>
          </a:xfrm>
        </p:spPr>
        <p:txBody>
          <a:bodyPr>
            <a:normAutofit/>
          </a:bodyPr>
          <a:lstStyle/>
          <a:p>
            <a:pPr marL="0" indent="0" algn="just">
              <a:buNone/>
            </a:pPr>
            <a:r>
              <a:rPr lang="es-MX" sz="1800" b="1" dirty="0">
                <a:effectLst/>
                <a:latin typeface="Arial" panose="020B0604020202020204" pitchFamily="34" charset="0"/>
                <a:ea typeface="Calibri" panose="020F0502020204030204" pitchFamily="34" charset="0"/>
                <a:cs typeface="Times New Roman" panose="02020603050405020304" pitchFamily="18" charset="0"/>
              </a:rPr>
              <a:t>3. PENETRACION DE LA FORMACION</a:t>
            </a:r>
          </a:p>
          <a:p>
            <a:pPr marL="0" indent="0" algn="jus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El siguiente punto es la penetración de la formación, el informe muestra una penetración de 9.49 pulgadas en comparación de la penetración del programa de 9.61, nos da una diferencia de 0.22 pulgadas, lo cual consideramos un margen aceptable posiblemente por el manejo de decimales.</a:t>
            </a:r>
          </a:p>
          <a:p>
            <a:pPr marL="0" indent="0" algn="just">
              <a:buNone/>
            </a:pPr>
            <a:r>
              <a:rPr lang="es-MX" sz="1800" b="1" dirty="0">
                <a:effectLst/>
                <a:latin typeface="Arial" panose="020B0604020202020204" pitchFamily="34" charset="0"/>
                <a:ea typeface="Calibri" panose="020F0502020204030204" pitchFamily="34" charset="0"/>
                <a:cs typeface="Times New Roman" panose="02020603050405020304" pitchFamily="18" charset="0"/>
              </a:rPr>
              <a:t>4. DIAMETRO DE PENETRACION </a:t>
            </a:r>
          </a:p>
          <a:p>
            <a:pPr marL="0" indent="0" algn="jus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Aquí hay una comparativa que no es exacta, el informe nos da un diámetro de orifico 0.26 pulgadas, el programa no calcula el diámetro de los disparos porque es un valor que generalmente se obtiene de la evaluación API RB 19B, pero el programa determina que el tipo de carga es una DP la cual maneja un valor promedio de un diámetro de la perforación de 0.365 para que es una diferencia de 0.1 pulgadas en comparación con el informe.</a:t>
            </a:r>
          </a:p>
          <a:p>
            <a:pPr marL="0" indent="0" algn="just">
              <a:buNone/>
            </a:pPr>
            <a:endParaRPr lang="es-MX" sz="1800" dirty="0">
              <a:effectLst/>
              <a:latin typeface="Arial" panose="020B0604020202020204" pitchFamily="34" charset="0"/>
              <a:ea typeface="Calibri" panose="020F0502020204030204" pitchFamily="34" charset="0"/>
              <a:cs typeface="Times New Roman" panose="02020603050405020304" pitchFamily="18" charset="0"/>
            </a:endParaRPr>
          </a:p>
          <a:p>
            <a:endParaRPr lang="es-MX" dirty="0"/>
          </a:p>
        </p:txBody>
      </p:sp>
      <p:sp>
        <p:nvSpPr>
          <p:cNvPr id="5" name="Marcador de número de diapositiva 4">
            <a:extLst>
              <a:ext uri="{FF2B5EF4-FFF2-40B4-BE49-F238E27FC236}">
                <a16:creationId xmlns:a16="http://schemas.microsoft.com/office/drawing/2014/main" id="{DCC79BD9-DAC0-420A-8BC9-F346E9DBB23B}"/>
              </a:ext>
            </a:extLst>
          </p:cNvPr>
          <p:cNvSpPr>
            <a:spLocks noGrp="1"/>
          </p:cNvSpPr>
          <p:nvPr>
            <p:ph type="sldNum" sz="quarter" idx="4"/>
          </p:nvPr>
        </p:nvSpPr>
        <p:spPr/>
        <p:txBody>
          <a:bodyPr/>
          <a:lstStyle/>
          <a:p>
            <a:pPr rtl="0"/>
            <a:fld id="{C3DB2ADC-AF19-4574-8C10-79B5B04FCA27}" type="slidenum">
              <a:rPr lang="es-ES" smtClean="0"/>
              <a:pPr rtl="0"/>
              <a:t>50</a:t>
            </a:fld>
            <a:endParaRPr lang="es-ES" dirty="0"/>
          </a:p>
        </p:txBody>
      </p:sp>
    </p:spTree>
    <p:extLst>
      <p:ext uri="{BB962C8B-B14F-4D97-AF65-F5344CB8AC3E}">
        <p14:creationId xmlns:p14="http://schemas.microsoft.com/office/powerpoint/2010/main" val="3929193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contenido 3">
            <a:extLst>
              <a:ext uri="{FF2B5EF4-FFF2-40B4-BE49-F238E27FC236}">
                <a16:creationId xmlns:a16="http://schemas.microsoft.com/office/drawing/2014/main" id="{B72FEFF8-17F8-42AA-9B7C-A84B44442C56}"/>
              </a:ext>
            </a:extLst>
          </p:cNvPr>
          <p:cNvSpPr>
            <a:spLocks noGrp="1"/>
          </p:cNvSpPr>
          <p:nvPr>
            <p:ph sz="quarter" idx="11"/>
          </p:nvPr>
        </p:nvSpPr>
        <p:spPr>
          <a:xfrm>
            <a:off x="383059" y="951470"/>
            <a:ext cx="11351741" cy="5526968"/>
          </a:xfrm>
        </p:spPr>
        <p:txBody>
          <a:bodyPr>
            <a:normAutofit/>
          </a:bodyPr>
          <a:lstStyle/>
          <a:p>
            <a:pPr marL="0" indent="0" algn="just">
              <a:buNone/>
            </a:pPr>
            <a:r>
              <a:rPr lang="es-MX" b="1" dirty="0">
                <a:latin typeface="Arial" panose="020B0604020202020204" pitchFamily="34" charset="0"/>
                <a:ea typeface="Calibri" panose="020F0502020204030204" pitchFamily="34" charset="0"/>
                <a:cs typeface="Times New Roman" panose="02020603050405020304" pitchFamily="18" charset="0"/>
              </a:rPr>
              <a:t>5. T</a:t>
            </a:r>
            <a:r>
              <a:rPr lang="es-MX" sz="1800" b="1" dirty="0">
                <a:effectLst/>
                <a:latin typeface="Arial" panose="020B0604020202020204" pitchFamily="34" charset="0"/>
                <a:ea typeface="Calibri" panose="020F0502020204030204" pitchFamily="34" charset="0"/>
                <a:cs typeface="Times New Roman" panose="02020603050405020304" pitchFamily="18" charset="0"/>
              </a:rPr>
              <a:t>IPO DE DISPARO</a:t>
            </a:r>
          </a:p>
          <a:p>
            <a:pPr marL="0" indent="0" algn="jus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Como punto final el determinar el tipo de disparos, nuevamente el informe no maneja una explicación del porque bajar la pistola con este método, a diferencia del programa que si tiene algunos criterios para determinarlo, aunque la trayectoria del pozo es vertical por lo que seria factible implementar el método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wireline</a:t>
            </a:r>
            <a:r>
              <a:rPr lang="es-MX" sz="1800" dirty="0">
                <a:effectLst/>
                <a:latin typeface="Arial" panose="020B0604020202020204" pitchFamily="34" charset="0"/>
                <a:ea typeface="Calibri" panose="020F0502020204030204" pitchFamily="34" charset="0"/>
                <a:cs typeface="Times New Roman" panose="02020603050405020304" pitchFamily="18" charset="0"/>
              </a:rPr>
              <a:t> para bajar la pistola, lo que en el factor económico disminuiría el tiempo de la operación y por ende podría bajar el tiempo de exposición del explosivo y podríamos ocupar un explosivo de menor nivel, la profundidad máxima aproximada para poder usar el método </a:t>
            </a:r>
            <a:r>
              <a:rPr lang="es-MX" sz="1800" dirty="0" err="1">
                <a:effectLst/>
                <a:latin typeface="Arial" panose="020B0604020202020204" pitchFamily="34" charset="0"/>
                <a:ea typeface="Calibri" panose="020F0502020204030204" pitchFamily="34" charset="0"/>
                <a:cs typeface="Times New Roman" panose="02020603050405020304" pitchFamily="18" charset="0"/>
              </a:rPr>
              <a:t>wireline</a:t>
            </a:r>
            <a:r>
              <a:rPr lang="es-MX" sz="1800" dirty="0">
                <a:effectLst/>
                <a:latin typeface="Arial" panose="020B0604020202020204" pitchFamily="34" charset="0"/>
                <a:ea typeface="Calibri" panose="020F0502020204030204" pitchFamily="34" charset="0"/>
                <a:cs typeface="Times New Roman" panose="02020603050405020304" pitchFamily="18" charset="0"/>
              </a:rPr>
              <a:t> o DBC es de aproximadamente 1500 metros, al tener el pozo una profundidad mayor de 7000 metros, queda descartado por lo que tendremos que ocupar el método TCP.</a:t>
            </a:r>
          </a:p>
          <a:p>
            <a:pPr marL="0" indent="0">
              <a:buNone/>
            </a:pPr>
            <a:endParaRPr lang="es-MX" dirty="0"/>
          </a:p>
        </p:txBody>
      </p:sp>
      <p:sp>
        <p:nvSpPr>
          <p:cNvPr id="5" name="Marcador de número de diapositiva 4">
            <a:extLst>
              <a:ext uri="{FF2B5EF4-FFF2-40B4-BE49-F238E27FC236}">
                <a16:creationId xmlns:a16="http://schemas.microsoft.com/office/drawing/2014/main" id="{95733111-945C-4BF7-9DF1-93E56B0AF8D1}"/>
              </a:ext>
            </a:extLst>
          </p:cNvPr>
          <p:cNvSpPr>
            <a:spLocks noGrp="1"/>
          </p:cNvSpPr>
          <p:nvPr>
            <p:ph type="sldNum" sz="quarter" idx="4"/>
          </p:nvPr>
        </p:nvSpPr>
        <p:spPr/>
        <p:txBody>
          <a:bodyPr/>
          <a:lstStyle/>
          <a:p>
            <a:pPr rtl="0"/>
            <a:fld id="{C3DB2ADC-AF19-4574-8C10-79B5B04FCA27}" type="slidenum">
              <a:rPr lang="es-ES" smtClean="0"/>
              <a:pPr rtl="0"/>
              <a:t>51</a:t>
            </a:fld>
            <a:endParaRPr lang="es-ES" dirty="0"/>
          </a:p>
        </p:txBody>
      </p:sp>
    </p:spTree>
    <p:extLst>
      <p:ext uri="{BB962C8B-B14F-4D97-AF65-F5344CB8AC3E}">
        <p14:creationId xmlns:p14="http://schemas.microsoft.com/office/powerpoint/2010/main" val="8824795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04E5482-92C4-4E00-BA81-B0C0C4F32EA3}"/>
              </a:ext>
            </a:extLst>
          </p:cNvPr>
          <p:cNvSpPr>
            <a:spLocks noGrp="1"/>
          </p:cNvSpPr>
          <p:nvPr>
            <p:ph sz="quarter" idx="10"/>
          </p:nvPr>
        </p:nvSpPr>
        <p:spPr>
          <a:xfrm>
            <a:off x="667613" y="1009049"/>
            <a:ext cx="10856773" cy="5347301"/>
          </a:xfrm>
        </p:spPr>
        <p:txBody>
          <a:bodyPr>
            <a:normAutofit/>
          </a:bodyPr>
          <a:lstStyle/>
          <a:p>
            <a:pPr marL="0" indent="0" algn="just">
              <a:lnSpc>
                <a:spcPct val="115000"/>
              </a:lnSpc>
              <a:spcAft>
                <a:spcPts val="800"/>
              </a:spcAft>
              <a:buNone/>
            </a:pPr>
            <a:r>
              <a:rPr lang="es-MX" sz="1800" b="1" dirty="0">
                <a:effectLst/>
                <a:latin typeface="Arial" panose="020B0604020202020204" pitchFamily="34" charset="0"/>
                <a:ea typeface="Calibri" panose="020F0502020204030204" pitchFamily="34" charset="0"/>
                <a:cs typeface="Times New Roman" panose="02020603050405020304" pitchFamily="18" charset="0"/>
              </a:rPr>
              <a:t>CONCLUCIONES DE LA COMPARACION </a:t>
            </a:r>
          </a:p>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El software desarrollado es inferior a los programas actuales en algunos factores, por ejemplo la falta de implementación de interfaz grafica, hace el programa menos atractivo, adicional a las posibilidades que tienen los software probados como SPAN, etc. A pesar de esto, Tras comparar los resultados del programa desarrollado con los del software privado utilizado en el informe del pozo ET-1, se puede afirmar que el nuevo sistema cumple con los criterios de precisión y confiabilidad en la mayoría de los parámetros evaluados. En variables clave como la densidad de disparo y el ángulo de fase, los valores obtenidos fueron idénticos o muy similares, lo que respalda la validez de la metodología implementada.</a:t>
            </a:r>
          </a:p>
          <a:p>
            <a:pPr marL="0" indent="0">
              <a:buNone/>
            </a:pPr>
            <a:endParaRPr lang="es-MX" dirty="0"/>
          </a:p>
        </p:txBody>
      </p:sp>
      <p:sp>
        <p:nvSpPr>
          <p:cNvPr id="5" name="Marcador de número de diapositiva 4">
            <a:extLst>
              <a:ext uri="{FF2B5EF4-FFF2-40B4-BE49-F238E27FC236}">
                <a16:creationId xmlns:a16="http://schemas.microsoft.com/office/drawing/2014/main" id="{D1DFD037-23B0-4224-B6EB-D59A66D2B56B}"/>
              </a:ext>
            </a:extLst>
          </p:cNvPr>
          <p:cNvSpPr>
            <a:spLocks noGrp="1"/>
          </p:cNvSpPr>
          <p:nvPr>
            <p:ph type="sldNum" sz="quarter" idx="4"/>
          </p:nvPr>
        </p:nvSpPr>
        <p:spPr/>
        <p:txBody>
          <a:bodyPr/>
          <a:lstStyle/>
          <a:p>
            <a:pPr rtl="0"/>
            <a:fld id="{C3DB2ADC-AF19-4574-8C10-79B5B04FCA27}" type="slidenum">
              <a:rPr lang="es-ES" smtClean="0"/>
              <a:pPr rtl="0"/>
              <a:t>52</a:t>
            </a:fld>
            <a:endParaRPr lang="es-ES" dirty="0"/>
          </a:p>
        </p:txBody>
      </p:sp>
    </p:spTree>
    <p:extLst>
      <p:ext uri="{BB962C8B-B14F-4D97-AF65-F5344CB8AC3E}">
        <p14:creationId xmlns:p14="http://schemas.microsoft.com/office/powerpoint/2010/main" val="135183307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34B31D-8533-4F71-A778-01456B84CE69}"/>
              </a:ext>
            </a:extLst>
          </p:cNvPr>
          <p:cNvSpPr>
            <a:spLocks noGrp="1"/>
          </p:cNvSpPr>
          <p:nvPr>
            <p:ph type="title"/>
          </p:nvPr>
        </p:nvSpPr>
        <p:spPr/>
        <p:txBody>
          <a:bodyPr/>
          <a:lstStyle/>
          <a:p>
            <a:r>
              <a:rPr lang="es-MX" sz="1800" b="1" dirty="0">
                <a:effectLst/>
                <a:latin typeface="Arial" panose="020B0604020202020204" pitchFamily="34" charset="0"/>
                <a:ea typeface="Times New Roman" panose="02020603050405020304" pitchFamily="18" charset="0"/>
                <a:cs typeface="Times New Roman" panose="02020603050405020304" pitchFamily="18" charset="0"/>
              </a:rPr>
              <a:t>14.- Conclusiones</a:t>
            </a:r>
            <a:br>
              <a:rPr lang="es-MX" sz="1800" b="1" dirty="0">
                <a:solidFill>
                  <a:srgbClr val="2F5496"/>
                </a:solidFill>
                <a:effectLst/>
                <a:latin typeface="Arial" panose="020B0604020202020204" pitchFamily="34" charset="0"/>
                <a:ea typeface="Times New Roman" panose="02020603050405020304" pitchFamily="18" charset="0"/>
                <a:cs typeface="Times New Roman" panose="02020603050405020304" pitchFamily="18" charset="0"/>
              </a:rPr>
            </a:br>
            <a:endParaRPr lang="es-MX" dirty="0"/>
          </a:p>
        </p:txBody>
      </p:sp>
      <p:sp>
        <p:nvSpPr>
          <p:cNvPr id="3" name="Marcador de contenido 2">
            <a:extLst>
              <a:ext uri="{FF2B5EF4-FFF2-40B4-BE49-F238E27FC236}">
                <a16:creationId xmlns:a16="http://schemas.microsoft.com/office/drawing/2014/main" id="{FF446699-B621-421D-B3BF-B10EDF9D4108}"/>
              </a:ext>
            </a:extLst>
          </p:cNvPr>
          <p:cNvSpPr>
            <a:spLocks noGrp="1"/>
          </p:cNvSpPr>
          <p:nvPr>
            <p:ph sz="quarter" idx="10"/>
          </p:nvPr>
        </p:nvSpPr>
        <p:spPr>
          <a:xfrm>
            <a:off x="734593" y="1383957"/>
            <a:ext cx="10621266" cy="5094481"/>
          </a:xfrm>
        </p:spPr>
        <p:txBody>
          <a:bodyPr>
            <a:normAutofit/>
          </a:bodyPr>
          <a:lstStyle/>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Los resultados obtenidos permiten afirmar que el objetivo fue alcanzado. El software fue capaz de realizar los cálculos esperados siguiendo una metodología estructurada, y al compararse con los resultados generados por un software especializado, presentó un alto grado de coincidencia en parámetros clave como la geometría del disparo, densidad, ángulo de fase y penetración en la formación.</a:t>
            </a:r>
          </a:p>
          <a:p>
            <a:pPr marL="0" indent="0" algn="just">
              <a:lnSpc>
                <a:spcPct val="115000"/>
              </a:lnSpc>
              <a:spcAft>
                <a:spcPts val="800"/>
              </a:spcAft>
              <a:buNone/>
            </a:pPr>
            <a:r>
              <a:rPr lang="es-MX" sz="1800" dirty="0">
                <a:effectLst/>
                <a:latin typeface="Arial" panose="020B0604020202020204" pitchFamily="34" charset="0"/>
                <a:ea typeface="Calibri" panose="020F0502020204030204" pitchFamily="34" charset="0"/>
                <a:cs typeface="Times New Roman" panose="02020603050405020304" pitchFamily="18" charset="0"/>
              </a:rPr>
              <a:t>Este desarrollo representa una aportación relevante tanto para estudiantes como para profesionales del sector energético, al ofrecer una herramienta gratuita, adaptable y escalable. Además, visibiliza una etapa técnica crítica del proceso de terminación de pozos, la cual a menudo es poco abordada en el entorno académico y profesional, facilitando su estudio y comprensión sin necesidad de recurrir a soluciones comerciales de alto costo.</a:t>
            </a:r>
          </a:p>
          <a:p>
            <a:endParaRPr lang="es-MX" dirty="0"/>
          </a:p>
        </p:txBody>
      </p:sp>
      <p:sp>
        <p:nvSpPr>
          <p:cNvPr id="5" name="Marcador de número de diapositiva 4">
            <a:extLst>
              <a:ext uri="{FF2B5EF4-FFF2-40B4-BE49-F238E27FC236}">
                <a16:creationId xmlns:a16="http://schemas.microsoft.com/office/drawing/2014/main" id="{2236E1F3-8613-4DD7-8210-60FE6731370A}"/>
              </a:ext>
            </a:extLst>
          </p:cNvPr>
          <p:cNvSpPr>
            <a:spLocks noGrp="1"/>
          </p:cNvSpPr>
          <p:nvPr>
            <p:ph type="sldNum" sz="quarter" idx="4"/>
          </p:nvPr>
        </p:nvSpPr>
        <p:spPr/>
        <p:txBody>
          <a:bodyPr/>
          <a:lstStyle/>
          <a:p>
            <a:pPr rtl="0"/>
            <a:fld id="{C3DB2ADC-AF19-4574-8C10-79B5B04FCA27}" type="slidenum">
              <a:rPr lang="es-ES" smtClean="0"/>
              <a:pPr rtl="0"/>
              <a:t>53</a:t>
            </a:fld>
            <a:endParaRPr lang="es-ES" dirty="0"/>
          </a:p>
        </p:txBody>
      </p:sp>
    </p:spTree>
    <p:extLst>
      <p:ext uri="{BB962C8B-B14F-4D97-AF65-F5344CB8AC3E}">
        <p14:creationId xmlns:p14="http://schemas.microsoft.com/office/powerpoint/2010/main" val="41568835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C0796C4E-41C8-0AB3-6886-FBB7C569658B}"/>
              </a:ext>
            </a:extLst>
          </p:cNvPr>
          <p:cNvSpPr>
            <a:spLocks noGrp="1"/>
          </p:cNvSpPr>
          <p:nvPr>
            <p:ph type="title"/>
          </p:nvPr>
        </p:nvSpPr>
        <p:spPr>
          <a:xfrm>
            <a:off x="763439" y="684311"/>
            <a:ext cx="4058728" cy="2749009"/>
          </a:xfrm>
        </p:spPr>
        <p:txBody>
          <a:bodyPr rtlCol="0"/>
          <a:lstStyle>
            <a:defPPr>
              <a:defRPr lang="es-ES"/>
            </a:defPPr>
          </a:lstStyle>
          <a:p>
            <a:pPr rtl="0"/>
            <a:r>
              <a:rPr lang="es-ES" dirty="0"/>
              <a:t>Gracias</a:t>
            </a:r>
          </a:p>
        </p:txBody>
      </p:sp>
    </p:spTree>
    <p:extLst>
      <p:ext uri="{BB962C8B-B14F-4D97-AF65-F5344CB8AC3E}">
        <p14:creationId xmlns:p14="http://schemas.microsoft.com/office/powerpoint/2010/main" val="1716896367"/>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Custom 9">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3135409_TF67498733_Win32" id="{D95B50A4-902E-4FF7-ABA2-A8BE1825C7DB}" vid="{1A7D431A-8311-40C9-B351-4A3539BE6613}"/>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78B3239-FE1A-45AC-BACA-CC3412D875A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1C92F81-A6B6-4190-80A1-406B3B4C18B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7B916DD8-9028-41F0-AB19-FE384D2009A2}">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Diseño de crónica</Template>
  <TotalTime>2044</TotalTime>
  <Words>4965</Words>
  <Application>Microsoft Office PowerPoint</Application>
  <PresentationFormat>Panorámica</PresentationFormat>
  <Paragraphs>333</Paragraphs>
  <Slides>54</Slides>
  <Notes>9</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54</vt:i4>
      </vt:variant>
    </vt:vector>
  </HeadingPairs>
  <TitlesOfParts>
    <vt:vector size="61" baseType="lpstr">
      <vt:lpstr>Arial</vt:lpstr>
      <vt:lpstr>Calibri</vt:lpstr>
      <vt:lpstr>Calisto MT</vt:lpstr>
      <vt:lpstr>Cambria Math</vt:lpstr>
      <vt:lpstr>Symbol</vt:lpstr>
      <vt:lpstr>Univers Condensed</vt:lpstr>
      <vt:lpstr>ChronicleVTI</vt:lpstr>
      <vt:lpstr>DESARROLLO DE UN SOFTWARE PARA EL DISEÑO DE DISPAROS DE PRODUCCIÓN Y SU ANÁLISIS EN LA PRODUCTIVIDAD DE LOS POZOS PETROLEROS    </vt:lpstr>
      <vt:lpstr>PROBLEMATICA</vt:lpstr>
      <vt:lpstr>OBJETIVO GENERAL</vt:lpstr>
      <vt:lpstr>OBJETIVOS PARTICULARES</vt:lpstr>
      <vt:lpstr>Introducción a los disparos.</vt:lpstr>
      <vt:lpstr>disparo</vt:lpstr>
      <vt:lpstr>Componentes de los disparos de perforación</vt:lpstr>
      <vt:lpstr>Tipos de cargas </vt:lpstr>
      <vt:lpstr>Tipo de pistolas</vt:lpstr>
      <vt:lpstr>Daño a la formación </vt:lpstr>
      <vt:lpstr>FACTORES GEOMETRICOS DEL DISPARO</vt:lpstr>
      <vt:lpstr>DENSIDAD DE LAS CARGAS </vt:lpstr>
      <vt:lpstr>PENETRACION Y DIAMETRO DEL AGUJERO. </vt:lpstr>
      <vt:lpstr>Presentación de PowerPoint</vt:lpstr>
      <vt:lpstr>Fase ángulo</vt:lpstr>
      <vt:lpstr>Tipo de terminación </vt:lpstr>
      <vt:lpstr>DESARROLLO DEL PROYECTO</vt:lpstr>
      <vt:lpstr>MATRIZ DE ESCENARIOS</vt:lpstr>
      <vt:lpstr>Presentación de PowerPoint</vt:lpstr>
      <vt:lpstr>METODOLOGIA DEL DISEÑO DE DISPAROS</vt:lpstr>
      <vt:lpstr>Presentación de PowerPoint</vt:lpstr>
      <vt:lpstr>1. DETERMINAR TIPO DE FORMACION </vt:lpstr>
      <vt:lpstr>Presentación de PowerPoint</vt:lpstr>
      <vt:lpstr>4.- Cálculo del máximo desbalance. (UM)  </vt:lpstr>
      <vt:lpstr>5.- Cálculo del promedio entre mínimo y máximo desbalance </vt:lpstr>
      <vt:lpstr>6.- Determinación de longitud estimada de penetración. </vt:lpstr>
      <vt:lpstr>7.- Determinar la densidad del disparo mediante la gráfica de razón de productividad vs longitud de perforación vs disparos por ft.  </vt:lpstr>
      <vt:lpstr>8.- Determinar tipo de explosivo de acuerdo a la temperatura</vt:lpstr>
      <vt:lpstr>9.- Elección de pistolas. </vt:lpstr>
      <vt:lpstr>10.- Calculo del Efecto del Daño del disparo </vt:lpstr>
      <vt:lpstr>11.- Determinar el tipo de disparo </vt:lpstr>
      <vt:lpstr>12.- Estimación de la Relación de Productividad </vt:lpstr>
      <vt:lpstr>Presentación de PowerPoint</vt:lpstr>
      <vt:lpstr>Desarrollo de software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Caso de estudio </vt:lpstr>
      <vt:lpstr>Presentación de PowerPoint</vt:lpstr>
      <vt:lpstr>Presentación de PowerPoint</vt:lpstr>
      <vt:lpstr>Comparación de los resultados </vt:lpstr>
      <vt:lpstr>Presentación de PowerPoint</vt:lpstr>
      <vt:lpstr>Presentación de PowerPoint</vt:lpstr>
      <vt:lpstr>Presentación de PowerPoint</vt:lpstr>
      <vt:lpstr>Presentación de PowerPoint</vt:lpstr>
      <vt:lpstr>Presentación de PowerPoint</vt:lpstr>
      <vt:lpstr>14.- Conclusiones </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DESARROLLO DE UN SOFTWARE PARA EL DISEÑO DE DISPAROS DE PRODUCCIÓN Y SU ANÁLISIS EN LA PRODUCTIVIDAD DE LOS POZOS PETROLEROS    -HERNANDEZ CHAVARRIA DANIEL -MENDOZA NAVARRO SEBASTIAN</dc:title>
  <dc:creator>lenovo</dc:creator>
  <cp:lastModifiedBy>lenovo</cp:lastModifiedBy>
  <cp:revision>70</cp:revision>
  <dcterms:created xsi:type="dcterms:W3CDTF">2025-05-20T05:28:26Z</dcterms:created>
  <dcterms:modified xsi:type="dcterms:W3CDTF">2025-05-21T15:33:17Z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